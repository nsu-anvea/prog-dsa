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6" r:id="rId2"/>
    <p:sldId id="274" r:id="rId3"/>
    <p:sldId id="271" r:id="rId4"/>
    <p:sldId id="272" r:id="rId5"/>
    <p:sldId id="273" r:id="rId6"/>
    <p:sldId id="261" r:id="rId7"/>
    <p:sldId id="288" r:id="rId8"/>
    <p:sldId id="306" r:id="rId9"/>
    <p:sldId id="307" r:id="rId10"/>
    <p:sldId id="308" r:id="rId11"/>
    <p:sldId id="309" r:id="rId12"/>
    <p:sldId id="275" r:id="rId13"/>
    <p:sldId id="276" r:id="rId14"/>
    <p:sldId id="277" r:id="rId15"/>
    <p:sldId id="310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92" r:id="rId31"/>
    <p:sldId id="287" r:id="rId32"/>
    <p:sldId id="289" r:id="rId33"/>
    <p:sldId id="290" r:id="rId34"/>
    <p:sldId id="295" r:id="rId35"/>
    <p:sldId id="296" r:id="rId36"/>
    <p:sldId id="291" r:id="rId37"/>
    <p:sldId id="293" r:id="rId38"/>
    <p:sldId id="294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1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89518C-61EF-47FD-8A5C-44A79B649137}" type="datetimeFigureOut">
              <a:rPr lang="ru-RU" smtClean="0"/>
              <a:pPr/>
              <a:t>31.03.2021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E50111-2B44-460A-91B9-EFFECD4DF25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9433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CBE831-22CF-4B53-A94C-2DD40818915C}" type="slidenum">
              <a:rPr lang="ru-RU" smtClean="0"/>
              <a:pPr/>
              <a:t>23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5234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2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330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5474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0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1618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66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1378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42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31.03.2021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31.03.2021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31.03.2021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31.03.2021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31.03.2021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31.03.2021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31.03.2021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31.03.2021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31.03.2021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31.03.2021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31.03.2021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pPr/>
              <a:t>31.03.2021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://neerc.ifmo.ru/wiki/index.php?title=%D0%A4%D0%B0%D0%B9%D0%BB:%D0%97%D0%B8%D0%B3.png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://neerc.ifmo.ru/wiki/index.php?title=%D0%A4%D0%B0%D0%B9%D0%BB:%D0%97%D0%B8%D0%B3_%D0%B7%D0%B8%D0%B3.png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://neerc.ifmo.ru/wiki/index.php?title=%D0%A4%D0%B0%D0%B9%D0%BB:%D0%97%D0%B8%D0%B3_%D0%B7%D0%B0%D0%B32.png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://neerc.ifmo.ru/wiki/index.php?title=%D0%A4%D0%B0%D0%B9%D0%BB:%D0%97%D0%B8%D0%B3.png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Алгоритмы и структуры данных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Лекция 7</a:t>
            </a:r>
          </a:p>
          <a:p>
            <a:r>
              <a:rPr lang="ru-RU" dirty="0"/>
              <a:t>Деревья поиска</a:t>
            </a:r>
          </a:p>
        </p:txBody>
      </p:sp>
    </p:spTree>
    <p:extLst>
      <p:ext uri="{BB962C8B-B14F-4D97-AF65-F5344CB8AC3E}">
        <p14:creationId xmlns:p14="http://schemas.microsoft.com/office/powerpoint/2010/main" val="583131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ru-RU" dirty="0"/>
              <a:t>Бинарные деревья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00108"/>
            <a:ext cx="5472122" cy="512605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400" i="1" dirty="0">
                <a:solidFill>
                  <a:srgbClr val="FF0000"/>
                </a:solidFill>
              </a:rPr>
              <a:t>Упорядоченное дерево </a:t>
            </a:r>
            <a:r>
              <a:rPr lang="ru-RU" sz="2400" dirty="0"/>
              <a:t>– это дерево, в котором множество сыновей каждой вершины упорядочено слева направо.</a:t>
            </a:r>
          </a:p>
          <a:p>
            <a:pPr>
              <a:buNone/>
            </a:pPr>
            <a:endParaRPr lang="ru-RU" sz="2400" dirty="0"/>
          </a:p>
          <a:p>
            <a:pPr>
              <a:buNone/>
            </a:pPr>
            <a:r>
              <a:rPr lang="ru-RU" sz="2400" i="1" dirty="0">
                <a:solidFill>
                  <a:srgbClr val="FF0000"/>
                </a:solidFill>
              </a:rPr>
              <a:t>Бинарное дерево </a:t>
            </a:r>
            <a:r>
              <a:rPr lang="ru-RU" sz="2400" dirty="0"/>
              <a:t>– это упорядоченное дерево, в котором:</a:t>
            </a:r>
          </a:p>
          <a:p>
            <a:pPr marL="514350" indent="-514350">
              <a:buAutoNum type="arabicParenR"/>
            </a:pPr>
            <a:r>
              <a:rPr lang="ru-RU" sz="2400" dirty="0"/>
              <a:t>любой сын – либо левый либо правый,</a:t>
            </a:r>
          </a:p>
          <a:p>
            <a:pPr marL="514350" indent="-514350">
              <a:buAutoNum type="arabicParenR"/>
            </a:pPr>
            <a:r>
              <a:rPr lang="ru-RU" sz="2400" dirty="0"/>
              <a:t>любой узел имеет не более одного левого и не более одного правого сына.</a:t>
            </a:r>
          </a:p>
        </p:txBody>
      </p:sp>
      <p:sp>
        <p:nvSpPr>
          <p:cNvPr id="4" name="Овал 3"/>
          <p:cNvSpPr/>
          <p:nvPr/>
        </p:nvSpPr>
        <p:spPr>
          <a:xfrm>
            <a:off x="6929454" y="500042"/>
            <a:ext cx="500066" cy="42862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7000892" y="500042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1</a:t>
            </a:r>
          </a:p>
        </p:txBody>
      </p:sp>
      <p:sp>
        <p:nvSpPr>
          <p:cNvPr id="6" name="Овал 5"/>
          <p:cNvSpPr/>
          <p:nvPr/>
        </p:nvSpPr>
        <p:spPr>
          <a:xfrm>
            <a:off x="6143636" y="1571612"/>
            <a:ext cx="500066" cy="42862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6215074" y="1571612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</a:t>
            </a:r>
          </a:p>
        </p:txBody>
      </p:sp>
      <p:sp>
        <p:nvSpPr>
          <p:cNvPr id="8" name="Овал 7"/>
          <p:cNvSpPr/>
          <p:nvPr/>
        </p:nvSpPr>
        <p:spPr>
          <a:xfrm>
            <a:off x="7786710" y="1571612"/>
            <a:ext cx="500066" cy="42862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7858148" y="1571612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</a:t>
            </a:r>
          </a:p>
        </p:txBody>
      </p:sp>
      <p:sp>
        <p:nvSpPr>
          <p:cNvPr id="10" name="Овал 9"/>
          <p:cNvSpPr/>
          <p:nvPr/>
        </p:nvSpPr>
        <p:spPr>
          <a:xfrm>
            <a:off x="5500694" y="2714620"/>
            <a:ext cx="500066" cy="42862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572132" y="2714620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4</a:t>
            </a:r>
          </a:p>
        </p:txBody>
      </p:sp>
      <p:sp>
        <p:nvSpPr>
          <p:cNvPr id="12" name="Овал 11"/>
          <p:cNvSpPr/>
          <p:nvPr/>
        </p:nvSpPr>
        <p:spPr>
          <a:xfrm>
            <a:off x="6357950" y="2786058"/>
            <a:ext cx="500066" cy="42862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6429388" y="278605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5</a:t>
            </a:r>
          </a:p>
        </p:txBody>
      </p:sp>
      <p:sp>
        <p:nvSpPr>
          <p:cNvPr id="16" name="Овал 15"/>
          <p:cNvSpPr/>
          <p:nvPr/>
        </p:nvSpPr>
        <p:spPr>
          <a:xfrm>
            <a:off x="6929454" y="4214818"/>
            <a:ext cx="500066" cy="42862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7000892" y="421481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7</a:t>
            </a:r>
          </a:p>
        </p:txBody>
      </p:sp>
      <p:sp>
        <p:nvSpPr>
          <p:cNvPr id="18" name="Овал 17"/>
          <p:cNvSpPr/>
          <p:nvPr/>
        </p:nvSpPr>
        <p:spPr>
          <a:xfrm>
            <a:off x="7215206" y="2786058"/>
            <a:ext cx="500066" cy="42862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/>
          <p:cNvSpPr txBox="1"/>
          <p:nvPr/>
        </p:nvSpPr>
        <p:spPr>
          <a:xfrm>
            <a:off x="7286644" y="278605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6</a:t>
            </a:r>
          </a:p>
        </p:txBody>
      </p:sp>
      <p:sp>
        <p:nvSpPr>
          <p:cNvPr id="20" name="Овал 19"/>
          <p:cNvSpPr/>
          <p:nvPr/>
        </p:nvSpPr>
        <p:spPr>
          <a:xfrm>
            <a:off x="5715008" y="4143380"/>
            <a:ext cx="500066" cy="42862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/>
          <p:cNvSpPr txBox="1"/>
          <p:nvPr/>
        </p:nvSpPr>
        <p:spPr>
          <a:xfrm>
            <a:off x="5786446" y="4143380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8</a:t>
            </a:r>
          </a:p>
        </p:txBody>
      </p:sp>
      <p:sp>
        <p:nvSpPr>
          <p:cNvPr id="22" name="Овал 21"/>
          <p:cNvSpPr/>
          <p:nvPr/>
        </p:nvSpPr>
        <p:spPr>
          <a:xfrm>
            <a:off x="7929586" y="4143380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/>
          <p:cNvSpPr txBox="1"/>
          <p:nvPr/>
        </p:nvSpPr>
        <p:spPr>
          <a:xfrm>
            <a:off x="8001024" y="421481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9</a:t>
            </a:r>
          </a:p>
        </p:txBody>
      </p:sp>
      <p:cxnSp>
        <p:nvCxnSpPr>
          <p:cNvPr id="24" name="Прямая соединительная линия 23"/>
          <p:cNvCxnSpPr>
            <a:stCxn id="4" idx="3"/>
            <a:endCxn id="6" idx="7"/>
          </p:cNvCxnSpPr>
          <p:nvPr/>
        </p:nvCxnSpPr>
        <p:spPr>
          <a:xfrm rot="5400000">
            <a:off x="6402336" y="1034032"/>
            <a:ext cx="768484" cy="43221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 rot="5400000">
            <a:off x="5715008" y="2143116"/>
            <a:ext cx="714380" cy="4286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>
            <a:stCxn id="6" idx="4"/>
            <a:endCxn id="13" idx="0"/>
          </p:cNvCxnSpPr>
          <p:nvPr/>
        </p:nvCxnSpPr>
        <p:spPr>
          <a:xfrm rot="16200000" flipH="1">
            <a:off x="6097247" y="2296662"/>
            <a:ext cx="785818" cy="19297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 rot="5400000">
            <a:off x="6750859" y="3607595"/>
            <a:ext cx="1000132" cy="21431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>
            <a:endCxn id="19" idx="0"/>
          </p:cNvCxnSpPr>
          <p:nvPr/>
        </p:nvCxnSpPr>
        <p:spPr>
          <a:xfrm rot="5400000">
            <a:off x="7224191" y="2148511"/>
            <a:ext cx="857256" cy="41783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4" idx="5"/>
            <a:endCxn id="9" idx="0"/>
          </p:cNvCxnSpPr>
          <p:nvPr/>
        </p:nvCxnSpPr>
        <p:spPr>
          <a:xfrm rot="16200000" flipH="1">
            <a:off x="7332989" y="889197"/>
            <a:ext cx="705713" cy="6591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12" idx="3"/>
            <a:endCxn id="21" idx="0"/>
          </p:cNvCxnSpPr>
          <p:nvPr/>
        </p:nvCxnSpPr>
        <p:spPr>
          <a:xfrm rot="5400000">
            <a:off x="5691710" y="3403906"/>
            <a:ext cx="991465" cy="4874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>
            <a:stCxn id="18" idx="5"/>
          </p:cNvCxnSpPr>
          <p:nvPr/>
        </p:nvCxnSpPr>
        <p:spPr>
          <a:xfrm rot="16200000" flipH="1">
            <a:off x="7397237" y="3396717"/>
            <a:ext cx="991467" cy="50186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9718"/>
          </a:xfrm>
        </p:spPr>
        <p:txBody>
          <a:bodyPr>
            <a:normAutofit fontScale="90000"/>
          </a:bodyPr>
          <a:lstStyle/>
          <a:p>
            <a:r>
              <a:rPr lang="ru-RU" dirty="0"/>
              <a:t>Обходы деревьев в глубину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14282" y="785794"/>
            <a:ext cx="8822214" cy="5786478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ru-RU" dirty="0"/>
              <a:t>Пусть </a:t>
            </a:r>
            <a:r>
              <a:rPr lang="en-US" i="1" dirty="0"/>
              <a:t>T </a:t>
            </a:r>
            <a:r>
              <a:rPr lang="en-US" dirty="0"/>
              <a:t>– </a:t>
            </a:r>
            <a:r>
              <a:rPr lang="ru-RU" dirty="0"/>
              <a:t>дерево, </a:t>
            </a:r>
            <a:r>
              <a:rPr lang="en-US" i="1" dirty="0"/>
              <a:t>r</a:t>
            </a:r>
            <a:r>
              <a:rPr lang="en-US" dirty="0"/>
              <a:t>- </a:t>
            </a:r>
            <a:r>
              <a:rPr lang="ru-RU" dirty="0"/>
              <a:t>корень, </a:t>
            </a:r>
            <a:r>
              <a:rPr lang="en-US" i="1" dirty="0"/>
              <a:t>v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i="1" dirty="0"/>
              <a:t>v</a:t>
            </a:r>
            <a:r>
              <a:rPr lang="en-US" baseline="-25000" dirty="0"/>
              <a:t>2</a:t>
            </a:r>
            <a:r>
              <a:rPr lang="en-US" dirty="0"/>
              <a:t>,…, </a:t>
            </a:r>
            <a:r>
              <a:rPr lang="en-US" i="1" dirty="0" err="1"/>
              <a:t>v</a:t>
            </a:r>
            <a:r>
              <a:rPr lang="en-US" i="1" baseline="-25000" dirty="0" err="1"/>
              <a:t>n</a:t>
            </a:r>
            <a:r>
              <a:rPr lang="en-US" dirty="0"/>
              <a:t> </a:t>
            </a:r>
            <a:r>
              <a:rPr lang="ru-RU" dirty="0"/>
              <a:t>– сыновья вершины </a:t>
            </a:r>
            <a:r>
              <a:rPr lang="en-US" i="1" dirty="0"/>
              <a:t>r</a:t>
            </a:r>
            <a:r>
              <a:rPr lang="en-US" dirty="0"/>
              <a:t>.</a:t>
            </a:r>
            <a:endParaRPr lang="ru-RU" dirty="0"/>
          </a:p>
          <a:p>
            <a:pPr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ru-RU" dirty="0">
                <a:solidFill>
                  <a:srgbClr val="FF0000"/>
                </a:solidFill>
              </a:rPr>
              <a:t>Прямой</a:t>
            </a:r>
            <a:r>
              <a:rPr lang="ru-RU" dirty="0"/>
              <a:t> (</a:t>
            </a:r>
            <a:r>
              <a:rPr lang="ru-RU" dirty="0">
                <a:solidFill>
                  <a:srgbClr val="FF0000"/>
                </a:solidFill>
              </a:rPr>
              <a:t>префиксный</a:t>
            </a:r>
            <a:r>
              <a:rPr lang="ru-RU" dirty="0"/>
              <a:t> ) обход:</a:t>
            </a:r>
          </a:p>
          <a:p>
            <a:pPr marL="914400" lvl="1" indent="-514350"/>
            <a:r>
              <a:rPr lang="ru-RU" dirty="0"/>
              <a:t>посетить корень </a:t>
            </a:r>
            <a:r>
              <a:rPr lang="en-US" i="1" dirty="0"/>
              <a:t>r</a:t>
            </a:r>
            <a:r>
              <a:rPr lang="ru-RU" i="1" dirty="0"/>
              <a:t>;</a:t>
            </a:r>
          </a:p>
          <a:p>
            <a:pPr marL="914400" lvl="1" indent="-514350"/>
            <a:r>
              <a:rPr lang="ru-RU" dirty="0"/>
              <a:t>посетить в прямом порядке поддеревья с корнями </a:t>
            </a:r>
            <a:r>
              <a:rPr lang="en-US" i="1" dirty="0"/>
              <a:t>v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i="1" dirty="0"/>
              <a:t>v</a:t>
            </a:r>
            <a:r>
              <a:rPr lang="en-US" baseline="-25000" dirty="0"/>
              <a:t>2</a:t>
            </a:r>
            <a:r>
              <a:rPr lang="en-US" dirty="0"/>
              <a:t>,…, </a:t>
            </a:r>
            <a:r>
              <a:rPr lang="en-US" i="1" dirty="0" err="1"/>
              <a:t>v</a:t>
            </a:r>
            <a:r>
              <a:rPr lang="en-US" i="1" baseline="-25000" dirty="0" err="1"/>
              <a:t>n</a:t>
            </a:r>
            <a:r>
              <a:rPr lang="en-US" dirty="0"/>
              <a:t> </a:t>
            </a:r>
            <a:r>
              <a:rPr lang="ru-RU" dirty="0"/>
              <a:t>.</a:t>
            </a:r>
          </a:p>
          <a:p>
            <a:pPr marL="914400" lvl="1" indent="-514350">
              <a:buNone/>
            </a:pPr>
            <a:endParaRPr lang="ru-RU" dirty="0"/>
          </a:p>
          <a:p>
            <a:pPr marL="514350" indent="-514350">
              <a:buAutoNum type="arabicPeriod"/>
            </a:pPr>
            <a:r>
              <a:rPr lang="ru-RU" dirty="0">
                <a:solidFill>
                  <a:srgbClr val="FF0000"/>
                </a:solidFill>
              </a:rPr>
              <a:t>Обратный</a:t>
            </a:r>
            <a:r>
              <a:rPr lang="ru-RU" dirty="0"/>
              <a:t> (</a:t>
            </a:r>
            <a:r>
              <a:rPr lang="ru-RU" dirty="0">
                <a:solidFill>
                  <a:srgbClr val="FF0000"/>
                </a:solidFill>
              </a:rPr>
              <a:t>постфиксный</a:t>
            </a:r>
            <a:r>
              <a:rPr lang="ru-RU" dirty="0"/>
              <a:t>) обход:</a:t>
            </a:r>
          </a:p>
          <a:p>
            <a:pPr marL="914400" lvl="1" indent="-514350"/>
            <a:r>
              <a:rPr lang="ru-RU" dirty="0"/>
              <a:t>посетить в обратном порядке поддеревья с корнями </a:t>
            </a:r>
            <a:r>
              <a:rPr lang="en-US" i="1" dirty="0"/>
              <a:t>v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i="1" dirty="0"/>
              <a:t>v</a:t>
            </a:r>
            <a:r>
              <a:rPr lang="en-US" baseline="-25000" dirty="0"/>
              <a:t>2</a:t>
            </a:r>
            <a:r>
              <a:rPr lang="en-US" dirty="0"/>
              <a:t>,…, </a:t>
            </a:r>
            <a:r>
              <a:rPr lang="en-US" i="1" dirty="0" err="1"/>
              <a:t>v</a:t>
            </a:r>
            <a:r>
              <a:rPr lang="en-US" i="1" baseline="-25000" dirty="0" err="1"/>
              <a:t>n</a:t>
            </a:r>
            <a:r>
              <a:rPr lang="ru-RU" dirty="0"/>
              <a:t>;</a:t>
            </a:r>
          </a:p>
          <a:p>
            <a:pPr marL="914400" lvl="1" indent="-514350"/>
            <a:r>
              <a:rPr lang="ru-RU" dirty="0"/>
              <a:t>посетить корень </a:t>
            </a:r>
            <a:r>
              <a:rPr lang="en-US" i="1" dirty="0"/>
              <a:t>r</a:t>
            </a:r>
            <a:r>
              <a:rPr lang="ru-RU" i="1" dirty="0"/>
              <a:t>.</a:t>
            </a:r>
          </a:p>
          <a:p>
            <a:pPr marL="914400" lvl="1" indent="-514350">
              <a:buNone/>
            </a:pPr>
            <a:endParaRPr lang="ru-RU" i="1" dirty="0"/>
          </a:p>
          <a:p>
            <a:pPr marL="514350" indent="-514350">
              <a:buAutoNum type="arabicPeriod"/>
            </a:pPr>
            <a:r>
              <a:rPr lang="ru-RU" dirty="0">
                <a:solidFill>
                  <a:srgbClr val="FF0000"/>
                </a:solidFill>
              </a:rPr>
              <a:t>Внутренний</a:t>
            </a:r>
            <a:r>
              <a:rPr lang="ru-RU" dirty="0"/>
              <a:t> ( </a:t>
            </a:r>
            <a:r>
              <a:rPr lang="ru-RU" dirty="0">
                <a:solidFill>
                  <a:srgbClr val="FF0000"/>
                </a:solidFill>
              </a:rPr>
              <a:t>инфиксный</a:t>
            </a:r>
            <a:r>
              <a:rPr lang="ru-RU" dirty="0"/>
              <a:t>) обход для бинарных деревьев:</a:t>
            </a:r>
          </a:p>
          <a:p>
            <a:pPr marL="914400" lvl="1" indent="-514350"/>
            <a:r>
              <a:rPr lang="ru-RU" dirty="0"/>
              <a:t>посетить во внутреннем порядке левое поддерево корня </a:t>
            </a:r>
            <a:r>
              <a:rPr lang="en-US" i="1" dirty="0"/>
              <a:t>r</a:t>
            </a:r>
            <a:r>
              <a:rPr lang="ru-RU" i="1" dirty="0"/>
              <a:t> </a:t>
            </a:r>
            <a:r>
              <a:rPr lang="ru-RU" dirty="0"/>
              <a:t>(</a:t>
            </a:r>
            <a:r>
              <a:rPr lang="ru-RU" i="1" dirty="0"/>
              <a:t>если существует</a:t>
            </a:r>
            <a:r>
              <a:rPr lang="ru-RU" dirty="0"/>
              <a:t>);</a:t>
            </a:r>
          </a:p>
          <a:p>
            <a:pPr marL="914400" lvl="1" indent="-514350"/>
            <a:r>
              <a:rPr lang="ru-RU" dirty="0"/>
              <a:t>посетить корень </a:t>
            </a:r>
            <a:r>
              <a:rPr lang="en-US" i="1" dirty="0"/>
              <a:t>r</a:t>
            </a:r>
            <a:r>
              <a:rPr lang="ru-RU" i="1" dirty="0"/>
              <a:t>;</a:t>
            </a:r>
            <a:endParaRPr lang="ru-RU" dirty="0"/>
          </a:p>
          <a:p>
            <a:pPr marL="914400" lvl="1" indent="-514350"/>
            <a:r>
              <a:rPr lang="ru-RU" dirty="0"/>
              <a:t>посетить во внутреннем порядке правое поддерево корня </a:t>
            </a:r>
            <a:r>
              <a:rPr lang="en-US" i="1" dirty="0"/>
              <a:t>r</a:t>
            </a:r>
            <a:r>
              <a:rPr lang="ru-RU" i="1" dirty="0"/>
              <a:t> </a:t>
            </a:r>
            <a:r>
              <a:rPr lang="ru-RU" dirty="0"/>
              <a:t>(</a:t>
            </a:r>
            <a:r>
              <a:rPr lang="ru-RU" i="1" dirty="0"/>
              <a:t>если существует</a:t>
            </a:r>
            <a:r>
              <a:rPr lang="ru-RU" dirty="0"/>
              <a:t>).</a:t>
            </a:r>
          </a:p>
          <a:p>
            <a:pPr marL="914400" lvl="1" indent="-514350"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Обходы деревьев в глубину. Пример 1.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00034" y="6000768"/>
            <a:ext cx="8229600" cy="411147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ru-RU" dirty="0"/>
              <a:t>Прямой		      Обратный			Внутренний</a:t>
            </a:r>
          </a:p>
        </p:txBody>
      </p:sp>
      <p:sp>
        <p:nvSpPr>
          <p:cNvPr id="4" name="Овал 3"/>
          <p:cNvSpPr/>
          <p:nvPr/>
        </p:nvSpPr>
        <p:spPr>
          <a:xfrm>
            <a:off x="857224" y="1000108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1643042" y="1928802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285720" y="2071678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714348" y="3214686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1428728" y="3214686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2357422" y="3143248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1285852" y="4429132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214282" y="4429132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2000232" y="4357694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/>
          <p:cNvSpPr/>
          <p:nvPr/>
        </p:nvSpPr>
        <p:spPr>
          <a:xfrm>
            <a:off x="2428860" y="5357826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5" name="Прямая соединительная линия 14"/>
          <p:cNvCxnSpPr>
            <a:stCxn id="4" idx="3"/>
            <a:endCxn id="6" idx="0"/>
          </p:cNvCxnSpPr>
          <p:nvPr/>
        </p:nvCxnSpPr>
        <p:spPr>
          <a:xfrm rot="5400000">
            <a:off x="433828" y="1564586"/>
            <a:ext cx="644737" cy="3694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stCxn id="4" idx="5"/>
            <a:endCxn id="5" idx="1"/>
          </p:cNvCxnSpPr>
          <p:nvPr/>
        </p:nvCxnSpPr>
        <p:spPr>
          <a:xfrm rot="16200000" flipH="1">
            <a:off x="1248338" y="1523636"/>
            <a:ext cx="575094" cy="3817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6" idx="5"/>
            <a:endCxn id="7" idx="0"/>
          </p:cNvCxnSpPr>
          <p:nvPr/>
        </p:nvCxnSpPr>
        <p:spPr>
          <a:xfrm rot="16200000" flipH="1">
            <a:off x="510868" y="2761172"/>
            <a:ext cx="716175" cy="1908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stCxn id="5" idx="3"/>
            <a:endCxn id="8" idx="0"/>
          </p:cNvCxnSpPr>
          <p:nvPr/>
        </p:nvCxnSpPr>
        <p:spPr>
          <a:xfrm rot="5400000">
            <a:off x="1273224" y="2761172"/>
            <a:ext cx="859051" cy="479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>
            <a:stCxn id="5" idx="5"/>
            <a:endCxn id="9" idx="0"/>
          </p:cNvCxnSpPr>
          <p:nvPr/>
        </p:nvCxnSpPr>
        <p:spPr>
          <a:xfrm rot="16200000" flipH="1">
            <a:off x="1975347" y="2511139"/>
            <a:ext cx="787613" cy="4766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>
            <a:stCxn id="7" idx="3"/>
            <a:endCxn id="11" idx="0"/>
          </p:cNvCxnSpPr>
          <p:nvPr/>
        </p:nvCxnSpPr>
        <p:spPr>
          <a:xfrm rot="5400000">
            <a:off x="250002" y="3891552"/>
            <a:ext cx="787613" cy="2875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>
            <a:stCxn id="7" idx="5"/>
            <a:endCxn id="10" idx="0"/>
          </p:cNvCxnSpPr>
          <p:nvPr/>
        </p:nvCxnSpPr>
        <p:spPr>
          <a:xfrm rot="16200000" flipH="1">
            <a:off x="962586" y="3820113"/>
            <a:ext cx="787613" cy="4304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>
            <a:stCxn id="9" idx="3"/>
            <a:endCxn id="12" idx="0"/>
          </p:cNvCxnSpPr>
          <p:nvPr/>
        </p:nvCxnSpPr>
        <p:spPr>
          <a:xfrm rot="5400000">
            <a:off x="1964514" y="3891552"/>
            <a:ext cx="787613" cy="1446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2" idx="5"/>
            <a:endCxn id="13" idx="0"/>
          </p:cNvCxnSpPr>
          <p:nvPr/>
        </p:nvCxnSpPr>
        <p:spPr>
          <a:xfrm rot="16200000" flipH="1">
            <a:off x="2314677" y="4957890"/>
            <a:ext cx="573299" cy="2265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Овал 197"/>
          <p:cNvSpPr/>
          <p:nvPr/>
        </p:nvSpPr>
        <p:spPr>
          <a:xfrm>
            <a:off x="3714744" y="928670"/>
            <a:ext cx="571504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9" name="Овал 198"/>
          <p:cNvSpPr/>
          <p:nvPr/>
        </p:nvSpPr>
        <p:spPr>
          <a:xfrm>
            <a:off x="4500562" y="1785926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0" name="Овал 199"/>
          <p:cNvSpPr/>
          <p:nvPr/>
        </p:nvSpPr>
        <p:spPr>
          <a:xfrm>
            <a:off x="3286116" y="1928802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1" name="Овал 200"/>
          <p:cNvSpPr/>
          <p:nvPr/>
        </p:nvSpPr>
        <p:spPr>
          <a:xfrm>
            <a:off x="3571868" y="3143248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2" name="Овал 201"/>
          <p:cNvSpPr/>
          <p:nvPr/>
        </p:nvSpPr>
        <p:spPr>
          <a:xfrm>
            <a:off x="4286248" y="3143248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3" name="Овал 202"/>
          <p:cNvSpPr/>
          <p:nvPr/>
        </p:nvSpPr>
        <p:spPr>
          <a:xfrm>
            <a:off x="5214942" y="3071810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4" name="Овал 203"/>
          <p:cNvSpPr/>
          <p:nvPr/>
        </p:nvSpPr>
        <p:spPr>
          <a:xfrm>
            <a:off x="4071934" y="4357694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5" name="Овал 204"/>
          <p:cNvSpPr/>
          <p:nvPr/>
        </p:nvSpPr>
        <p:spPr>
          <a:xfrm>
            <a:off x="3143240" y="4357694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6" name="Овал 205"/>
          <p:cNvSpPr/>
          <p:nvPr/>
        </p:nvSpPr>
        <p:spPr>
          <a:xfrm>
            <a:off x="4786314" y="4286256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7" name="Овал 206"/>
          <p:cNvSpPr/>
          <p:nvPr/>
        </p:nvSpPr>
        <p:spPr>
          <a:xfrm>
            <a:off x="5429256" y="5357826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08" name="Прямая соединительная линия 207"/>
          <p:cNvCxnSpPr>
            <a:stCxn id="198" idx="3"/>
            <a:endCxn id="200" idx="0"/>
          </p:cNvCxnSpPr>
          <p:nvPr/>
        </p:nvCxnSpPr>
        <p:spPr>
          <a:xfrm rot="5400000">
            <a:off x="3411133" y="1541495"/>
            <a:ext cx="512323" cy="2622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Прямая соединительная линия 208"/>
          <p:cNvCxnSpPr>
            <a:stCxn id="198" idx="5"/>
            <a:endCxn id="199" idx="1"/>
          </p:cNvCxnSpPr>
          <p:nvPr/>
        </p:nvCxnSpPr>
        <p:spPr>
          <a:xfrm rot="16200000" flipH="1">
            <a:off x="4166834" y="1452198"/>
            <a:ext cx="442680" cy="3712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Прямая соединительная линия 209"/>
          <p:cNvCxnSpPr>
            <a:stCxn id="200" idx="5"/>
            <a:endCxn id="201" idx="0"/>
          </p:cNvCxnSpPr>
          <p:nvPr/>
        </p:nvCxnSpPr>
        <p:spPr>
          <a:xfrm rot="16200000" flipH="1">
            <a:off x="3373619" y="2694965"/>
            <a:ext cx="787613" cy="108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Прямая соединительная линия 210"/>
          <p:cNvCxnSpPr>
            <a:stCxn id="199" idx="3"/>
            <a:endCxn id="202" idx="0"/>
          </p:cNvCxnSpPr>
          <p:nvPr/>
        </p:nvCxnSpPr>
        <p:spPr>
          <a:xfrm rot="5400000">
            <a:off x="4089794" y="2659246"/>
            <a:ext cx="930489" cy="375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Прямая соединительная линия 211"/>
          <p:cNvCxnSpPr>
            <a:stCxn id="199" idx="5"/>
            <a:endCxn id="203" idx="0"/>
          </p:cNvCxnSpPr>
          <p:nvPr/>
        </p:nvCxnSpPr>
        <p:spPr>
          <a:xfrm rot="16200000" flipH="1">
            <a:off x="4766660" y="2373494"/>
            <a:ext cx="859051" cy="5375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Прямая соединительная линия 212"/>
          <p:cNvCxnSpPr>
            <a:stCxn id="201" idx="3"/>
            <a:endCxn id="205" idx="0"/>
          </p:cNvCxnSpPr>
          <p:nvPr/>
        </p:nvCxnSpPr>
        <p:spPr>
          <a:xfrm rot="5400000">
            <a:off x="3125381" y="3837973"/>
            <a:ext cx="787613" cy="251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Прямая соединительная линия 213"/>
          <p:cNvCxnSpPr>
            <a:stCxn id="201" idx="5"/>
            <a:endCxn id="204" idx="0"/>
          </p:cNvCxnSpPr>
          <p:nvPr/>
        </p:nvCxnSpPr>
        <p:spPr>
          <a:xfrm rot="16200000" flipH="1">
            <a:off x="3766528" y="3802254"/>
            <a:ext cx="787613" cy="3232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Прямая соединительная линия 214"/>
          <p:cNvCxnSpPr>
            <a:stCxn id="203" idx="3"/>
            <a:endCxn id="206" idx="0"/>
          </p:cNvCxnSpPr>
          <p:nvPr/>
        </p:nvCxnSpPr>
        <p:spPr>
          <a:xfrm rot="5400000">
            <a:off x="4768455" y="3766535"/>
            <a:ext cx="787613" cy="251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Прямая соединительная линия 215"/>
          <p:cNvCxnSpPr>
            <a:stCxn id="206" idx="5"/>
            <a:endCxn id="207" idx="0"/>
          </p:cNvCxnSpPr>
          <p:nvPr/>
        </p:nvCxnSpPr>
        <p:spPr>
          <a:xfrm rot="16200000" flipH="1">
            <a:off x="5123850" y="4802386"/>
            <a:ext cx="644737" cy="4661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Овал 216"/>
          <p:cNvSpPr/>
          <p:nvPr/>
        </p:nvSpPr>
        <p:spPr>
          <a:xfrm>
            <a:off x="6715140" y="857232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8" name="Овал 217"/>
          <p:cNvSpPr/>
          <p:nvPr/>
        </p:nvSpPr>
        <p:spPr>
          <a:xfrm>
            <a:off x="7715272" y="1857364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9" name="Овал 218"/>
          <p:cNvSpPr/>
          <p:nvPr/>
        </p:nvSpPr>
        <p:spPr>
          <a:xfrm>
            <a:off x="6072198" y="1785926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0" name="Овал 219"/>
          <p:cNvSpPr/>
          <p:nvPr/>
        </p:nvSpPr>
        <p:spPr>
          <a:xfrm>
            <a:off x="6572264" y="3071810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1" name="Овал 220"/>
          <p:cNvSpPr/>
          <p:nvPr/>
        </p:nvSpPr>
        <p:spPr>
          <a:xfrm>
            <a:off x="7358082" y="3071810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2" name="Овал 221"/>
          <p:cNvSpPr/>
          <p:nvPr/>
        </p:nvSpPr>
        <p:spPr>
          <a:xfrm>
            <a:off x="8429652" y="3071810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3" name="Овал 222"/>
          <p:cNvSpPr/>
          <p:nvPr/>
        </p:nvSpPr>
        <p:spPr>
          <a:xfrm>
            <a:off x="7000892" y="4286256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4" name="Овал 223"/>
          <p:cNvSpPr/>
          <p:nvPr/>
        </p:nvSpPr>
        <p:spPr>
          <a:xfrm>
            <a:off x="6143636" y="4286256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5" name="Овал 224"/>
          <p:cNvSpPr/>
          <p:nvPr/>
        </p:nvSpPr>
        <p:spPr>
          <a:xfrm>
            <a:off x="7929586" y="4286256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6" name="Овал 225"/>
          <p:cNvSpPr/>
          <p:nvPr/>
        </p:nvSpPr>
        <p:spPr>
          <a:xfrm>
            <a:off x="8501090" y="5214950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7" name="Прямая соединительная линия 226"/>
          <p:cNvCxnSpPr>
            <a:stCxn id="217" idx="3"/>
            <a:endCxn id="219" idx="0"/>
          </p:cNvCxnSpPr>
          <p:nvPr/>
        </p:nvCxnSpPr>
        <p:spPr>
          <a:xfrm rot="5400000">
            <a:off x="6304372" y="1301924"/>
            <a:ext cx="501861" cy="4661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Прямая соединительная линия 227"/>
          <p:cNvCxnSpPr>
            <a:stCxn id="217" idx="5"/>
            <a:endCxn id="218" idx="1"/>
          </p:cNvCxnSpPr>
          <p:nvPr/>
        </p:nvCxnSpPr>
        <p:spPr>
          <a:xfrm rot="16200000" flipH="1">
            <a:off x="7141973" y="1284065"/>
            <a:ext cx="646532" cy="646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Прямая соединительная линия 228"/>
          <p:cNvCxnSpPr>
            <a:stCxn id="219" idx="4"/>
            <a:endCxn id="220" idx="0"/>
          </p:cNvCxnSpPr>
          <p:nvPr/>
        </p:nvCxnSpPr>
        <p:spPr>
          <a:xfrm rot="16200000" flipH="1">
            <a:off x="6179355" y="2428868"/>
            <a:ext cx="785818" cy="500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Прямая соединительная линия 229"/>
          <p:cNvCxnSpPr>
            <a:stCxn id="218" idx="3"/>
            <a:endCxn id="221" idx="0"/>
          </p:cNvCxnSpPr>
          <p:nvPr/>
        </p:nvCxnSpPr>
        <p:spPr>
          <a:xfrm rot="5400000">
            <a:off x="7304504" y="2587808"/>
            <a:ext cx="787613" cy="1803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Прямая соединительная линия 230"/>
          <p:cNvCxnSpPr>
            <a:stCxn id="218" idx="5"/>
            <a:endCxn id="222" idx="0"/>
          </p:cNvCxnSpPr>
          <p:nvPr/>
        </p:nvCxnSpPr>
        <p:spPr>
          <a:xfrm rot="16200000" flipH="1">
            <a:off x="8017089" y="2409213"/>
            <a:ext cx="787613" cy="5375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Прямая соединительная линия 231"/>
          <p:cNvCxnSpPr>
            <a:stCxn id="220" idx="3"/>
            <a:endCxn id="224" idx="0"/>
          </p:cNvCxnSpPr>
          <p:nvPr/>
        </p:nvCxnSpPr>
        <p:spPr>
          <a:xfrm rot="5400000">
            <a:off x="6125777" y="3766535"/>
            <a:ext cx="787613" cy="251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Прямая соединительная линия 232"/>
          <p:cNvCxnSpPr>
            <a:stCxn id="220" idx="5"/>
            <a:endCxn id="223" idx="0"/>
          </p:cNvCxnSpPr>
          <p:nvPr/>
        </p:nvCxnSpPr>
        <p:spPr>
          <a:xfrm rot="16200000" flipH="1">
            <a:off x="6731205" y="3766535"/>
            <a:ext cx="787613" cy="251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Прямая соединительная линия 233"/>
          <p:cNvCxnSpPr>
            <a:stCxn id="222" idx="3"/>
            <a:endCxn id="225" idx="0"/>
          </p:cNvCxnSpPr>
          <p:nvPr/>
        </p:nvCxnSpPr>
        <p:spPr>
          <a:xfrm rot="5400000">
            <a:off x="7947446" y="3730816"/>
            <a:ext cx="787613" cy="3232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Прямая соединительная линия 234"/>
          <p:cNvCxnSpPr>
            <a:stCxn id="225" idx="5"/>
            <a:endCxn id="226" idx="0"/>
          </p:cNvCxnSpPr>
          <p:nvPr/>
        </p:nvCxnSpPr>
        <p:spPr>
          <a:xfrm rot="16200000" flipH="1">
            <a:off x="8302841" y="4766667"/>
            <a:ext cx="501861" cy="3947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4" name="TextBox 303"/>
          <p:cNvSpPr txBox="1"/>
          <p:nvPr/>
        </p:nvSpPr>
        <p:spPr>
          <a:xfrm>
            <a:off x="1000100" y="10715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1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428596" y="21431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2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1785918" y="20002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6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857224" y="32861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3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1500166" y="32861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7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2428860" y="32146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8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357158" y="44291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4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1428728" y="45005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5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2071670" y="435769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9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2500298" y="535782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10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3786182" y="1000108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10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3357554" y="20002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4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4572000" y="18573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9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643306" y="31432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3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4357686" y="32146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5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5286380" y="31432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8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3214678" y="44291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1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6143636" y="18573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1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6786578" y="9286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5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500694" y="53578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6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4857752" y="435769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7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4143372" y="435769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2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6215074" y="42862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2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8501090" y="31432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10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7429520" y="31432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6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6643702" y="31432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3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7786710" y="192880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7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8572528" y="52863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9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8001024" y="435769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8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7072330" y="435769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" grpId="0"/>
      <p:bldP spid="324" grpId="0"/>
      <p:bldP spid="325" grpId="0"/>
      <p:bldP spid="326" grpId="0"/>
      <p:bldP spid="327" grpId="0"/>
      <p:bldP spid="328" grpId="0"/>
      <p:bldP spid="329" grpId="0"/>
      <p:bldP spid="330" grpId="0"/>
      <p:bldP spid="331" grpId="0"/>
      <p:bldP spid="332" grpId="0"/>
      <p:bldP spid="333" grpId="0"/>
      <p:bldP spid="334" grpId="0"/>
      <p:bldP spid="335" grpId="0"/>
      <p:bldP spid="336" grpId="0"/>
      <p:bldP spid="337" grpId="0"/>
      <p:bldP spid="338" grpId="0"/>
      <p:bldP spid="339" grpId="0"/>
      <p:bldP spid="340" grpId="0"/>
      <p:bldP spid="341" grpId="0"/>
      <p:bldP spid="342" grpId="0"/>
      <p:bldP spid="343" grpId="0"/>
      <p:bldP spid="344" grpId="0"/>
      <p:bldP spid="345" grpId="0"/>
      <p:bldP spid="346" grpId="0"/>
      <p:bldP spid="347" grpId="0"/>
      <p:bldP spid="348" grpId="0"/>
      <p:bldP spid="349" grpId="0"/>
      <p:bldP spid="350" grpId="0"/>
      <p:bldP spid="351" grpId="0"/>
      <p:bldP spid="35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428628"/>
          </a:xfrm>
        </p:spPr>
        <p:txBody>
          <a:bodyPr>
            <a:noAutofit/>
          </a:bodyPr>
          <a:lstStyle/>
          <a:p>
            <a:r>
              <a:rPr lang="ru-RU" sz="3600" dirty="0"/>
              <a:t>Обходы деревьев в глубину. Пример 2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4500570"/>
            <a:ext cx="8229600" cy="162559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/>
              <a:t>+ * </a:t>
            </a:r>
            <a:r>
              <a:rPr lang="en-US" i="1" dirty="0"/>
              <a:t>a</a:t>
            </a:r>
            <a:r>
              <a:rPr lang="en-US" dirty="0"/>
              <a:t> – </a:t>
            </a:r>
            <a:r>
              <a:rPr lang="en-US" i="1" dirty="0"/>
              <a:t>d e </a:t>
            </a:r>
            <a:r>
              <a:rPr lang="en-US" dirty="0"/>
              <a:t>/ + </a:t>
            </a:r>
            <a:r>
              <a:rPr lang="en-US" i="1" dirty="0"/>
              <a:t>f g c  	</a:t>
            </a:r>
            <a:r>
              <a:rPr lang="ru-RU" i="1" dirty="0"/>
              <a:t>- префиксный обход</a:t>
            </a:r>
          </a:p>
          <a:p>
            <a:pPr>
              <a:buNone/>
            </a:pPr>
            <a:r>
              <a:rPr lang="en-US" i="1" dirty="0"/>
              <a:t>a d e </a:t>
            </a:r>
            <a:r>
              <a:rPr lang="en-US" dirty="0"/>
              <a:t>–</a:t>
            </a:r>
            <a:r>
              <a:rPr lang="en-US" i="1" dirty="0"/>
              <a:t> * f g + c </a:t>
            </a:r>
            <a:r>
              <a:rPr lang="en-US" dirty="0"/>
              <a:t>/ +	- </a:t>
            </a:r>
            <a:r>
              <a:rPr lang="ru-RU" i="1" dirty="0"/>
              <a:t>постфиксный обход</a:t>
            </a:r>
          </a:p>
          <a:p>
            <a:pPr>
              <a:buNone/>
            </a:pPr>
            <a:r>
              <a:rPr lang="en-US" i="1" dirty="0"/>
              <a:t>a * </a:t>
            </a:r>
            <a:r>
              <a:rPr lang="en-US" dirty="0"/>
              <a:t>(</a:t>
            </a:r>
            <a:r>
              <a:rPr lang="en-US" i="1" dirty="0"/>
              <a:t>d </a:t>
            </a:r>
            <a:r>
              <a:rPr lang="en-US" dirty="0"/>
              <a:t>–</a:t>
            </a:r>
            <a:r>
              <a:rPr lang="en-US" i="1" dirty="0"/>
              <a:t> e</a:t>
            </a:r>
            <a:r>
              <a:rPr lang="en-US" dirty="0"/>
              <a:t>)+ (</a:t>
            </a:r>
            <a:r>
              <a:rPr lang="en-US" i="1" dirty="0"/>
              <a:t>f </a:t>
            </a:r>
            <a:r>
              <a:rPr lang="en-US" dirty="0"/>
              <a:t>+</a:t>
            </a:r>
            <a:r>
              <a:rPr lang="en-US" i="1" dirty="0"/>
              <a:t> g</a:t>
            </a:r>
            <a:r>
              <a:rPr lang="en-US" dirty="0"/>
              <a:t>) /</a:t>
            </a:r>
            <a:r>
              <a:rPr lang="en-US" i="1" dirty="0"/>
              <a:t> c 	- </a:t>
            </a:r>
            <a:r>
              <a:rPr lang="ru-RU" i="1" dirty="0"/>
              <a:t>инфиксный обход</a:t>
            </a:r>
          </a:p>
          <a:p>
            <a:endParaRPr lang="ru-RU" i="1" dirty="0"/>
          </a:p>
        </p:txBody>
      </p:sp>
      <p:sp>
        <p:nvSpPr>
          <p:cNvPr id="4" name="Овал 3"/>
          <p:cNvSpPr/>
          <p:nvPr/>
        </p:nvSpPr>
        <p:spPr>
          <a:xfrm>
            <a:off x="4071934" y="785794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5" name="Овал 4"/>
          <p:cNvSpPr/>
          <p:nvPr/>
        </p:nvSpPr>
        <p:spPr>
          <a:xfrm>
            <a:off x="5500694" y="1571612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6" name="Овал 5"/>
          <p:cNvSpPr/>
          <p:nvPr/>
        </p:nvSpPr>
        <p:spPr>
          <a:xfrm>
            <a:off x="2643174" y="1571612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7" name="Овал 6"/>
          <p:cNvSpPr/>
          <p:nvPr/>
        </p:nvSpPr>
        <p:spPr>
          <a:xfrm>
            <a:off x="3428992" y="2786058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8" name="Овал 7"/>
          <p:cNvSpPr/>
          <p:nvPr/>
        </p:nvSpPr>
        <p:spPr>
          <a:xfrm>
            <a:off x="5000628" y="2786058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9" name="Овал 8"/>
          <p:cNvSpPr/>
          <p:nvPr/>
        </p:nvSpPr>
        <p:spPr>
          <a:xfrm>
            <a:off x="6357950" y="2786058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Овал 9"/>
          <p:cNvSpPr/>
          <p:nvPr/>
        </p:nvSpPr>
        <p:spPr>
          <a:xfrm>
            <a:off x="3857620" y="3857628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1" name="Овал 10"/>
          <p:cNvSpPr/>
          <p:nvPr/>
        </p:nvSpPr>
        <p:spPr>
          <a:xfrm>
            <a:off x="2857488" y="3857628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Овал 11"/>
          <p:cNvSpPr/>
          <p:nvPr/>
        </p:nvSpPr>
        <p:spPr>
          <a:xfrm>
            <a:off x="4572000" y="3857628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3" name="Овал 12"/>
          <p:cNvSpPr/>
          <p:nvPr/>
        </p:nvSpPr>
        <p:spPr>
          <a:xfrm>
            <a:off x="2000232" y="2714620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cxnSp>
        <p:nvCxnSpPr>
          <p:cNvPr id="14" name="Прямая соединительная линия 13"/>
          <p:cNvCxnSpPr>
            <a:stCxn id="4" idx="3"/>
            <a:endCxn id="6" idx="0"/>
          </p:cNvCxnSpPr>
          <p:nvPr/>
        </p:nvCxnSpPr>
        <p:spPr>
          <a:xfrm rot="5400000">
            <a:off x="3362786" y="778768"/>
            <a:ext cx="358985" cy="1226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>
            <a:stCxn id="4" idx="5"/>
            <a:endCxn id="5" idx="1"/>
          </p:cNvCxnSpPr>
          <p:nvPr/>
        </p:nvCxnSpPr>
        <p:spPr>
          <a:xfrm rot="16200000" flipH="1">
            <a:off x="4855957" y="916413"/>
            <a:ext cx="432218" cy="10246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stCxn id="6" idx="5"/>
            <a:endCxn id="7" idx="0"/>
          </p:cNvCxnSpPr>
          <p:nvPr/>
        </p:nvCxnSpPr>
        <p:spPr>
          <a:xfrm rot="16200000" flipH="1">
            <a:off x="3011198" y="2118230"/>
            <a:ext cx="787613" cy="5480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stCxn id="5" idx="3"/>
            <a:endCxn id="8" idx="0"/>
          </p:cNvCxnSpPr>
          <p:nvPr/>
        </p:nvCxnSpPr>
        <p:spPr>
          <a:xfrm rot="5400000">
            <a:off x="5023719" y="2225387"/>
            <a:ext cx="787613" cy="3337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5" idx="5"/>
            <a:endCxn id="9" idx="0"/>
          </p:cNvCxnSpPr>
          <p:nvPr/>
        </p:nvCxnSpPr>
        <p:spPr>
          <a:xfrm rot="16200000" flipH="1">
            <a:off x="5904437" y="2082511"/>
            <a:ext cx="787613" cy="619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7" idx="3"/>
            <a:endCxn id="11" idx="0"/>
          </p:cNvCxnSpPr>
          <p:nvPr/>
        </p:nvCxnSpPr>
        <p:spPr>
          <a:xfrm rot="5400000">
            <a:off x="3000365" y="3355767"/>
            <a:ext cx="644737" cy="3589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>
            <a:stCxn id="7" idx="5"/>
            <a:endCxn id="10" idx="0"/>
          </p:cNvCxnSpPr>
          <p:nvPr/>
        </p:nvCxnSpPr>
        <p:spPr>
          <a:xfrm rot="16200000" flipH="1">
            <a:off x="3677230" y="3391485"/>
            <a:ext cx="644737" cy="2875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stCxn id="8" idx="3"/>
            <a:endCxn id="12" idx="0"/>
          </p:cNvCxnSpPr>
          <p:nvPr/>
        </p:nvCxnSpPr>
        <p:spPr>
          <a:xfrm rot="5400000">
            <a:off x="4643439" y="3427205"/>
            <a:ext cx="644737" cy="2161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6" idx="3"/>
            <a:endCxn id="13" idx="0"/>
          </p:cNvCxnSpPr>
          <p:nvPr/>
        </p:nvCxnSpPr>
        <p:spPr>
          <a:xfrm rot="5400000">
            <a:off x="2148340" y="2136090"/>
            <a:ext cx="716175" cy="4408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214810" y="78579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6050" y="164305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43570" y="1571612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/</a:t>
            </a:r>
            <a:endParaRPr lang="ru-RU" sz="24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500430" y="278605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2066" y="278605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+</a:t>
            </a:r>
            <a:endParaRPr lang="ru-RU" sz="24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6429388" y="2786058"/>
            <a:ext cx="3113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c</a:t>
            </a:r>
            <a:endParaRPr lang="ru-RU" sz="2400" b="1" i="1" dirty="0"/>
          </a:p>
        </p:txBody>
      </p:sp>
      <p:sp>
        <p:nvSpPr>
          <p:cNvPr id="29" name="TextBox 28"/>
          <p:cNvSpPr txBox="1"/>
          <p:nvPr/>
        </p:nvSpPr>
        <p:spPr>
          <a:xfrm>
            <a:off x="3000364" y="3929066"/>
            <a:ext cx="346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d</a:t>
            </a:r>
            <a:endParaRPr lang="ru-RU" sz="2400" b="1" i="1" dirty="0"/>
          </a:p>
        </p:txBody>
      </p:sp>
      <p:sp>
        <p:nvSpPr>
          <p:cNvPr id="30" name="TextBox 29"/>
          <p:cNvSpPr txBox="1"/>
          <p:nvPr/>
        </p:nvSpPr>
        <p:spPr>
          <a:xfrm>
            <a:off x="4000496" y="3857628"/>
            <a:ext cx="33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e</a:t>
            </a:r>
            <a:endParaRPr lang="ru-RU" sz="2400" b="1" i="1" dirty="0"/>
          </a:p>
        </p:txBody>
      </p:sp>
      <p:sp>
        <p:nvSpPr>
          <p:cNvPr id="31" name="TextBox 30"/>
          <p:cNvSpPr txBox="1"/>
          <p:nvPr/>
        </p:nvSpPr>
        <p:spPr>
          <a:xfrm>
            <a:off x="4714876" y="3929066"/>
            <a:ext cx="2824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f</a:t>
            </a:r>
            <a:endParaRPr lang="ru-RU" sz="2400" b="1" i="1" dirty="0"/>
          </a:p>
        </p:txBody>
      </p:sp>
      <p:sp>
        <p:nvSpPr>
          <p:cNvPr id="32" name="TextBox 31"/>
          <p:cNvSpPr txBox="1"/>
          <p:nvPr/>
        </p:nvSpPr>
        <p:spPr>
          <a:xfrm>
            <a:off x="2071670" y="2714620"/>
            <a:ext cx="346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a</a:t>
            </a:r>
            <a:endParaRPr lang="ru-RU" sz="2400" b="1" i="1" dirty="0"/>
          </a:p>
        </p:txBody>
      </p:sp>
      <p:sp>
        <p:nvSpPr>
          <p:cNvPr id="56" name="Овал 55"/>
          <p:cNvSpPr/>
          <p:nvPr/>
        </p:nvSpPr>
        <p:spPr>
          <a:xfrm>
            <a:off x="5429256" y="3857628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cxnSp>
        <p:nvCxnSpPr>
          <p:cNvPr id="68" name="Прямая соединительная линия 67"/>
          <p:cNvCxnSpPr>
            <a:stCxn id="8" idx="5"/>
            <a:endCxn id="56" idx="0"/>
          </p:cNvCxnSpPr>
          <p:nvPr/>
        </p:nvCxnSpPr>
        <p:spPr>
          <a:xfrm rot="16200000" flipH="1">
            <a:off x="5248866" y="3391485"/>
            <a:ext cx="644737" cy="2875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572132" y="3857628"/>
            <a:ext cx="319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g</a:t>
            </a:r>
            <a:endParaRPr lang="ru-RU" sz="2400" b="1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ru-RU" dirty="0"/>
              <a:t>Реализация обхода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289451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 err="1"/>
              <a:t>typedef</a:t>
            </a:r>
            <a:r>
              <a:rPr lang="en-US" dirty="0"/>
              <a:t>  </a:t>
            </a:r>
            <a:r>
              <a:rPr lang="en-US" dirty="0" err="1"/>
              <a:t>struct</a:t>
            </a:r>
            <a:r>
              <a:rPr lang="en-US" dirty="0"/>
              <a:t> node {</a:t>
            </a:r>
          </a:p>
          <a:p>
            <a:pPr>
              <a:buNone/>
            </a:pPr>
            <a:r>
              <a:rPr lang="en-US" dirty="0"/>
              <a:t>	char *</a:t>
            </a:r>
            <a:r>
              <a:rPr lang="ru-RU" dirty="0"/>
              <a:t> </a:t>
            </a:r>
            <a:r>
              <a:rPr lang="en-US" dirty="0"/>
              <a:t>word;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err="1"/>
              <a:t>struct</a:t>
            </a:r>
            <a:r>
              <a:rPr lang="en-US" dirty="0"/>
              <a:t> node *</a:t>
            </a:r>
            <a:r>
              <a:rPr lang="ru-RU" dirty="0"/>
              <a:t> </a:t>
            </a:r>
            <a:r>
              <a:rPr lang="en-US" dirty="0"/>
              <a:t>left;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err="1"/>
              <a:t>struct</a:t>
            </a:r>
            <a:r>
              <a:rPr lang="en-US" dirty="0"/>
              <a:t> node * right;</a:t>
            </a:r>
          </a:p>
          <a:p>
            <a:pPr>
              <a:buNone/>
            </a:pPr>
            <a:r>
              <a:rPr lang="en-US" dirty="0"/>
              <a:t>} tree;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void </a:t>
            </a:r>
            <a:r>
              <a:rPr lang="en-US" dirty="0" err="1"/>
              <a:t>print_tree</a:t>
            </a:r>
            <a:r>
              <a:rPr lang="en-US" dirty="0"/>
              <a:t> (</a:t>
            </a:r>
            <a:r>
              <a:rPr lang="ru-RU" dirty="0"/>
              <a:t> </a:t>
            </a:r>
            <a:r>
              <a:rPr lang="en-US" dirty="0"/>
              <a:t>tree *</a:t>
            </a:r>
            <a:r>
              <a:rPr lang="ru-RU" dirty="0"/>
              <a:t> </a:t>
            </a:r>
            <a:r>
              <a:rPr lang="en-US" dirty="0"/>
              <a:t>t</a:t>
            </a:r>
            <a:r>
              <a:rPr lang="ru-RU" dirty="0"/>
              <a:t> </a:t>
            </a:r>
            <a:r>
              <a:rPr lang="en-US" dirty="0"/>
              <a:t>)</a:t>
            </a:r>
          </a:p>
          <a:p>
            <a:pPr>
              <a:buNone/>
            </a:pPr>
            <a:r>
              <a:rPr lang="en-US" dirty="0"/>
              <a:t>{</a:t>
            </a:r>
          </a:p>
          <a:p>
            <a:pPr>
              <a:buNone/>
            </a:pPr>
            <a:r>
              <a:rPr lang="en-US" dirty="0"/>
              <a:t>	if (</a:t>
            </a:r>
            <a:r>
              <a:rPr lang="ru-RU" dirty="0"/>
              <a:t> </a:t>
            </a:r>
            <a:r>
              <a:rPr lang="en-US" dirty="0"/>
              <a:t>!t</a:t>
            </a:r>
            <a:r>
              <a:rPr lang="ru-RU" dirty="0"/>
              <a:t> </a:t>
            </a:r>
            <a:r>
              <a:rPr lang="en-US" dirty="0"/>
              <a:t>) </a:t>
            </a:r>
            <a:endParaRPr lang="ru-RU" dirty="0"/>
          </a:p>
          <a:p>
            <a:pPr>
              <a:buNone/>
            </a:pPr>
            <a:r>
              <a:rPr lang="ru-RU" dirty="0"/>
              <a:t>		</a:t>
            </a:r>
            <a:r>
              <a:rPr lang="en-US" dirty="0"/>
              <a:t>return;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err="1"/>
              <a:t>print_tree</a:t>
            </a:r>
            <a:r>
              <a:rPr lang="en-US" dirty="0"/>
              <a:t>(</a:t>
            </a:r>
            <a:r>
              <a:rPr lang="ru-RU" dirty="0"/>
              <a:t> </a:t>
            </a:r>
            <a:r>
              <a:rPr lang="en-US" dirty="0"/>
              <a:t>t-&gt;left</a:t>
            </a:r>
            <a:r>
              <a:rPr lang="ru-RU" dirty="0"/>
              <a:t> </a:t>
            </a:r>
            <a:r>
              <a:rPr lang="en-US" dirty="0"/>
              <a:t>);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 (</a:t>
            </a:r>
            <a:r>
              <a:rPr lang="ru-RU" dirty="0"/>
              <a:t> </a:t>
            </a:r>
            <a:r>
              <a:rPr lang="en-US" dirty="0"/>
              <a:t>“%s\n”, t-&gt;word</a:t>
            </a:r>
            <a:r>
              <a:rPr lang="ru-RU" dirty="0"/>
              <a:t> </a:t>
            </a:r>
            <a:r>
              <a:rPr lang="en-US" dirty="0"/>
              <a:t>);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err="1"/>
              <a:t>print_tree</a:t>
            </a:r>
            <a:r>
              <a:rPr lang="en-US" dirty="0"/>
              <a:t>(</a:t>
            </a:r>
            <a:r>
              <a:rPr lang="ru-RU" dirty="0"/>
              <a:t> </a:t>
            </a:r>
            <a:r>
              <a:rPr lang="en-US" dirty="0"/>
              <a:t>t-&gt;right</a:t>
            </a:r>
            <a:r>
              <a:rPr lang="ru-RU" dirty="0"/>
              <a:t> </a:t>
            </a:r>
            <a:r>
              <a:rPr lang="en-US" dirty="0"/>
              <a:t>);</a:t>
            </a:r>
          </a:p>
          <a:p>
            <a:pPr>
              <a:buNone/>
            </a:pPr>
            <a:r>
              <a:rPr lang="en-US" dirty="0"/>
              <a:t>}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ru-RU" dirty="0"/>
              <a:t>Обход дерева в ширину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054617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ru-RU" dirty="0"/>
              <a:t>- это обход вершин дерева по уровням, начиная от корня, слева </a:t>
            </a:r>
            <a:r>
              <a:rPr lang="ru-RU" i="1" dirty="0"/>
              <a:t>направо</a:t>
            </a:r>
            <a:r>
              <a:rPr lang="ru-RU" dirty="0"/>
              <a:t> (или справа налево).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Алгоритм</a:t>
            </a:r>
            <a:r>
              <a:rPr lang="ru-RU" dirty="0"/>
              <a:t> обхода дерева в ширину</a:t>
            </a:r>
          </a:p>
          <a:p>
            <a:pPr>
              <a:buNone/>
            </a:pPr>
            <a:r>
              <a:rPr lang="ru-RU" dirty="0"/>
              <a:t>Шаг 0: </a:t>
            </a:r>
          </a:p>
          <a:p>
            <a:pPr>
              <a:buNone/>
            </a:pPr>
            <a:r>
              <a:rPr lang="ru-RU" dirty="0"/>
              <a:t>		Поместить в очередь корень дерева.</a:t>
            </a:r>
          </a:p>
          <a:p>
            <a:pPr>
              <a:buNone/>
            </a:pPr>
            <a:r>
              <a:rPr lang="ru-RU" dirty="0"/>
              <a:t>Шаг 1: </a:t>
            </a:r>
          </a:p>
          <a:p>
            <a:pPr>
              <a:buNone/>
            </a:pPr>
            <a:r>
              <a:rPr lang="ru-RU" dirty="0"/>
              <a:t>		Взять из очереди очередную вершину. 	Поместить в очередь всех ее сыновей по 	порядку слева направо (справа налево).</a:t>
            </a:r>
          </a:p>
          <a:p>
            <a:pPr>
              <a:buNone/>
            </a:pPr>
            <a:r>
              <a:rPr lang="ru-RU" dirty="0"/>
              <a:t>Шаг 2:</a:t>
            </a:r>
          </a:p>
          <a:p>
            <a:pPr>
              <a:buNone/>
            </a:pPr>
            <a:r>
              <a:rPr lang="ru-RU" dirty="0"/>
              <a:t>		Если очередь пуста, то конец обхода, иначе 	перейти на Шаг 1.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ru-RU" dirty="0"/>
              <a:t>Обход дерева в ширину. Пример</a:t>
            </a:r>
          </a:p>
        </p:txBody>
      </p:sp>
      <p:sp>
        <p:nvSpPr>
          <p:cNvPr id="4" name="Овал 3"/>
          <p:cNvSpPr/>
          <p:nvPr/>
        </p:nvSpPr>
        <p:spPr>
          <a:xfrm>
            <a:off x="4071934" y="785794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5" name="Овал 4"/>
          <p:cNvSpPr/>
          <p:nvPr/>
        </p:nvSpPr>
        <p:spPr>
          <a:xfrm>
            <a:off x="5500694" y="1571612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6" name="Овал 5"/>
          <p:cNvSpPr/>
          <p:nvPr/>
        </p:nvSpPr>
        <p:spPr>
          <a:xfrm>
            <a:off x="2643174" y="1571612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7" name="Овал 6"/>
          <p:cNvSpPr/>
          <p:nvPr/>
        </p:nvSpPr>
        <p:spPr>
          <a:xfrm>
            <a:off x="3428992" y="2786058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8" name="Овал 7"/>
          <p:cNvSpPr/>
          <p:nvPr/>
        </p:nvSpPr>
        <p:spPr>
          <a:xfrm>
            <a:off x="5000628" y="2786058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9" name="Овал 8"/>
          <p:cNvSpPr/>
          <p:nvPr/>
        </p:nvSpPr>
        <p:spPr>
          <a:xfrm>
            <a:off x="6357950" y="2786058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Овал 9"/>
          <p:cNvSpPr/>
          <p:nvPr/>
        </p:nvSpPr>
        <p:spPr>
          <a:xfrm>
            <a:off x="4357686" y="4000504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1" name="Овал 10"/>
          <p:cNvSpPr/>
          <p:nvPr/>
        </p:nvSpPr>
        <p:spPr>
          <a:xfrm>
            <a:off x="2857488" y="3857628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Овал 11"/>
          <p:cNvSpPr/>
          <p:nvPr/>
        </p:nvSpPr>
        <p:spPr>
          <a:xfrm>
            <a:off x="5143504" y="4000504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3" name="Овал 12"/>
          <p:cNvSpPr/>
          <p:nvPr/>
        </p:nvSpPr>
        <p:spPr>
          <a:xfrm>
            <a:off x="2000232" y="2714620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cxnSp>
        <p:nvCxnSpPr>
          <p:cNvPr id="14" name="Прямая соединительная линия 13"/>
          <p:cNvCxnSpPr>
            <a:stCxn id="4" idx="3"/>
            <a:endCxn id="6" idx="0"/>
          </p:cNvCxnSpPr>
          <p:nvPr/>
        </p:nvCxnSpPr>
        <p:spPr>
          <a:xfrm rot="5400000">
            <a:off x="3362786" y="778768"/>
            <a:ext cx="358985" cy="1226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>
            <a:stCxn id="4" idx="5"/>
            <a:endCxn id="5" idx="1"/>
          </p:cNvCxnSpPr>
          <p:nvPr/>
        </p:nvCxnSpPr>
        <p:spPr>
          <a:xfrm rot="16200000" flipH="1">
            <a:off x="4855957" y="916413"/>
            <a:ext cx="432218" cy="10246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stCxn id="6" idx="5"/>
            <a:endCxn id="7" idx="0"/>
          </p:cNvCxnSpPr>
          <p:nvPr/>
        </p:nvCxnSpPr>
        <p:spPr>
          <a:xfrm rot="16200000" flipH="1">
            <a:off x="3011198" y="2118230"/>
            <a:ext cx="787613" cy="5480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stCxn id="5" idx="3"/>
            <a:endCxn id="8" idx="0"/>
          </p:cNvCxnSpPr>
          <p:nvPr/>
        </p:nvCxnSpPr>
        <p:spPr>
          <a:xfrm rot="5400000">
            <a:off x="5023719" y="2225387"/>
            <a:ext cx="787613" cy="3337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5" idx="5"/>
            <a:endCxn id="9" idx="0"/>
          </p:cNvCxnSpPr>
          <p:nvPr/>
        </p:nvCxnSpPr>
        <p:spPr>
          <a:xfrm rot="16200000" flipH="1">
            <a:off x="5904437" y="2082511"/>
            <a:ext cx="787613" cy="619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7" idx="3"/>
            <a:endCxn id="11" idx="0"/>
          </p:cNvCxnSpPr>
          <p:nvPr/>
        </p:nvCxnSpPr>
        <p:spPr>
          <a:xfrm rot="5400000">
            <a:off x="3000365" y="3355767"/>
            <a:ext cx="644737" cy="3589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>
            <a:stCxn id="8" idx="3"/>
            <a:endCxn id="10" idx="0"/>
          </p:cNvCxnSpPr>
          <p:nvPr/>
        </p:nvCxnSpPr>
        <p:spPr>
          <a:xfrm rot="5400000">
            <a:off x="4464844" y="3391486"/>
            <a:ext cx="787613" cy="4304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stCxn id="8" idx="4"/>
            <a:endCxn id="12" idx="0"/>
          </p:cNvCxnSpPr>
          <p:nvPr/>
        </p:nvCxnSpPr>
        <p:spPr>
          <a:xfrm rot="16200000" flipH="1">
            <a:off x="4982768" y="3554016"/>
            <a:ext cx="714380" cy="1785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6" idx="3"/>
            <a:endCxn id="13" idx="0"/>
          </p:cNvCxnSpPr>
          <p:nvPr/>
        </p:nvCxnSpPr>
        <p:spPr>
          <a:xfrm rot="5400000">
            <a:off x="2148340" y="2136090"/>
            <a:ext cx="716175" cy="4408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214810" y="785794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b</a:t>
            </a:r>
            <a:endParaRPr lang="ru-RU" sz="2400" b="1" i="1" dirty="0"/>
          </a:p>
        </p:txBody>
      </p:sp>
      <p:sp>
        <p:nvSpPr>
          <p:cNvPr id="24" name="TextBox 23"/>
          <p:cNvSpPr txBox="1"/>
          <p:nvPr/>
        </p:nvSpPr>
        <p:spPr>
          <a:xfrm>
            <a:off x="2786050" y="1643050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h</a:t>
            </a:r>
            <a:endParaRPr lang="ru-RU" sz="2400" b="1" i="1" dirty="0"/>
          </a:p>
        </p:txBody>
      </p:sp>
      <p:sp>
        <p:nvSpPr>
          <p:cNvPr id="25" name="TextBox 24"/>
          <p:cNvSpPr txBox="1"/>
          <p:nvPr/>
        </p:nvSpPr>
        <p:spPr>
          <a:xfrm>
            <a:off x="5643570" y="1571612"/>
            <a:ext cx="260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/>
              <a:t>i</a:t>
            </a:r>
            <a:endParaRPr lang="ru-RU" sz="2400" b="1" i="1" dirty="0"/>
          </a:p>
        </p:txBody>
      </p:sp>
      <p:sp>
        <p:nvSpPr>
          <p:cNvPr id="26" name="TextBox 25"/>
          <p:cNvSpPr txBox="1"/>
          <p:nvPr/>
        </p:nvSpPr>
        <p:spPr>
          <a:xfrm>
            <a:off x="3500430" y="2786058"/>
            <a:ext cx="263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j</a:t>
            </a:r>
            <a:endParaRPr lang="ru-RU" sz="2400" b="1" i="1" dirty="0"/>
          </a:p>
        </p:txBody>
      </p:sp>
      <p:sp>
        <p:nvSpPr>
          <p:cNvPr id="27" name="TextBox 26"/>
          <p:cNvSpPr txBox="1"/>
          <p:nvPr/>
        </p:nvSpPr>
        <p:spPr>
          <a:xfrm>
            <a:off x="5072066" y="278605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k</a:t>
            </a:r>
            <a:endParaRPr lang="ru-RU" sz="2400" b="1" i="1" dirty="0"/>
          </a:p>
        </p:txBody>
      </p:sp>
      <p:sp>
        <p:nvSpPr>
          <p:cNvPr id="28" name="TextBox 27"/>
          <p:cNvSpPr txBox="1"/>
          <p:nvPr/>
        </p:nvSpPr>
        <p:spPr>
          <a:xfrm>
            <a:off x="6429388" y="2786058"/>
            <a:ext cx="260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l</a:t>
            </a:r>
            <a:endParaRPr lang="ru-RU" sz="2400" b="1" i="1" dirty="0"/>
          </a:p>
        </p:txBody>
      </p:sp>
      <p:sp>
        <p:nvSpPr>
          <p:cNvPr id="29" name="TextBox 28"/>
          <p:cNvSpPr txBox="1"/>
          <p:nvPr/>
        </p:nvSpPr>
        <p:spPr>
          <a:xfrm>
            <a:off x="3000364" y="3929066"/>
            <a:ext cx="346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d</a:t>
            </a:r>
            <a:endParaRPr lang="ru-RU" sz="2400" b="1" i="1" dirty="0"/>
          </a:p>
        </p:txBody>
      </p:sp>
      <p:sp>
        <p:nvSpPr>
          <p:cNvPr id="30" name="TextBox 29"/>
          <p:cNvSpPr txBox="1"/>
          <p:nvPr/>
        </p:nvSpPr>
        <p:spPr>
          <a:xfrm>
            <a:off x="4429124" y="4000504"/>
            <a:ext cx="33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e</a:t>
            </a:r>
            <a:endParaRPr lang="ru-RU" sz="2400" b="1" i="1" dirty="0"/>
          </a:p>
        </p:txBody>
      </p:sp>
      <p:sp>
        <p:nvSpPr>
          <p:cNvPr id="31" name="TextBox 30"/>
          <p:cNvSpPr txBox="1"/>
          <p:nvPr/>
        </p:nvSpPr>
        <p:spPr>
          <a:xfrm>
            <a:off x="5286380" y="4000504"/>
            <a:ext cx="2824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f</a:t>
            </a:r>
            <a:endParaRPr lang="ru-RU" sz="2400" b="1" i="1" dirty="0"/>
          </a:p>
        </p:txBody>
      </p:sp>
      <p:sp>
        <p:nvSpPr>
          <p:cNvPr id="32" name="TextBox 31"/>
          <p:cNvSpPr txBox="1"/>
          <p:nvPr/>
        </p:nvSpPr>
        <p:spPr>
          <a:xfrm>
            <a:off x="2071670" y="2714620"/>
            <a:ext cx="346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a</a:t>
            </a:r>
            <a:endParaRPr lang="ru-RU" sz="2400" b="1" i="1" dirty="0"/>
          </a:p>
        </p:txBody>
      </p:sp>
      <p:sp>
        <p:nvSpPr>
          <p:cNvPr id="33" name="Овал 32"/>
          <p:cNvSpPr/>
          <p:nvPr/>
        </p:nvSpPr>
        <p:spPr>
          <a:xfrm>
            <a:off x="5929322" y="3929066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cxnSp>
        <p:nvCxnSpPr>
          <p:cNvPr id="34" name="Прямая соединительная линия 33"/>
          <p:cNvCxnSpPr>
            <a:stCxn id="8" idx="5"/>
            <a:endCxn id="33" idx="0"/>
          </p:cNvCxnSpPr>
          <p:nvPr/>
        </p:nvCxnSpPr>
        <p:spPr>
          <a:xfrm rot="16200000" flipH="1">
            <a:off x="5463180" y="3177171"/>
            <a:ext cx="716175" cy="7876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000760" y="3929066"/>
            <a:ext cx="319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g</a:t>
            </a:r>
            <a:endParaRPr lang="ru-RU" sz="2400" b="1" i="1" dirty="0"/>
          </a:p>
        </p:txBody>
      </p:sp>
      <p:sp>
        <p:nvSpPr>
          <p:cNvPr id="43" name="TextBox 42"/>
          <p:cNvSpPr txBox="1"/>
          <p:nvPr/>
        </p:nvSpPr>
        <p:spPr>
          <a:xfrm>
            <a:off x="714348" y="5572140"/>
            <a:ext cx="428628" cy="523220"/>
          </a:xfrm>
          <a:prstGeom prst="rect">
            <a:avLst/>
          </a:prstGeom>
          <a:noFill/>
          <a:ln w="19050" cmpd="sng">
            <a:solidFill>
              <a:srgbClr val="002060"/>
            </a:solidFill>
          </a:ln>
        </p:spPr>
        <p:txBody>
          <a:bodyPr wrap="square" rtlCol="0" anchor="ctr" anchorCtr="0">
            <a:spAutoFit/>
          </a:bodyPr>
          <a:lstStyle/>
          <a:p>
            <a:r>
              <a:rPr lang="en-US" sz="2800" i="1" dirty="0"/>
              <a:t>b</a:t>
            </a:r>
            <a:endParaRPr lang="ru-RU" sz="2800" i="1" dirty="0"/>
          </a:p>
        </p:txBody>
      </p:sp>
      <p:sp>
        <p:nvSpPr>
          <p:cNvPr id="44" name="TextBox 43"/>
          <p:cNvSpPr txBox="1"/>
          <p:nvPr/>
        </p:nvSpPr>
        <p:spPr>
          <a:xfrm>
            <a:off x="1571604" y="5572140"/>
            <a:ext cx="428628" cy="523220"/>
          </a:xfrm>
          <a:prstGeom prst="rect">
            <a:avLst/>
          </a:prstGeom>
          <a:noFill/>
          <a:ln w="19050" cmpd="sng">
            <a:solidFill>
              <a:srgbClr val="002060"/>
            </a:solidFill>
          </a:ln>
        </p:spPr>
        <p:txBody>
          <a:bodyPr wrap="square" rtlCol="0" anchor="ctr" anchorCtr="0">
            <a:spAutoFit/>
          </a:bodyPr>
          <a:lstStyle/>
          <a:p>
            <a:r>
              <a:rPr lang="en-US" sz="2800" i="1" dirty="0" err="1"/>
              <a:t>i</a:t>
            </a:r>
            <a:endParaRPr lang="ru-RU" sz="2800" i="1" dirty="0"/>
          </a:p>
        </p:txBody>
      </p:sp>
      <p:sp>
        <p:nvSpPr>
          <p:cNvPr id="45" name="TextBox 44"/>
          <p:cNvSpPr txBox="1"/>
          <p:nvPr/>
        </p:nvSpPr>
        <p:spPr>
          <a:xfrm>
            <a:off x="1142976" y="5572140"/>
            <a:ext cx="428628" cy="523220"/>
          </a:xfrm>
          <a:prstGeom prst="rect">
            <a:avLst/>
          </a:prstGeom>
          <a:noFill/>
          <a:ln w="19050" cmpd="sng">
            <a:solidFill>
              <a:srgbClr val="002060"/>
            </a:solidFill>
          </a:ln>
        </p:spPr>
        <p:txBody>
          <a:bodyPr wrap="square" rtlCol="0" anchor="ctr" anchorCtr="0">
            <a:spAutoFit/>
          </a:bodyPr>
          <a:lstStyle/>
          <a:p>
            <a:r>
              <a:rPr lang="en-US" sz="2800" i="1" dirty="0"/>
              <a:t>h</a:t>
            </a:r>
            <a:endParaRPr lang="ru-RU" sz="2800" i="1" dirty="0"/>
          </a:p>
        </p:txBody>
      </p:sp>
      <p:sp>
        <p:nvSpPr>
          <p:cNvPr id="46" name="TextBox 45"/>
          <p:cNvSpPr txBox="1"/>
          <p:nvPr/>
        </p:nvSpPr>
        <p:spPr>
          <a:xfrm>
            <a:off x="2000232" y="5572140"/>
            <a:ext cx="428628" cy="523220"/>
          </a:xfrm>
          <a:prstGeom prst="rect">
            <a:avLst/>
          </a:prstGeom>
          <a:noFill/>
          <a:ln w="19050" cmpd="sng">
            <a:solidFill>
              <a:srgbClr val="002060"/>
            </a:solidFill>
          </a:ln>
        </p:spPr>
        <p:txBody>
          <a:bodyPr wrap="square" rtlCol="0" anchor="ctr" anchorCtr="0">
            <a:spAutoFit/>
          </a:bodyPr>
          <a:lstStyle/>
          <a:p>
            <a:r>
              <a:rPr lang="en-US" sz="2800" i="1" dirty="0"/>
              <a:t>a</a:t>
            </a:r>
            <a:endParaRPr lang="ru-RU" sz="2800" i="1" dirty="0"/>
          </a:p>
        </p:txBody>
      </p:sp>
      <p:sp>
        <p:nvSpPr>
          <p:cNvPr id="47" name="TextBox 46"/>
          <p:cNvSpPr txBox="1"/>
          <p:nvPr/>
        </p:nvSpPr>
        <p:spPr>
          <a:xfrm>
            <a:off x="2428860" y="5572140"/>
            <a:ext cx="428628" cy="523220"/>
          </a:xfrm>
          <a:prstGeom prst="rect">
            <a:avLst/>
          </a:prstGeom>
          <a:noFill/>
          <a:ln w="19050" cmpd="sng">
            <a:solidFill>
              <a:srgbClr val="002060"/>
            </a:solidFill>
          </a:ln>
        </p:spPr>
        <p:txBody>
          <a:bodyPr wrap="square" rtlCol="0" anchor="ctr" anchorCtr="0">
            <a:spAutoFit/>
          </a:bodyPr>
          <a:lstStyle/>
          <a:p>
            <a:r>
              <a:rPr lang="en-US" sz="2800" i="1" dirty="0"/>
              <a:t>j</a:t>
            </a:r>
            <a:endParaRPr lang="ru-RU" sz="2800" i="1" dirty="0"/>
          </a:p>
        </p:txBody>
      </p:sp>
      <p:sp>
        <p:nvSpPr>
          <p:cNvPr id="48" name="TextBox 47"/>
          <p:cNvSpPr txBox="1"/>
          <p:nvPr/>
        </p:nvSpPr>
        <p:spPr>
          <a:xfrm>
            <a:off x="2857488" y="5572140"/>
            <a:ext cx="428628" cy="523220"/>
          </a:xfrm>
          <a:prstGeom prst="rect">
            <a:avLst/>
          </a:prstGeom>
          <a:noFill/>
          <a:ln w="19050" cmpd="sng">
            <a:solidFill>
              <a:srgbClr val="002060"/>
            </a:solidFill>
          </a:ln>
        </p:spPr>
        <p:txBody>
          <a:bodyPr wrap="square" rtlCol="0" anchor="ctr" anchorCtr="0">
            <a:spAutoFit/>
          </a:bodyPr>
          <a:lstStyle/>
          <a:p>
            <a:r>
              <a:rPr lang="en-US" sz="2800" i="1" dirty="0"/>
              <a:t>k</a:t>
            </a:r>
            <a:endParaRPr lang="ru-RU" sz="2800" i="1" dirty="0"/>
          </a:p>
        </p:txBody>
      </p:sp>
      <p:sp>
        <p:nvSpPr>
          <p:cNvPr id="49" name="TextBox 48"/>
          <p:cNvSpPr txBox="1"/>
          <p:nvPr/>
        </p:nvSpPr>
        <p:spPr>
          <a:xfrm>
            <a:off x="3286116" y="5572140"/>
            <a:ext cx="428628" cy="523220"/>
          </a:xfrm>
          <a:prstGeom prst="rect">
            <a:avLst/>
          </a:prstGeom>
          <a:noFill/>
          <a:ln w="19050" cmpd="sng">
            <a:solidFill>
              <a:srgbClr val="002060"/>
            </a:solidFill>
          </a:ln>
        </p:spPr>
        <p:txBody>
          <a:bodyPr wrap="square" rtlCol="0" anchor="ctr" anchorCtr="0">
            <a:spAutoFit/>
          </a:bodyPr>
          <a:lstStyle/>
          <a:p>
            <a:r>
              <a:rPr lang="en-US" sz="2800" i="1" dirty="0"/>
              <a:t>l</a:t>
            </a:r>
            <a:endParaRPr lang="ru-RU" sz="2800" i="1" dirty="0"/>
          </a:p>
        </p:txBody>
      </p:sp>
      <p:sp>
        <p:nvSpPr>
          <p:cNvPr id="50" name="TextBox 49"/>
          <p:cNvSpPr txBox="1"/>
          <p:nvPr/>
        </p:nvSpPr>
        <p:spPr>
          <a:xfrm>
            <a:off x="3714744" y="5572140"/>
            <a:ext cx="428628" cy="523220"/>
          </a:xfrm>
          <a:prstGeom prst="rect">
            <a:avLst/>
          </a:prstGeom>
          <a:noFill/>
          <a:ln w="19050" cmpd="sng">
            <a:solidFill>
              <a:srgbClr val="002060"/>
            </a:solidFill>
          </a:ln>
        </p:spPr>
        <p:txBody>
          <a:bodyPr wrap="square" rtlCol="0" anchor="ctr" anchorCtr="0">
            <a:spAutoFit/>
          </a:bodyPr>
          <a:lstStyle/>
          <a:p>
            <a:r>
              <a:rPr lang="en-US" sz="2800" i="1" dirty="0"/>
              <a:t>d</a:t>
            </a:r>
            <a:endParaRPr lang="ru-RU" sz="2800" i="1" dirty="0"/>
          </a:p>
        </p:txBody>
      </p:sp>
      <p:sp>
        <p:nvSpPr>
          <p:cNvPr id="51" name="TextBox 50"/>
          <p:cNvSpPr txBox="1"/>
          <p:nvPr/>
        </p:nvSpPr>
        <p:spPr>
          <a:xfrm>
            <a:off x="4143372" y="5572140"/>
            <a:ext cx="428628" cy="523220"/>
          </a:xfrm>
          <a:prstGeom prst="rect">
            <a:avLst/>
          </a:prstGeom>
          <a:noFill/>
          <a:ln w="19050" cmpd="sng">
            <a:solidFill>
              <a:srgbClr val="002060"/>
            </a:solidFill>
          </a:ln>
        </p:spPr>
        <p:txBody>
          <a:bodyPr wrap="square" rtlCol="0" anchor="ctr" anchorCtr="0">
            <a:spAutoFit/>
          </a:bodyPr>
          <a:lstStyle/>
          <a:p>
            <a:r>
              <a:rPr lang="en-US" sz="2800" i="1" dirty="0"/>
              <a:t>e</a:t>
            </a:r>
            <a:endParaRPr lang="ru-RU" sz="2800" i="1" dirty="0"/>
          </a:p>
        </p:txBody>
      </p:sp>
      <p:sp>
        <p:nvSpPr>
          <p:cNvPr id="52" name="TextBox 51"/>
          <p:cNvSpPr txBox="1"/>
          <p:nvPr/>
        </p:nvSpPr>
        <p:spPr>
          <a:xfrm>
            <a:off x="4572000" y="5572140"/>
            <a:ext cx="428628" cy="523220"/>
          </a:xfrm>
          <a:prstGeom prst="rect">
            <a:avLst/>
          </a:prstGeom>
          <a:noFill/>
          <a:ln w="19050" cmpd="sng">
            <a:solidFill>
              <a:srgbClr val="002060"/>
            </a:solidFill>
          </a:ln>
        </p:spPr>
        <p:txBody>
          <a:bodyPr wrap="square" rtlCol="0" anchor="ctr" anchorCtr="0">
            <a:spAutoFit/>
          </a:bodyPr>
          <a:lstStyle/>
          <a:p>
            <a:r>
              <a:rPr lang="en-US" sz="2800" i="1" dirty="0"/>
              <a:t>f</a:t>
            </a:r>
            <a:endParaRPr lang="ru-RU" sz="2800" i="1" dirty="0"/>
          </a:p>
        </p:txBody>
      </p:sp>
      <p:sp>
        <p:nvSpPr>
          <p:cNvPr id="53" name="TextBox 52"/>
          <p:cNvSpPr txBox="1"/>
          <p:nvPr/>
        </p:nvSpPr>
        <p:spPr>
          <a:xfrm>
            <a:off x="5000628" y="5572140"/>
            <a:ext cx="428628" cy="523220"/>
          </a:xfrm>
          <a:prstGeom prst="rect">
            <a:avLst/>
          </a:prstGeom>
          <a:noFill/>
          <a:ln w="19050" cmpd="sng">
            <a:solidFill>
              <a:srgbClr val="002060"/>
            </a:solidFill>
          </a:ln>
        </p:spPr>
        <p:txBody>
          <a:bodyPr wrap="square" rtlCol="0" anchor="ctr" anchorCtr="0">
            <a:spAutoFit/>
          </a:bodyPr>
          <a:lstStyle/>
          <a:p>
            <a:r>
              <a:rPr lang="en-US" sz="2800" i="1" dirty="0"/>
              <a:t>g</a:t>
            </a:r>
            <a:endParaRPr lang="ru-RU" sz="28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95C3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27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41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55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60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72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90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000"/>
                            </p:stCondLst>
                            <p:childTnLst>
                              <p:par>
                                <p:cTn id="92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98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106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000"/>
                            </p:stCondLst>
                            <p:childTnLst>
                              <p:par>
                                <p:cTn id="108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114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16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7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122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000"/>
                            </p:stCondLst>
                            <p:childTnLst>
                              <p:par>
                                <p:cTn id="124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5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5" grpId="0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r>
              <a:rPr lang="ru-RU" sz="3200" dirty="0"/>
              <a:t>Представления деревьев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126055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ru-RU" dirty="0">
                <a:solidFill>
                  <a:srgbClr val="00B050"/>
                </a:solidFill>
              </a:rPr>
              <a:t>Определение</a:t>
            </a:r>
            <a:r>
              <a:rPr lang="ru-RU" dirty="0"/>
              <a:t>. </a:t>
            </a:r>
            <a:r>
              <a:rPr lang="ru-RU" i="1" dirty="0">
                <a:solidFill>
                  <a:srgbClr val="FF0000"/>
                </a:solidFill>
              </a:rPr>
              <a:t>Левое скобочное представление </a:t>
            </a:r>
            <a:r>
              <a:rPr lang="ru-RU" dirty="0"/>
              <a:t>дерева </a:t>
            </a:r>
            <a:r>
              <a:rPr lang="ru-RU" i="1" dirty="0"/>
              <a:t>Т </a:t>
            </a:r>
            <a:r>
              <a:rPr lang="ru-RU" dirty="0"/>
              <a:t>(обозначается </a:t>
            </a:r>
            <a:r>
              <a:rPr lang="en-US" i="1" dirty="0" err="1"/>
              <a:t>Lrep</a:t>
            </a:r>
            <a:r>
              <a:rPr lang="ru-RU" dirty="0"/>
              <a:t>(</a:t>
            </a:r>
            <a:r>
              <a:rPr lang="ru-RU" i="1" dirty="0"/>
              <a:t>Т</a:t>
            </a:r>
            <a:r>
              <a:rPr lang="ru-RU" dirty="0"/>
              <a:t>)) можно получить, применяя к нему следующие рекурсивные правила:</a:t>
            </a:r>
          </a:p>
          <a:p>
            <a:pPr marL="514350" indent="-514350">
              <a:buAutoNum type="arabicParenBoth"/>
            </a:pPr>
            <a:r>
              <a:rPr lang="ru-RU" dirty="0"/>
              <a:t>Если корнем дерева Т</a:t>
            </a:r>
            <a:r>
              <a:rPr lang="ru-RU" i="1" dirty="0"/>
              <a:t> </a:t>
            </a:r>
            <a:r>
              <a:rPr lang="ru-RU" dirty="0"/>
              <a:t>служит вершина </a:t>
            </a:r>
            <a:r>
              <a:rPr lang="ru-RU" i="1" dirty="0"/>
              <a:t>а </a:t>
            </a:r>
            <a:r>
              <a:rPr lang="ru-RU" dirty="0"/>
              <a:t>с поддеревьями </a:t>
            </a:r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ru-RU" dirty="0"/>
              <a:t>, Т</a:t>
            </a:r>
            <a:r>
              <a:rPr lang="ru-RU" baseline="-25000" dirty="0"/>
              <a:t>2</a:t>
            </a:r>
            <a:r>
              <a:rPr lang="ru-RU" dirty="0"/>
              <a:t>, . . ., </a:t>
            </a:r>
            <a:r>
              <a:rPr lang="ru-RU" i="1" dirty="0"/>
              <a:t>Т</a:t>
            </a:r>
            <a:r>
              <a:rPr lang="en-US" i="1" baseline="-25000" dirty="0"/>
              <a:t>n</a:t>
            </a:r>
            <a:r>
              <a:rPr lang="ru-RU" i="1" dirty="0"/>
              <a:t>, </a:t>
            </a:r>
            <a:r>
              <a:rPr lang="ru-RU" dirty="0"/>
              <a:t>расположенными в этом порядке (их корни — прямые потомки вершины а), то </a:t>
            </a:r>
            <a:endParaRPr lang="en-US" dirty="0"/>
          </a:p>
          <a:p>
            <a:pPr marL="514350" indent="-514350">
              <a:buNone/>
            </a:pPr>
            <a:r>
              <a:rPr lang="en-US" i="1" dirty="0"/>
              <a:t>	</a:t>
            </a:r>
            <a:r>
              <a:rPr lang="en-US" i="1" dirty="0" err="1"/>
              <a:t>Lrep</a:t>
            </a:r>
            <a:r>
              <a:rPr lang="ru-RU" dirty="0"/>
              <a:t>(</a:t>
            </a:r>
            <a:r>
              <a:rPr lang="ru-RU" i="1" dirty="0"/>
              <a:t>Т</a:t>
            </a:r>
            <a:r>
              <a:rPr lang="ru-RU" dirty="0"/>
              <a:t>) =</a:t>
            </a:r>
            <a:r>
              <a:rPr lang="ru-RU" i="1" dirty="0"/>
              <a:t> а</a:t>
            </a:r>
            <a:r>
              <a:rPr lang="en-US" i="1" dirty="0"/>
              <a:t> </a:t>
            </a:r>
            <a:r>
              <a:rPr lang="en-US" dirty="0"/>
              <a:t>(</a:t>
            </a:r>
            <a:r>
              <a:rPr lang="en-US" i="1" dirty="0" err="1"/>
              <a:t>Lrep</a:t>
            </a:r>
            <a:r>
              <a:rPr lang="en-US" i="1" dirty="0"/>
              <a:t> </a:t>
            </a:r>
            <a:r>
              <a:rPr lang="en-US" dirty="0"/>
              <a:t>(T</a:t>
            </a:r>
            <a:r>
              <a:rPr lang="en-US" baseline="-25000" dirty="0"/>
              <a:t>1</a:t>
            </a:r>
            <a:r>
              <a:rPr lang="en-US" dirty="0"/>
              <a:t>)</a:t>
            </a:r>
            <a:r>
              <a:rPr lang="ru-RU" dirty="0"/>
              <a:t>, </a:t>
            </a:r>
            <a:r>
              <a:rPr lang="en-US" i="1" dirty="0" err="1"/>
              <a:t>Lrep</a:t>
            </a:r>
            <a:r>
              <a:rPr lang="en-US" i="1" dirty="0"/>
              <a:t> (</a:t>
            </a:r>
            <a:r>
              <a:rPr lang="ru-RU" dirty="0"/>
              <a:t>Т</a:t>
            </a:r>
            <a:r>
              <a:rPr lang="ru-RU" baseline="-25000" dirty="0"/>
              <a:t>2</a:t>
            </a:r>
            <a:r>
              <a:rPr lang="en-US" dirty="0"/>
              <a:t>)</a:t>
            </a:r>
            <a:r>
              <a:rPr lang="ru-RU" dirty="0"/>
              <a:t> , . . ., </a:t>
            </a:r>
            <a:r>
              <a:rPr lang="en-US" i="1" dirty="0" err="1"/>
              <a:t>Lrep</a:t>
            </a:r>
            <a:r>
              <a:rPr lang="en-US" i="1" dirty="0"/>
              <a:t> </a:t>
            </a:r>
            <a:r>
              <a:rPr lang="en-US" dirty="0"/>
              <a:t>(</a:t>
            </a:r>
            <a:r>
              <a:rPr lang="ru-RU" i="1" dirty="0"/>
              <a:t>Т</a:t>
            </a:r>
            <a:r>
              <a:rPr lang="en-US" i="1" baseline="-25000" dirty="0"/>
              <a:t>n</a:t>
            </a:r>
            <a:r>
              <a:rPr lang="en-US" dirty="0"/>
              <a:t>))</a:t>
            </a:r>
            <a:endParaRPr lang="ru-RU" dirty="0"/>
          </a:p>
          <a:p>
            <a:pPr>
              <a:buNone/>
            </a:pPr>
            <a:r>
              <a:rPr lang="ru-RU" dirty="0"/>
              <a:t>(2) Если корнем дерева </a:t>
            </a:r>
            <a:r>
              <a:rPr lang="ru-RU" i="1" dirty="0"/>
              <a:t>Т </a:t>
            </a:r>
            <a:r>
              <a:rPr lang="ru-RU" dirty="0"/>
              <a:t>служит вершина а, не имеющая прямых потомков, то </a:t>
            </a:r>
            <a:r>
              <a:rPr lang="en-US" dirty="0"/>
              <a:t>	</a:t>
            </a:r>
            <a:r>
              <a:rPr lang="en-US" i="1" dirty="0" err="1"/>
              <a:t>Lrep</a:t>
            </a:r>
            <a:r>
              <a:rPr lang="en-US" i="1" dirty="0"/>
              <a:t> </a:t>
            </a:r>
            <a:r>
              <a:rPr lang="ru-RU" dirty="0"/>
              <a:t>(Т) = </a:t>
            </a:r>
            <a:r>
              <a:rPr lang="ru-RU" i="1" dirty="0"/>
              <a:t>а</a:t>
            </a:r>
            <a:r>
              <a:rPr lang="ru-RU" dirty="0"/>
              <a:t>.</a:t>
            </a:r>
            <a:endParaRPr lang="en-US" dirty="0"/>
          </a:p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ru-RU" dirty="0">
                <a:solidFill>
                  <a:srgbClr val="00B050"/>
                </a:solidFill>
              </a:rPr>
              <a:t>Определение</a:t>
            </a:r>
            <a:r>
              <a:rPr lang="ru-RU" dirty="0"/>
              <a:t>. </a:t>
            </a:r>
            <a:r>
              <a:rPr lang="ru-RU" i="1" dirty="0">
                <a:solidFill>
                  <a:srgbClr val="FF0000"/>
                </a:solidFill>
              </a:rPr>
              <a:t>Правое скобочное представление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i="1" dirty="0" err="1"/>
              <a:t>Rrep</a:t>
            </a:r>
            <a:r>
              <a:rPr lang="ru-RU" dirty="0"/>
              <a:t>(</a:t>
            </a:r>
            <a:r>
              <a:rPr lang="ru-RU" i="1" dirty="0"/>
              <a:t>Т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ru-RU" dirty="0"/>
              <a:t>дерева </a:t>
            </a:r>
            <a:r>
              <a:rPr lang="ru-RU" i="1" dirty="0"/>
              <a:t>Т:</a:t>
            </a:r>
            <a:endParaRPr lang="ru-RU" dirty="0"/>
          </a:p>
          <a:p>
            <a:pPr marL="514350" lvl="0" indent="-514350">
              <a:buAutoNum type="arabicParenBoth"/>
            </a:pPr>
            <a:r>
              <a:rPr lang="ru-RU" dirty="0"/>
              <a:t>Если корнем дерева </a:t>
            </a:r>
            <a:r>
              <a:rPr lang="ru-RU" i="1" dirty="0"/>
              <a:t>Т </a:t>
            </a:r>
            <a:r>
              <a:rPr lang="ru-RU" dirty="0"/>
              <a:t>служит вершина </a:t>
            </a:r>
            <a:r>
              <a:rPr lang="ru-RU" i="1" dirty="0"/>
              <a:t>а </a:t>
            </a:r>
            <a:r>
              <a:rPr lang="ru-RU" dirty="0"/>
              <a:t>с поддеревьями </a:t>
            </a:r>
            <a:r>
              <a:rPr lang="en-US" i="1" dirty="0"/>
              <a:t>T</a:t>
            </a:r>
            <a:r>
              <a:rPr lang="en-US" baseline="-25000" dirty="0"/>
              <a:t>1</a:t>
            </a:r>
            <a:r>
              <a:rPr lang="ru-RU" dirty="0"/>
              <a:t>, </a:t>
            </a:r>
            <a:r>
              <a:rPr lang="ru-RU" i="1" dirty="0"/>
              <a:t>Т</a:t>
            </a:r>
            <a:r>
              <a:rPr lang="ru-RU" baseline="-25000" dirty="0"/>
              <a:t>2</a:t>
            </a:r>
            <a:r>
              <a:rPr lang="ru-RU" dirty="0"/>
              <a:t>, . . ., </a:t>
            </a:r>
            <a:r>
              <a:rPr lang="ru-RU" i="1" dirty="0"/>
              <a:t>Т</a:t>
            </a:r>
            <a:r>
              <a:rPr lang="en-US" i="1" baseline="-25000" dirty="0"/>
              <a:t>n</a:t>
            </a:r>
            <a:r>
              <a:rPr lang="ru-RU" i="1" dirty="0"/>
              <a:t>, </a:t>
            </a:r>
            <a:r>
              <a:rPr lang="ru-RU" dirty="0"/>
              <a:t>то</a:t>
            </a:r>
            <a:endParaRPr lang="en-US" dirty="0"/>
          </a:p>
          <a:p>
            <a:pPr marL="514350" lvl="0" indent="-514350">
              <a:buNone/>
            </a:pPr>
            <a:r>
              <a:rPr lang="en-US" dirty="0"/>
              <a:t>	</a:t>
            </a:r>
            <a:r>
              <a:rPr lang="ru-RU" dirty="0"/>
              <a:t> </a:t>
            </a:r>
            <a:r>
              <a:rPr lang="en-US" i="1" dirty="0" err="1"/>
              <a:t>Rrep</a:t>
            </a:r>
            <a:r>
              <a:rPr lang="ru-RU" dirty="0"/>
              <a:t>(</a:t>
            </a:r>
            <a:r>
              <a:rPr lang="ru-RU" i="1" dirty="0"/>
              <a:t>Т</a:t>
            </a:r>
            <a:r>
              <a:rPr lang="ru-RU" dirty="0"/>
              <a:t>) = (</a:t>
            </a:r>
            <a:r>
              <a:rPr lang="en-US" i="1" dirty="0" err="1"/>
              <a:t>Rrep</a:t>
            </a:r>
            <a:r>
              <a:rPr lang="ru-RU" dirty="0"/>
              <a:t>(Т</a:t>
            </a:r>
            <a:r>
              <a:rPr lang="ru-RU" baseline="-25000" dirty="0"/>
              <a:t>1</a:t>
            </a:r>
            <a:r>
              <a:rPr lang="ru-RU" dirty="0"/>
              <a:t>), </a:t>
            </a:r>
            <a:r>
              <a:rPr lang="en-US" i="1" dirty="0" err="1"/>
              <a:t>Rrep</a:t>
            </a:r>
            <a:r>
              <a:rPr lang="ru-RU" dirty="0"/>
              <a:t>(</a:t>
            </a:r>
            <a:r>
              <a:rPr lang="en-US" dirty="0"/>
              <a:t>T</a:t>
            </a:r>
            <a:r>
              <a:rPr lang="ru-RU" baseline="-25000" dirty="0"/>
              <a:t>2</a:t>
            </a:r>
            <a:r>
              <a:rPr lang="ru-RU" dirty="0"/>
              <a:t>), . . .,</a:t>
            </a:r>
            <a:r>
              <a:rPr lang="en-US" i="1" dirty="0"/>
              <a:t> </a:t>
            </a:r>
            <a:r>
              <a:rPr lang="en-US" i="1" dirty="0" err="1"/>
              <a:t>Rrep</a:t>
            </a:r>
            <a:r>
              <a:rPr lang="en-US" dirty="0"/>
              <a:t> (</a:t>
            </a:r>
            <a:r>
              <a:rPr lang="ru-RU" i="1" dirty="0"/>
              <a:t>Т</a:t>
            </a:r>
            <a:r>
              <a:rPr lang="en-US" i="1" baseline="-25000" dirty="0"/>
              <a:t>n</a:t>
            </a:r>
            <a:r>
              <a:rPr lang="en-US" dirty="0"/>
              <a:t>))</a:t>
            </a:r>
            <a:r>
              <a:rPr lang="ru-RU" i="1" dirty="0"/>
              <a:t>а</a:t>
            </a:r>
            <a:r>
              <a:rPr lang="ru-RU" dirty="0"/>
              <a:t>.</a:t>
            </a:r>
          </a:p>
          <a:p>
            <a:pPr lvl="0">
              <a:buNone/>
            </a:pPr>
            <a:r>
              <a:rPr lang="en-US" dirty="0"/>
              <a:t>(2)    </a:t>
            </a:r>
            <a:r>
              <a:rPr lang="ru-RU" dirty="0"/>
              <a:t>Если корнем дерева </a:t>
            </a:r>
            <a:r>
              <a:rPr lang="ru-RU" i="1" dirty="0"/>
              <a:t>Т </a:t>
            </a:r>
            <a:r>
              <a:rPr lang="ru-RU" dirty="0"/>
              <a:t>служит вершина  </a:t>
            </a:r>
            <a:r>
              <a:rPr lang="ru-RU" i="1" dirty="0"/>
              <a:t>а,   </a:t>
            </a:r>
            <a:r>
              <a:rPr lang="ru-RU" dirty="0"/>
              <a:t>не  имеющая</a:t>
            </a:r>
            <a:br>
              <a:rPr lang="ru-RU" dirty="0"/>
            </a:br>
            <a:r>
              <a:rPr lang="ru-RU" dirty="0"/>
              <a:t>прямых потомков, то </a:t>
            </a:r>
            <a:r>
              <a:rPr lang="en-US" dirty="0"/>
              <a:t>	</a:t>
            </a:r>
            <a:r>
              <a:rPr lang="en-US" i="1" dirty="0" err="1"/>
              <a:t>Rrep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ru-RU" dirty="0"/>
              <a:t>) = </a:t>
            </a:r>
            <a:r>
              <a:rPr lang="ru-RU" i="1" dirty="0"/>
              <a:t>а</a:t>
            </a:r>
            <a:r>
              <a:rPr lang="ru-RU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ru-RU" dirty="0"/>
              <a:t>Скобочные представления деревьев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28596" y="5143512"/>
            <a:ext cx="8215370" cy="1428760"/>
          </a:xfrm>
        </p:spPr>
        <p:txBody>
          <a:bodyPr>
            <a:normAutofit/>
          </a:bodyPr>
          <a:lstStyle/>
          <a:p>
            <a:r>
              <a:rPr lang="en-US" i="1" dirty="0" err="1"/>
              <a:t>Lrep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= </a:t>
            </a:r>
            <a:r>
              <a:rPr lang="en-US" i="1" dirty="0"/>
              <a:t>b </a:t>
            </a:r>
            <a:r>
              <a:rPr lang="en-US" dirty="0"/>
              <a:t>( </a:t>
            </a:r>
            <a:r>
              <a:rPr lang="en-US" i="1" dirty="0"/>
              <a:t>h </a:t>
            </a:r>
            <a:r>
              <a:rPr lang="en-US" dirty="0"/>
              <a:t>( 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j </a:t>
            </a:r>
            <a:r>
              <a:rPr lang="en-US" dirty="0"/>
              <a:t>( </a:t>
            </a:r>
            <a:r>
              <a:rPr lang="en-US" i="1" dirty="0"/>
              <a:t>d </a:t>
            </a:r>
            <a:r>
              <a:rPr lang="en-US" dirty="0"/>
              <a:t>) ),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/>
              <a:t>( </a:t>
            </a:r>
            <a:r>
              <a:rPr lang="en-US" i="1" dirty="0"/>
              <a:t>k </a:t>
            </a:r>
            <a:r>
              <a:rPr lang="en-US" dirty="0"/>
              <a:t>( </a:t>
            </a:r>
            <a:r>
              <a:rPr lang="en-US" i="1" dirty="0"/>
              <a:t>e</a:t>
            </a:r>
            <a:r>
              <a:rPr lang="en-US" dirty="0"/>
              <a:t>, </a:t>
            </a:r>
            <a:r>
              <a:rPr lang="en-US" i="1" dirty="0"/>
              <a:t>f</a:t>
            </a:r>
            <a:r>
              <a:rPr lang="en-US" dirty="0"/>
              <a:t>, </a:t>
            </a:r>
            <a:r>
              <a:rPr lang="en-US" i="1" dirty="0"/>
              <a:t>g </a:t>
            </a:r>
            <a:r>
              <a:rPr lang="en-US" dirty="0"/>
              <a:t>), </a:t>
            </a:r>
            <a:r>
              <a:rPr lang="en-US" i="1" dirty="0"/>
              <a:t>l </a:t>
            </a:r>
            <a:r>
              <a:rPr lang="en-US" dirty="0"/>
              <a:t>) )</a:t>
            </a:r>
          </a:p>
          <a:p>
            <a:r>
              <a:rPr lang="en-US" i="1" dirty="0" err="1"/>
              <a:t>Rrep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= ( ( </a:t>
            </a:r>
            <a:r>
              <a:rPr lang="en-US" i="1" dirty="0"/>
              <a:t>a</a:t>
            </a:r>
            <a:r>
              <a:rPr lang="en-US" dirty="0"/>
              <a:t>, ( </a:t>
            </a:r>
            <a:r>
              <a:rPr lang="en-US" i="1" dirty="0"/>
              <a:t>d </a:t>
            </a:r>
            <a:r>
              <a:rPr lang="en-US" dirty="0"/>
              <a:t>) </a:t>
            </a:r>
            <a:r>
              <a:rPr lang="en-US" i="1" dirty="0"/>
              <a:t>j </a:t>
            </a:r>
            <a:r>
              <a:rPr lang="en-US" dirty="0"/>
              <a:t>) </a:t>
            </a:r>
            <a:r>
              <a:rPr lang="en-US" i="1" dirty="0"/>
              <a:t>h</a:t>
            </a:r>
            <a:r>
              <a:rPr lang="en-US" dirty="0"/>
              <a:t>, ( ( </a:t>
            </a:r>
            <a:r>
              <a:rPr lang="en-US" i="1" dirty="0"/>
              <a:t>e</a:t>
            </a:r>
            <a:r>
              <a:rPr lang="en-US" dirty="0"/>
              <a:t>, </a:t>
            </a:r>
            <a:r>
              <a:rPr lang="en-US" i="1" dirty="0"/>
              <a:t>f</a:t>
            </a:r>
            <a:r>
              <a:rPr lang="en-US" dirty="0"/>
              <a:t>, </a:t>
            </a:r>
            <a:r>
              <a:rPr lang="en-US" i="1" dirty="0"/>
              <a:t>g </a:t>
            </a:r>
            <a:r>
              <a:rPr lang="en-US" dirty="0"/>
              <a:t>) </a:t>
            </a:r>
            <a:r>
              <a:rPr lang="en-US" i="1" dirty="0"/>
              <a:t>k</a:t>
            </a:r>
            <a:r>
              <a:rPr lang="en-US" dirty="0"/>
              <a:t>, </a:t>
            </a:r>
            <a:r>
              <a:rPr lang="en-US" i="1" dirty="0"/>
              <a:t>l </a:t>
            </a:r>
            <a:r>
              <a:rPr lang="en-US" dirty="0"/>
              <a:t>)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/>
              <a:t>) </a:t>
            </a:r>
            <a:r>
              <a:rPr lang="en-US" i="1" dirty="0"/>
              <a:t>b</a:t>
            </a:r>
            <a:endParaRPr lang="ru-RU" i="1" dirty="0"/>
          </a:p>
        </p:txBody>
      </p:sp>
      <p:sp>
        <p:nvSpPr>
          <p:cNvPr id="4" name="Овал 3"/>
          <p:cNvSpPr/>
          <p:nvPr/>
        </p:nvSpPr>
        <p:spPr>
          <a:xfrm>
            <a:off x="4000496" y="1214422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5" name="Овал 4"/>
          <p:cNvSpPr/>
          <p:nvPr/>
        </p:nvSpPr>
        <p:spPr>
          <a:xfrm>
            <a:off x="5429256" y="2000240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6" name="Овал 5"/>
          <p:cNvSpPr/>
          <p:nvPr/>
        </p:nvSpPr>
        <p:spPr>
          <a:xfrm>
            <a:off x="2571736" y="2000240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7" name="Овал 6"/>
          <p:cNvSpPr/>
          <p:nvPr/>
        </p:nvSpPr>
        <p:spPr>
          <a:xfrm>
            <a:off x="3357554" y="3214686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8" name="Овал 7"/>
          <p:cNvSpPr/>
          <p:nvPr/>
        </p:nvSpPr>
        <p:spPr>
          <a:xfrm>
            <a:off x="4929190" y="3214686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9" name="Овал 8"/>
          <p:cNvSpPr/>
          <p:nvPr/>
        </p:nvSpPr>
        <p:spPr>
          <a:xfrm>
            <a:off x="6286512" y="3214686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Овал 9"/>
          <p:cNvSpPr/>
          <p:nvPr/>
        </p:nvSpPr>
        <p:spPr>
          <a:xfrm>
            <a:off x="4286248" y="4429132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1" name="Овал 10"/>
          <p:cNvSpPr/>
          <p:nvPr/>
        </p:nvSpPr>
        <p:spPr>
          <a:xfrm>
            <a:off x="2786050" y="4286256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Овал 11"/>
          <p:cNvSpPr/>
          <p:nvPr/>
        </p:nvSpPr>
        <p:spPr>
          <a:xfrm>
            <a:off x="5072066" y="4429132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3" name="Овал 12"/>
          <p:cNvSpPr/>
          <p:nvPr/>
        </p:nvSpPr>
        <p:spPr>
          <a:xfrm>
            <a:off x="1928794" y="3143248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cxnSp>
        <p:nvCxnSpPr>
          <p:cNvPr id="14" name="Прямая соединительная линия 13"/>
          <p:cNvCxnSpPr>
            <a:stCxn id="4" idx="3"/>
            <a:endCxn id="6" idx="0"/>
          </p:cNvCxnSpPr>
          <p:nvPr/>
        </p:nvCxnSpPr>
        <p:spPr>
          <a:xfrm rot="5400000">
            <a:off x="3291348" y="1207396"/>
            <a:ext cx="358985" cy="1226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>
            <a:stCxn id="4" idx="5"/>
            <a:endCxn id="5" idx="1"/>
          </p:cNvCxnSpPr>
          <p:nvPr/>
        </p:nvCxnSpPr>
        <p:spPr>
          <a:xfrm rot="16200000" flipH="1">
            <a:off x="4784519" y="1345041"/>
            <a:ext cx="432218" cy="10246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stCxn id="6" idx="5"/>
            <a:endCxn id="7" idx="0"/>
          </p:cNvCxnSpPr>
          <p:nvPr/>
        </p:nvCxnSpPr>
        <p:spPr>
          <a:xfrm rot="16200000" flipH="1">
            <a:off x="2939760" y="2546858"/>
            <a:ext cx="787613" cy="5480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stCxn id="5" idx="3"/>
            <a:endCxn id="8" idx="0"/>
          </p:cNvCxnSpPr>
          <p:nvPr/>
        </p:nvCxnSpPr>
        <p:spPr>
          <a:xfrm rot="5400000">
            <a:off x="4952281" y="2654015"/>
            <a:ext cx="787613" cy="3337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5" idx="5"/>
            <a:endCxn id="9" idx="0"/>
          </p:cNvCxnSpPr>
          <p:nvPr/>
        </p:nvCxnSpPr>
        <p:spPr>
          <a:xfrm rot="16200000" flipH="1">
            <a:off x="5832999" y="2511139"/>
            <a:ext cx="787613" cy="619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7" idx="3"/>
            <a:endCxn id="11" idx="0"/>
          </p:cNvCxnSpPr>
          <p:nvPr/>
        </p:nvCxnSpPr>
        <p:spPr>
          <a:xfrm rot="5400000">
            <a:off x="2928927" y="3784395"/>
            <a:ext cx="644737" cy="3589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>
            <a:stCxn id="8" idx="3"/>
            <a:endCxn id="10" idx="0"/>
          </p:cNvCxnSpPr>
          <p:nvPr/>
        </p:nvCxnSpPr>
        <p:spPr>
          <a:xfrm rot="5400000">
            <a:off x="4393406" y="3820114"/>
            <a:ext cx="787613" cy="4304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stCxn id="8" idx="4"/>
            <a:endCxn id="12" idx="0"/>
          </p:cNvCxnSpPr>
          <p:nvPr/>
        </p:nvCxnSpPr>
        <p:spPr>
          <a:xfrm rot="16200000" flipH="1">
            <a:off x="4911330" y="3982644"/>
            <a:ext cx="714380" cy="1785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6" idx="3"/>
            <a:endCxn id="13" idx="0"/>
          </p:cNvCxnSpPr>
          <p:nvPr/>
        </p:nvCxnSpPr>
        <p:spPr>
          <a:xfrm rot="5400000">
            <a:off x="2076902" y="2564718"/>
            <a:ext cx="716175" cy="4408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43372" y="1214422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b</a:t>
            </a:r>
            <a:endParaRPr lang="ru-RU" sz="2400" b="1" i="1" dirty="0"/>
          </a:p>
        </p:txBody>
      </p:sp>
      <p:sp>
        <p:nvSpPr>
          <p:cNvPr id="24" name="TextBox 23"/>
          <p:cNvSpPr txBox="1"/>
          <p:nvPr/>
        </p:nvSpPr>
        <p:spPr>
          <a:xfrm>
            <a:off x="2714612" y="2071678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h</a:t>
            </a:r>
            <a:endParaRPr lang="ru-RU" sz="2400" b="1" i="1" dirty="0"/>
          </a:p>
        </p:txBody>
      </p:sp>
      <p:sp>
        <p:nvSpPr>
          <p:cNvPr id="25" name="TextBox 24"/>
          <p:cNvSpPr txBox="1"/>
          <p:nvPr/>
        </p:nvSpPr>
        <p:spPr>
          <a:xfrm>
            <a:off x="5572132" y="2000240"/>
            <a:ext cx="260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/>
              <a:t>i</a:t>
            </a:r>
            <a:endParaRPr lang="ru-RU" sz="2400" b="1" i="1" dirty="0"/>
          </a:p>
        </p:txBody>
      </p:sp>
      <p:sp>
        <p:nvSpPr>
          <p:cNvPr id="26" name="TextBox 25"/>
          <p:cNvSpPr txBox="1"/>
          <p:nvPr/>
        </p:nvSpPr>
        <p:spPr>
          <a:xfrm>
            <a:off x="3428992" y="3214686"/>
            <a:ext cx="263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j</a:t>
            </a:r>
            <a:endParaRPr lang="ru-RU" sz="2400" b="1" i="1" dirty="0"/>
          </a:p>
        </p:txBody>
      </p:sp>
      <p:sp>
        <p:nvSpPr>
          <p:cNvPr id="27" name="TextBox 26"/>
          <p:cNvSpPr txBox="1"/>
          <p:nvPr/>
        </p:nvSpPr>
        <p:spPr>
          <a:xfrm>
            <a:off x="5000628" y="321468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k</a:t>
            </a:r>
            <a:endParaRPr lang="ru-RU" sz="2400" b="1" i="1" dirty="0"/>
          </a:p>
        </p:txBody>
      </p:sp>
      <p:sp>
        <p:nvSpPr>
          <p:cNvPr id="28" name="TextBox 27"/>
          <p:cNvSpPr txBox="1"/>
          <p:nvPr/>
        </p:nvSpPr>
        <p:spPr>
          <a:xfrm>
            <a:off x="6357950" y="3214686"/>
            <a:ext cx="260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l</a:t>
            </a:r>
            <a:endParaRPr lang="ru-RU" sz="2400" b="1" i="1" dirty="0"/>
          </a:p>
        </p:txBody>
      </p:sp>
      <p:sp>
        <p:nvSpPr>
          <p:cNvPr id="29" name="TextBox 28"/>
          <p:cNvSpPr txBox="1"/>
          <p:nvPr/>
        </p:nvSpPr>
        <p:spPr>
          <a:xfrm>
            <a:off x="2928926" y="4357694"/>
            <a:ext cx="346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d</a:t>
            </a:r>
            <a:endParaRPr lang="ru-RU" sz="2400" b="1" i="1" dirty="0"/>
          </a:p>
        </p:txBody>
      </p:sp>
      <p:sp>
        <p:nvSpPr>
          <p:cNvPr id="30" name="TextBox 29"/>
          <p:cNvSpPr txBox="1"/>
          <p:nvPr/>
        </p:nvSpPr>
        <p:spPr>
          <a:xfrm>
            <a:off x="4357686" y="4429132"/>
            <a:ext cx="33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e</a:t>
            </a:r>
            <a:endParaRPr lang="ru-RU" sz="2400" b="1" i="1" dirty="0"/>
          </a:p>
        </p:txBody>
      </p:sp>
      <p:sp>
        <p:nvSpPr>
          <p:cNvPr id="31" name="TextBox 30"/>
          <p:cNvSpPr txBox="1"/>
          <p:nvPr/>
        </p:nvSpPr>
        <p:spPr>
          <a:xfrm>
            <a:off x="5214942" y="4429132"/>
            <a:ext cx="2824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f</a:t>
            </a:r>
            <a:endParaRPr lang="ru-RU" sz="2400" b="1" i="1" dirty="0"/>
          </a:p>
        </p:txBody>
      </p:sp>
      <p:sp>
        <p:nvSpPr>
          <p:cNvPr id="32" name="TextBox 31"/>
          <p:cNvSpPr txBox="1"/>
          <p:nvPr/>
        </p:nvSpPr>
        <p:spPr>
          <a:xfrm>
            <a:off x="2000232" y="3143248"/>
            <a:ext cx="346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a</a:t>
            </a:r>
            <a:endParaRPr lang="ru-RU" sz="2400" b="1" i="1" dirty="0"/>
          </a:p>
        </p:txBody>
      </p:sp>
      <p:sp>
        <p:nvSpPr>
          <p:cNvPr id="33" name="Овал 32"/>
          <p:cNvSpPr/>
          <p:nvPr/>
        </p:nvSpPr>
        <p:spPr>
          <a:xfrm>
            <a:off x="5857884" y="4357694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cxnSp>
        <p:nvCxnSpPr>
          <p:cNvPr id="34" name="Прямая соединительная линия 33"/>
          <p:cNvCxnSpPr>
            <a:stCxn id="8" idx="5"/>
            <a:endCxn id="33" idx="0"/>
          </p:cNvCxnSpPr>
          <p:nvPr/>
        </p:nvCxnSpPr>
        <p:spPr>
          <a:xfrm rot="16200000" flipH="1">
            <a:off x="5391742" y="3605799"/>
            <a:ext cx="716175" cy="7876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929322" y="4357694"/>
            <a:ext cx="319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g</a:t>
            </a:r>
            <a:endParaRPr lang="ru-RU" sz="2400" b="1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/>
          <a:p>
            <a:r>
              <a:rPr lang="ru-RU" sz="2800" dirty="0"/>
              <a:t>Представление дерева списком прямых предков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71472" y="928670"/>
            <a:ext cx="8229600" cy="1054089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ru-RU" dirty="0"/>
              <a:t>Составляется список прямых  предков  для вершин  дерева </a:t>
            </a:r>
            <a:r>
              <a:rPr lang="en-US" dirty="0"/>
              <a:t>c </a:t>
            </a:r>
            <a:r>
              <a:rPr lang="ru-RU" dirty="0"/>
              <a:t>номерами 1, 2,  ...,  </a:t>
            </a:r>
            <a:r>
              <a:rPr lang="en-US" i="1" dirty="0"/>
              <a:t>n</a:t>
            </a:r>
            <a:r>
              <a:rPr lang="ru-RU" i="1" dirty="0"/>
              <a:t>  </a:t>
            </a:r>
            <a:r>
              <a:rPr lang="ru-RU" dirty="0"/>
              <a:t>(именно  в   этом порядке). Чтобы опознать корень, будем  считать,   что  его  предок—это 0.</a:t>
            </a:r>
          </a:p>
          <a:p>
            <a:pPr>
              <a:buNone/>
            </a:pPr>
            <a:endParaRPr lang="ru-RU" dirty="0"/>
          </a:p>
        </p:txBody>
      </p:sp>
      <p:pic>
        <p:nvPicPr>
          <p:cNvPr id="37" name="Рисунок 36" descr="3_8.jpg">
            <a:extLst>
              <a:ext uri="{FF2B5EF4-FFF2-40B4-BE49-F238E27FC236}">
                <a16:creationId xmlns:a16="http://schemas.microsoft.com/office/drawing/2014/main" id="{DE9F1124-C4B3-4372-8636-97B259EC3EE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9672" y="5622518"/>
            <a:ext cx="6516642" cy="972191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03FB91A-35AE-4126-AA9C-4D3AD361D1B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1" y="1982758"/>
            <a:ext cx="4387355" cy="32464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9718"/>
          </a:xfrm>
        </p:spPr>
        <p:txBody>
          <a:bodyPr>
            <a:normAutofit fontScale="90000"/>
          </a:bodyPr>
          <a:lstStyle/>
          <a:p>
            <a:r>
              <a:rPr lang="ru-RU" dirty="0"/>
              <a:t>Дерево двоичного поиска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526893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dirty="0">
                <a:solidFill>
                  <a:srgbClr val="00B050"/>
                </a:solidFill>
              </a:rPr>
              <a:t>Определение</a:t>
            </a:r>
            <a:r>
              <a:rPr lang="ru-RU" dirty="0"/>
              <a:t>. </a:t>
            </a:r>
            <a:r>
              <a:rPr lang="ru-RU" dirty="0">
                <a:solidFill>
                  <a:srgbClr val="FF0000"/>
                </a:solidFill>
              </a:rPr>
              <a:t>Деревом двоичного поиска </a:t>
            </a:r>
            <a:r>
              <a:rPr lang="ru-RU" dirty="0"/>
              <a:t>для множества </a:t>
            </a:r>
            <a:r>
              <a:rPr lang="en-US" i="1" dirty="0"/>
              <a:t>S</a:t>
            </a:r>
            <a:r>
              <a:rPr lang="en-US" dirty="0"/>
              <a:t> </a:t>
            </a:r>
            <a:r>
              <a:rPr lang="ru-RU" dirty="0"/>
              <a:t>называется помеченное двоичное дерево, каждый узел </a:t>
            </a:r>
            <a:r>
              <a:rPr lang="en-US" i="1" dirty="0"/>
              <a:t>v</a:t>
            </a:r>
            <a:r>
              <a:rPr lang="en-US" dirty="0"/>
              <a:t> </a:t>
            </a:r>
            <a:r>
              <a:rPr lang="ru-RU" dirty="0"/>
              <a:t>которого помечен элементом </a:t>
            </a:r>
            <a:r>
              <a:rPr lang="en-US" i="1" dirty="0"/>
              <a:t>l</a:t>
            </a:r>
            <a:r>
              <a:rPr lang="en-US" dirty="0"/>
              <a:t>(</a:t>
            </a:r>
            <a:r>
              <a:rPr lang="en-US" i="1" dirty="0"/>
              <a:t>v</a:t>
            </a:r>
            <a:r>
              <a:rPr lang="en-US" dirty="0"/>
              <a:t>)</a:t>
            </a:r>
            <a:r>
              <a:rPr lang="en-US" dirty="0">
                <a:sym typeface="Symbol"/>
              </a:rPr>
              <a:t></a:t>
            </a:r>
            <a:r>
              <a:rPr lang="en-US" i="1" dirty="0">
                <a:sym typeface="Symbol"/>
              </a:rPr>
              <a:t>S </a:t>
            </a:r>
            <a:r>
              <a:rPr lang="ru-RU" dirty="0">
                <a:sym typeface="Symbol"/>
              </a:rPr>
              <a:t>так, что</a:t>
            </a:r>
          </a:p>
          <a:p>
            <a:pPr marL="514350" indent="-514350">
              <a:buAutoNum type="arabicParenR"/>
            </a:pPr>
            <a:r>
              <a:rPr lang="ru-RU" dirty="0"/>
              <a:t> </a:t>
            </a:r>
            <a:r>
              <a:rPr lang="en-US" i="1" dirty="0"/>
              <a:t>l</a:t>
            </a:r>
            <a:r>
              <a:rPr lang="en-US" dirty="0"/>
              <a:t>(</a:t>
            </a:r>
            <a:r>
              <a:rPr lang="en-US" i="1" dirty="0"/>
              <a:t>u</a:t>
            </a:r>
            <a:r>
              <a:rPr lang="en-US" dirty="0"/>
              <a:t>) &lt; </a:t>
            </a:r>
            <a:r>
              <a:rPr lang="en-US" i="1" dirty="0"/>
              <a:t>l</a:t>
            </a:r>
            <a:r>
              <a:rPr lang="en-US" dirty="0"/>
              <a:t>(</a:t>
            </a:r>
            <a:r>
              <a:rPr lang="en-US" i="1" dirty="0"/>
              <a:t>v</a:t>
            </a:r>
            <a:r>
              <a:rPr lang="en-US" dirty="0"/>
              <a:t>) </a:t>
            </a:r>
            <a:r>
              <a:rPr lang="ru-RU" dirty="0"/>
              <a:t>для каждого узла </a:t>
            </a:r>
            <a:r>
              <a:rPr lang="en-US" dirty="0"/>
              <a:t>u </a:t>
            </a:r>
            <a:r>
              <a:rPr lang="ru-RU" dirty="0"/>
              <a:t>из левого поддерева узла </a:t>
            </a:r>
            <a:r>
              <a:rPr lang="en-US" dirty="0"/>
              <a:t>v, </a:t>
            </a:r>
          </a:p>
          <a:p>
            <a:pPr marL="514350" indent="-514350">
              <a:buFont typeface="Arial" pitchFamily="34" charset="0"/>
              <a:buAutoNum type="arabicParenR"/>
            </a:pPr>
            <a:r>
              <a:rPr lang="ru-RU" dirty="0"/>
              <a:t> </a:t>
            </a:r>
            <a:r>
              <a:rPr lang="en-US" i="1" dirty="0"/>
              <a:t>l</a:t>
            </a:r>
            <a:r>
              <a:rPr lang="en-US" dirty="0"/>
              <a:t>(</a:t>
            </a:r>
            <a:r>
              <a:rPr lang="en-US" i="1" dirty="0"/>
              <a:t>w</a:t>
            </a:r>
            <a:r>
              <a:rPr lang="en-US" dirty="0"/>
              <a:t>) &gt; </a:t>
            </a:r>
            <a:r>
              <a:rPr lang="en-US" i="1" dirty="0"/>
              <a:t>l</a:t>
            </a:r>
            <a:r>
              <a:rPr lang="en-US" dirty="0"/>
              <a:t>(</a:t>
            </a:r>
            <a:r>
              <a:rPr lang="en-US" i="1" dirty="0"/>
              <a:t>v</a:t>
            </a:r>
            <a:r>
              <a:rPr lang="en-US" dirty="0"/>
              <a:t>) </a:t>
            </a:r>
            <a:r>
              <a:rPr lang="ru-RU" dirty="0"/>
              <a:t>для каждого узла </a:t>
            </a:r>
            <a:r>
              <a:rPr lang="en-US" i="1" dirty="0"/>
              <a:t>w</a:t>
            </a:r>
            <a:r>
              <a:rPr lang="en-US" dirty="0"/>
              <a:t> </a:t>
            </a:r>
            <a:r>
              <a:rPr lang="ru-RU" dirty="0"/>
              <a:t>из правого поддерева узла </a:t>
            </a:r>
            <a:r>
              <a:rPr lang="en-US" i="1" dirty="0"/>
              <a:t>v</a:t>
            </a:r>
            <a:r>
              <a:rPr lang="en-US" dirty="0"/>
              <a:t>, </a:t>
            </a:r>
            <a:endParaRPr lang="ru-RU" dirty="0"/>
          </a:p>
          <a:p>
            <a:pPr marL="514350" indent="-514350">
              <a:buFont typeface="Arial" pitchFamily="34" charset="0"/>
              <a:buAutoNum type="arabicParenR"/>
            </a:pPr>
            <a:r>
              <a:rPr lang="ru-RU" dirty="0"/>
              <a:t>для любого элемента </a:t>
            </a:r>
            <a:r>
              <a:rPr lang="en-US" i="1" dirty="0"/>
              <a:t>a</a:t>
            </a:r>
            <a:r>
              <a:rPr lang="en-US" dirty="0">
                <a:sym typeface="Symbol"/>
              </a:rPr>
              <a:t> </a:t>
            </a:r>
            <a:r>
              <a:rPr lang="en-US" i="1" dirty="0">
                <a:sym typeface="Symbol"/>
              </a:rPr>
              <a:t>S</a:t>
            </a:r>
            <a:r>
              <a:rPr lang="en-US" dirty="0">
                <a:sym typeface="Symbol"/>
              </a:rPr>
              <a:t> </a:t>
            </a:r>
            <a:r>
              <a:rPr lang="ru-RU" dirty="0">
                <a:sym typeface="Symbol"/>
              </a:rPr>
              <a:t>существует единственный узел </a:t>
            </a:r>
            <a:r>
              <a:rPr lang="en-US" i="1" dirty="0">
                <a:sym typeface="Symbol"/>
              </a:rPr>
              <a:t>v </a:t>
            </a:r>
            <a:r>
              <a:rPr lang="ru-RU" i="1" dirty="0">
                <a:sym typeface="Symbol"/>
              </a:rPr>
              <a:t>, </a:t>
            </a:r>
            <a:r>
              <a:rPr lang="ru-RU" dirty="0">
                <a:sym typeface="Symbol"/>
              </a:rPr>
              <a:t>такой что </a:t>
            </a:r>
            <a:r>
              <a:rPr lang="en-US" i="1" dirty="0"/>
              <a:t>l</a:t>
            </a:r>
            <a:r>
              <a:rPr lang="en-US" dirty="0"/>
              <a:t>(</a:t>
            </a:r>
            <a:r>
              <a:rPr lang="en-US" i="1" dirty="0"/>
              <a:t>v</a:t>
            </a:r>
            <a:r>
              <a:rPr lang="en-US" dirty="0"/>
              <a:t>)</a:t>
            </a:r>
            <a:r>
              <a:rPr lang="ru-RU" dirty="0"/>
              <a:t> = </a:t>
            </a:r>
            <a:r>
              <a:rPr lang="en-US" i="1" dirty="0"/>
              <a:t>a</a:t>
            </a:r>
            <a:r>
              <a:rPr lang="en-US" dirty="0"/>
              <a:t>.</a:t>
            </a:r>
            <a:endParaRPr lang="en-US" i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Дерево двоичного поиска. Пример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00034" y="1285860"/>
            <a:ext cx="8229600" cy="685792"/>
          </a:xfrm>
        </p:spPr>
        <p:txBody>
          <a:bodyPr/>
          <a:lstStyle/>
          <a:p>
            <a:pPr>
              <a:buNone/>
            </a:pPr>
            <a:r>
              <a:rPr lang="ru-RU" dirty="0"/>
              <a:t>Пусть </a:t>
            </a:r>
            <a:r>
              <a:rPr lang="en-US" dirty="0"/>
              <a:t>S = {1, 2, 3, 4, 5, 6, 7, 8, 9, 10}</a:t>
            </a:r>
            <a:endParaRPr lang="ru-RU" dirty="0"/>
          </a:p>
        </p:txBody>
      </p:sp>
      <p:sp>
        <p:nvSpPr>
          <p:cNvPr id="4" name="Овал 3"/>
          <p:cNvSpPr/>
          <p:nvPr/>
        </p:nvSpPr>
        <p:spPr>
          <a:xfrm>
            <a:off x="3643306" y="1785926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5" name="Овал 4"/>
          <p:cNvSpPr/>
          <p:nvPr/>
        </p:nvSpPr>
        <p:spPr>
          <a:xfrm>
            <a:off x="5199909" y="2598258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6" name="Овал 5"/>
          <p:cNvSpPr/>
          <p:nvPr/>
        </p:nvSpPr>
        <p:spPr>
          <a:xfrm>
            <a:off x="1491616" y="3723872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7" name="Овал 6"/>
          <p:cNvSpPr/>
          <p:nvPr/>
        </p:nvSpPr>
        <p:spPr>
          <a:xfrm>
            <a:off x="3071802" y="3714752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8" name="Овал 7"/>
          <p:cNvSpPr/>
          <p:nvPr/>
        </p:nvSpPr>
        <p:spPr>
          <a:xfrm>
            <a:off x="4283968" y="3827039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9" name="Овал 8"/>
          <p:cNvSpPr/>
          <p:nvPr/>
        </p:nvSpPr>
        <p:spPr>
          <a:xfrm>
            <a:off x="6940854" y="5008616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Овал 9"/>
          <p:cNvSpPr/>
          <p:nvPr/>
        </p:nvSpPr>
        <p:spPr>
          <a:xfrm>
            <a:off x="3500430" y="4929198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1" name="Овал 10"/>
          <p:cNvSpPr/>
          <p:nvPr/>
        </p:nvSpPr>
        <p:spPr>
          <a:xfrm>
            <a:off x="2412330" y="2421458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Овал 11"/>
          <p:cNvSpPr/>
          <p:nvPr/>
        </p:nvSpPr>
        <p:spPr>
          <a:xfrm>
            <a:off x="5436666" y="5013746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3" name="Овал 12"/>
          <p:cNvSpPr/>
          <p:nvPr/>
        </p:nvSpPr>
        <p:spPr>
          <a:xfrm>
            <a:off x="6268135" y="3891551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cxnSp>
        <p:nvCxnSpPr>
          <p:cNvPr id="14" name="Прямая соединительная линия 13"/>
          <p:cNvCxnSpPr>
            <a:stCxn id="11" idx="3"/>
            <a:endCxn id="6" idx="0"/>
          </p:cNvCxnSpPr>
          <p:nvPr/>
        </p:nvCxnSpPr>
        <p:spPr>
          <a:xfrm flipH="1">
            <a:off x="1777368" y="2848291"/>
            <a:ext cx="718657" cy="8755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>
            <a:stCxn id="4" idx="5"/>
            <a:endCxn id="5" idx="1"/>
          </p:cNvCxnSpPr>
          <p:nvPr/>
        </p:nvCxnSpPr>
        <p:spPr>
          <a:xfrm>
            <a:off x="4131115" y="2212759"/>
            <a:ext cx="1152489" cy="4587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stCxn id="11" idx="5"/>
            <a:endCxn id="26" idx="0"/>
          </p:cNvCxnSpPr>
          <p:nvPr/>
        </p:nvCxnSpPr>
        <p:spPr>
          <a:xfrm>
            <a:off x="2900139" y="2848291"/>
            <a:ext cx="413180" cy="8664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stCxn id="5" idx="3"/>
            <a:endCxn id="8" idx="0"/>
          </p:cNvCxnSpPr>
          <p:nvPr/>
        </p:nvCxnSpPr>
        <p:spPr>
          <a:xfrm flipH="1">
            <a:off x="4534001" y="3025091"/>
            <a:ext cx="749603" cy="8019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5" idx="5"/>
            <a:endCxn id="13" idx="0"/>
          </p:cNvCxnSpPr>
          <p:nvPr/>
        </p:nvCxnSpPr>
        <p:spPr>
          <a:xfrm>
            <a:off x="5687718" y="3025091"/>
            <a:ext cx="866169" cy="866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11" idx="7"/>
            <a:endCxn id="4" idx="2"/>
          </p:cNvCxnSpPr>
          <p:nvPr/>
        </p:nvCxnSpPr>
        <p:spPr>
          <a:xfrm flipV="1">
            <a:off x="2900139" y="2035959"/>
            <a:ext cx="743167" cy="4587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>
            <a:stCxn id="7" idx="5"/>
            <a:endCxn id="10" idx="0"/>
          </p:cNvCxnSpPr>
          <p:nvPr/>
        </p:nvCxnSpPr>
        <p:spPr>
          <a:xfrm rot="16200000" flipH="1">
            <a:off x="3248602" y="4391617"/>
            <a:ext cx="787613" cy="2875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stCxn id="13" idx="3"/>
            <a:endCxn id="12" idx="0"/>
          </p:cNvCxnSpPr>
          <p:nvPr/>
        </p:nvCxnSpPr>
        <p:spPr>
          <a:xfrm flipH="1">
            <a:off x="5722418" y="4318384"/>
            <a:ext cx="629412" cy="6953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3" idx="5"/>
            <a:endCxn id="9" idx="0"/>
          </p:cNvCxnSpPr>
          <p:nvPr/>
        </p:nvCxnSpPr>
        <p:spPr>
          <a:xfrm>
            <a:off x="6755944" y="4318384"/>
            <a:ext cx="434943" cy="6902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779912" y="177281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5</a:t>
            </a:r>
            <a:endParaRPr lang="ru-RU" sz="24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607289" y="372397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1</a:t>
            </a:r>
            <a:endParaRPr lang="ru-RU" sz="24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5283604" y="2636660"/>
            <a:ext cx="438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7</a:t>
            </a:r>
            <a:endParaRPr lang="ru-RU" sz="24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143240" y="371475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100" y="38567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6</a:t>
            </a:r>
            <a:endParaRPr lang="ru-RU" sz="24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6948264" y="5013176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10</a:t>
            </a:r>
            <a:endParaRPr lang="ru-RU" sz="24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2483768" y="249289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2</a:t>
            </a:r>
            <a:endParaRPr lang="ru-RU" sz="24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3626442" y="491459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4</a:t>
            </a:r>
            <a:endParaRPr lang="ru-RU" sz="24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5601334" y="503189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8</a:t>
            </a:r>
            <a:endParaRPr lang="ru-RU" sz="24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6415786" y="394389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9</a:t>
            </a:r>
            <a:endParaRPr lang="ru-RU" sz="24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01080" cy="511156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Алгоритм просмотра дерева двоичного поиска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5572164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ru-RU" dirty="0"/>
              <a:t>Вход: 	Дерево </a:t>
            </a:r>
            <a:r>
              <a:rPr lang="en-US" i="1" dirty="0"/>
              <a:t>T</a:t>
            </a:r>
            <a:r>
              <a:rPr lang="en-US" dirty="0"/>
              <a:t> </a:t>
            </a:r>
            <a:r>
              <a:rPr lang="ru-RU" dirty="0"/>
              <a:t>двоичного поиска для множества </a:t>
            </a:r>
            <a:r>
              <a:rPr lang="en-US" i="1" dirty="0"/>
              <a:t>S</a:t>
            </a:r>
            <a:r>
              <a:rPr lang="en-US" dirty="0"/>
              <a:t>, </a:t>
            </a:r>
            <a:r>
              <a:rPr lang="ru-RU" dirty="0"/>
              <a:t>элемент </a:t>
            </a:r>
            <a:r>
              <a:rPr lang="en-US" i="1" dirty="0"/>
              <a:t>a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ru-RU" dirty="0"/>
              <a:t>Выход: 	</a:t>
            </a:r>
            <a:r>
              <a:rPr lang="en-US" i="1" dirty="0"/>
              <a:t>true</a:t>
            </a:r>
            <a:r>
              <a:rPr lang="en-US" dirty="0"/>
              <a:t> </a:t>
            </a:r>
            <a:r>
              <a:rPr lang="ru-RU" dirty="0"/>
              <a:t>если </a:t>
            </a:r>
            <a:r>
              <a:rPr lang="en-US" i="1" dirty="0" err="1"/>
              <a:t>a</a:t>
            </a:r>
            <a:r>
              <a:rPr lang="en-US" dirty="0" err="1">
                <a:sym typeface="Symbol"/>
              </a:rPr>
              <a:t></a:t>
            </a:r>
            <a:r>
              <a:rPr lang="en-US" i="1" dirty="0" err="1">
                <a:sym typeface="Symbol"/>
              </a:rPr>
              <a:t>S</a:t>
            </a:r>
            <a:r>
              <a:rPr lang="en-US" dirty="0">
                <a:sym typeface="Symbol"/>
              </a:rPr>
              <a:t>, </a:t>
            </a:r>
            <a:r>
              <a:rPr lang="en-US" i="1" dirty="0">
                <a:sym typeface="Symbol"/>
              </a:rPr>
              <a:t>false</a:t>
            </a:r>
            <a:r>
              <a:rPr lang="en-US" dirty="0">
                <a:sym typeface="Symbol"/>
              </a:rPr>
              <a:t> - </a:t>
            </a:r>
            <a:r>
              <a:rPr lang="ru-RU" dirty="0">
                <a:sym typeface="Symbol"/>
              </a:rPr>
              <a:t> в противном случае.</a:t>
            </a:r>
          </a:p>
          <a:p>
            <a:pPr>
              <a:buNone/>
            </a:pPr>
            <a:r>
              <a:rPr lang="ru-RU" dirty="0">
                <a:sym typeface="Symbol"/>
              </a:rPr>
              <a:t>Метод:  Если </a:t>
            </a:r>
            <a:r>
              <a:rPr lang="en-US" i="1" dirty="0">
                <a:sym typeface="Symbol"/>
              </a:rPr>
              <a:t>T </a:t>
            </a:r>
            <a:r>
              <a:rPr lang="en-US" dirty="0">
                <a:sym typeface="Symbol"/>
              </a:rPr>
              <a:t>= , </a:t>
            </a:r>
            <a:r>
              <a:rPr lang="ru-RU" dirty="0">
                <a:sym typeface="Symbol"/>
              </a:rPr>
              <a:t> то выдать </a:t>
            </a:r>
            <a:r>
              <a:rPr lang="en-US" i="1" dirty="0">
                <a:sym typeface="Symbol"/>
              </a:rPr>
              <a:t>false,  </a:t>
            </a:r>
            <a:r>
              <a:rPr lang="ru-RU" dirty="0">
                <a:sym typeface="Symbol"/>
              </a:rPr>
              <a:t>иначе выдать ПОИСК (</a:t>
            </a:r>
            <a:r>
              <a:rPr lang="en-US" i="1" dirty="0">
                <a:sym typeface="Symbol"/>
              </a:rPr>
              <a:t>a</a:t>
            </a:r>
            <a:r>
              <a:rPr lang="en-US" dirty="0">
                <a:sym typeface="Symbol"/>
              </a:rPr>
              <a:t>, </a:t>
            </a:r>
            <a:r>
              <a:rPr lang="en-US" i="1" dirty="0">
                <a:sym typeface="Symbol"/>
              </a:rPr>
              <a:t>r</a:t>
            </a:r>
            <a:r>
              <a:rPr lang="en-US" dirty="0">
                <a:sym typeface="Symbol"/>
              </a:rPr>
              <a:t>), </a:t>
            </a:r>
            <a:r>
              <a:rPr lang="ru-RU" dirty="0">
                <a:sym typeface="Symbol"/>
              </a:rPr>
              <a:t>где </a:t>
            </a:r>
            <a:r>
              <a:rPr lang="en-US" i="1" dirty="0">
                <a:sym typeface="Symbol"/>
              </a:rPr>
              <a:t>r</a:t>
            </a:r>
            <a:r>
              <a:rPr lang="en-US" dirty="0">
                <a:sym typeface="Symbol"/>
              </a:rPr>
              <a:t> – </a:t>
            </a:r>
            <a:r>
              <a:rPr lang="ru-RU" dirty="0">
                <a:sym typeface="Symbol"/>
              </a:rPr>
              <a:t>корень дерева </a:t>
            </a:r>
            <a:r>
              <a:rPr lang="en-US" i="1" dirty="0">
                <a:sym typeface="Symbol"/>
              </a:rPr>
              <a:t>T</a:t>
            </a:r>
            <a:r>
              <a:rPr lang="en-US" dirty="0">
                <a:sym typeface="Symbol"/>
              </a:rPr>
              <a:t>.</a:t>
            </a:r>
          </a:p>
          <a:p>
            <a:pPr>
              <a:buNone/>
            </a:pPr>
            <a:endParaRPr lang="ru-RU" dirty="0">
              <a:sym typeface="Symbol"/>
            </a:endParaRPr>
          </a:p>
          <a:p>
            <a:pPr>
              <a:buNone/>
            </a:pPr>
            <a:r>
              <a:rPr lang="ru-RU" dirty="0">
                <a:sym typeface="Symbol"/>
              </a:rPr>
              <a:t>функция ПОИСК (</a:t>
            </a:r>
            <a:r>
              <a:rPr lang="en-US" i="1" dirty="0">
                <a:sym typeface="Symbol"/>
              </a:rPr>
              <a:t>a</a:t>
            </a:r>
            <a:r>
              <a:rPr lang="en-US" dirty="0">
                <a:sym typeface="Symbol"/>
              </a:rPr>
              <a:t>, </a:t>
            </a:r>
            <a:r>
              <a:rPr lang="en-US" i="1" dirty="0">
                <a:sym typeface="Symbol"/>
              </a:rPr>
              <a:t>v</a:t>
            </a:r>
            <a:r>
              <a:rPr lang="en-US" dirty="0">
                <a:sym typeface="Symbol"/>
              </a:rPr>
              <a:t>) : </a:t>
            </a:r>
            <a:r>
              <a:rPr lang="en-US" i="1" dirty="0" err="1">
                <a:sym typeface="Symbol"/>
              </a:rPr>
              <a:t>boolean</a:t>
            </a:r>
            <a:endParaRPr lang="en-US" i="1" dirty="0">
              <a:sym typeface="Symbol"/>
            </a:endParaRPr>
          </a:p>
          <a:p>
            <a:pPr>
              <a:buNone/>
            </a:pPr>
            <a:r>
              <a:rPr lang="en-US" dirty="0">
                <a:sym typeface="Symbol"/>
              </a:rPr>
              <a:t>{</a:t>
            </a:r>
          </a:p>
          <a:p>
            <a:pPr>
              <a:buNone/>
            </a:pPr>
            <a:r>
              <a:rPr lang="en-US" dirty="0">
                <a:sym typeface="Symbol"/>
              </a:rPr>
              <a:t>	</a:t>
            </a:r>
            <a:r>
              <a:rPr lang="ru-RU" dirty="0">
                <a:sym typeface="Symbol"/>
              </a:rPr>
              <a:t>если </a:t>
            </a:r>
            <a:r>
              <a:rPr lang="en-US" i="1" dirty="0">
                <a:sym typeface="Symbol"/>
              </a:rPr>
              <a:t>a</a:t>
            </a:r>
            <a:r>
              <a:rPr lang="en-US" dirty="0">
                <a:sym typeface="Symbol"/>
              </a:rPr>
              <a:t> = </a:t>
            </a:r>
            <a:r>
              <a:rPr lang="en-US" i="1" dirty="0">
                <a:sym typeface="Symbol"/>
              </a:rPr>
              <a:t>l</a:t>
            </a:r>
            <a:r>
              <a:rPr lang="en-US" dirty="0">
                <a:sym typeface="Symbol"/>
              </a:rPr>
              <a:t>(</a:t>
            </a:r>
            <a:r>
              <a:rPr lang="en-US" i="1" dirty="0">
                <a:sym typeface="Symbol"/>
              </a:rPr>
              <a:t>v</a:t>
            </a:r>
            <a:r>
              <a:rPr lang="en-US" dirty="0">
                <a:sym typeface="Symbol"/>
              </a:rPr>
              <a:t>) </a:t>
            </a:r>
            <a:r>
              <a:rPr lang="ru-RU" dirty="0">
                <a:sym typeface="Symbol"/>
              </a:rPr>
              <a:t>то выдать </a:t>
            </a:r>
            <a:r>
              <a:rPr lang="en-US" i="1" dirty="0">
                <a:sym typeface="Symbol"/>
              </a:rPr>
              <a:t>true</a:t>
            </a:r>
          </a:p>
          <a:p>
            <a:pPr>
              <a:buNone/>
            </a:pPr>
            <a:r>
              <a:rPr lang="en-US" dirty="0">
                <a:sym typeface="Symbol"/>
              </a:rPr>
              <a:t>	</a:t>
            </a:r>
            <a:r>
              <a:rPr lang="ru-RU" dirty="0">
                <a:sym typeface="Symbol"/>
              </a:rPr>
              <a:t>иначе </a:t>
            </a:r>
          </a:p>
          <a:p>
            <a:pPr>
              <a:buNone/>
            </a:pPr>
            <a:r>
              <a:rPr lang="ru-RU" dirty="0">
                <a:sym typeface="Symbol"/>
              </a:rPr>
              <a:t>		если </a:t>
            </a:r>
            <a:r>
              <a:rPr lang="en-US" i="1" dirty="0">
                <a:sym typeface="Symbol"/>
              </a:rPr>
              <a:t>a</a:t>
            </a:r>
            <a:r>
              <a:rPr lang="ru-RU" i="1" dirty="0">
                <a:sym typeface="Symbol"/>
              </a:rPr>
              <a:t> </a:t>
            </a:r>
            <a:r>
              <a:rPr lang="en-US" i="1" dirty="0">
                <a:sym typeface="Symbol"/>
              </a:rPr>
              <a:t>&lt;</a:t>
            </a:r>
            <a:r>
              <a:rPr lang="en-US" dirty="0">
                <a:sym typeface="Symbol"/>
              </a:rPr>
              <a:t> </a:t>
            </a:r>
            <a:r>
              <a:rPr lang="en-US" i="1" dirty="0">
                <a:sym typeface="Symbol"/>
              </a:rPr>
              <a:t>l</a:t>
            </a:r>
            <a:r>
              <a:rPr lang="en-US" dirty="0">
                <a:sym typeface="Symbol"/>
              </a:rPr>
              <a:t>(</a:t>
            </a:r>
            <a:r>
              <a:rPr lang="en-US" i="1" dirty="0">
                <a:sym typeface="Symbol"/>
              </a:rPr>
              <a:t>v</a:t>
            </a:r>
            <a:r>
              <a:rPr lang="en-US" dirty="0">
                <a:sym typeface="Symbol"/>
              </a:rPr>
              <a:t>)  </a:t>
            </a:r>
            <a:r>
              <a:rPr lang="ru-RU" dirty="0">
                <a:sym typeface="Symbol"/>
              </a:rPr>
              <a:t>то</a:t>
            </a:r>
          </a:p>
          <a:p>
            <a:pPr>
              <a:buNone/>
            </a:pPr>
            <a:r>
              <a:rPr lang="ru-RU" dirty="0">
                <a:sym typeface="Symbol"/>
              </a:rPr>
              <a:t>			если </a:t>
            </a:r>
            <a:r>
              <a:rPr lang="en-US" i="1" dirty="0">
                <a:sym typeface="Symbol"/>
              </a:rPr>
              <a:t>v</a:t>
            </a:r>
            <a:r>
              <a:rPr lang="en-US" dirty="0">
                <a:sym typeface="Symbol"/>
              </a:rPr>
              <a:t> </a:t>
            </a:r>
            <a:r>
              <a:rPr lang="ru-RU" dirty="0">
                <a:sym typeface="Symbol"/>
              </a:rPr>
              <a:t>имеет левого сына </a:t>
            </a:r>
            <a:r>
              <a:rPr lang="en-US" i="1" dirty="0">
                <a:sym typeface="Symbol"/>
              </a:rPr>
              <a:t>w</a:t>
            </a:r>
            <a:r>
              <a:rPr lang="en-US" dirty="0">
                <a:sym typeface="Symbol"/>
              </a:rPr>
              <a:t> </a:t>
            </a:r>
          </a:p>
          <a:p>
            <a:pPr>
              <a:buNone/>
            </a:pPr>
            <a:r>
              <a:rPr lang="en-US" dirty="0">
                <a:sym typeface="Symbol"/>
              </a:rPr>
              <a:t>			</a:t>
            </a:r>
            <a:r>
              <a:rPr lang="ru-RU" dirty="0">
                <a:sym typeface="Symbol"/>
              </a:rPr>
              <a:t>то выдать ПОИСК (</a:t>
            </a:r>
            <a:r>
              <a:rPr lang="en-US" i="1" dirty="0">
                <a:sym typeface="Symbol"/>
              </a:rPr>
              <a:t>a</a:t>
            </a:r>
            <a:r>
              <a:rPr lang="en-US" dirty="0">
                <a:sym typeface="Symbol"/>
              </a:rPr>
              <a:t>, </a:t>
            </a:r>
            <a:r>
              <a:rPr lang="en-US" i="1" dirty="0">
                <a:sym typeface="Symbol"/>
              </a:rPr>
              <a:t>w</a:t>
            </a:r>
            <a:r>
              <a:rPr lang="en-US" dirty="0">
                <a:sym typeface="Symbol"/>
              </a:rPr>
              <a:t>)</a:t>
            </a:r>
          </a:p>
          <a:p>
            <a:pPr>
              <a:buNone/>
            </a:pPr>
            <a:r>
              <a:rPr lang="en-US" dirty="0">
                <a:sym typeface="Symbol"/>
              </a:rPr>
              <a:t>			</a:t>
            </a:r>
            <a:r>
              <a:rPr lang="ru-RU" dirty="0">
                <a:sym typeface="Symbol"/>
              </a:rPr>
              <a:t>иначе выдать </a:t>
            </a:r>
            <a:r>
              <a:rPr lang="en-US" i="1" dirty="0">
                <a:sym typeface="Symbol"/>
              </a:rPr>
              <a:t>false</a:t>
            </a:r>
            <a:r>
              <a:rPr lang="en-US" dirty="0">
                <a:sym typeface="Symbol"/>
              </a:rPr>
              <a:t>;</a:t>
            </a:r>
          </a:p>
          <a:p>
            <a:pPr>
              <a:buNone/>
            </a:pPr>
            <a:r>
              <a:rPr lang="en-US" dirty="0">
                <a:sym typeface="Symbol"/>
              </a:rPr>
              <a:t>		</a:t>
            </a:r>
            <a:r>
              <a:rPr lang="ru-RU" dirty="0">
                <a:sym typeface="Symbol"/>
              </a:rPr>
              <a:t>иначе </a:t>
            </a:r>
          </a:p>
          <a:p>
            <a:pPr>
              <a:buNone/>
            </a:pPr>
            <a:r>
              <a:rPr lang="ru-RU" dirty="0">
                <a:sym typeface="Symbol"/>
              </a:rPr>
              <a:t>			если </a:t>
            </a:r>
            <a:r>
              <a:rPr lang="en-US" i="1" dirty="0">
                <a:sym typeface="Symbol"/>
              </a:rPr>
              <a:t>v</a:t>
            </a:r>
            <a:r>
              <a:rPr lang="en-US" dirty="0">
                <a:sym typeface="Symbol"/>
              </a:rPr>
              <a:t> </a:t>
            </a:r>
            <a:r>
              <a:rPr lang="ru-RU" dirty="0">
                <a:sym typeface="Symbol"/>
              </a:rPr>
              <a:t>имеет правого сына </a:t>
            </a:r>
            <a:r>
              <a:rPr lang="en-US" i="1" dirty="0">
                <a:sym typeface="Symbol"/>
              </a:rPr>
              <a:t>w</a:t>
            </a:r>
            <a:r>
              <a:rPr lang="en-US" dirty="0">
                <a:sym typeface="Symbol"/>
              </a:rPr>
              <a:t> </a:t>
            </a:r>
          </a:p>
          <a:p>
            <a:pPr>
              <a:buNone/>
            </a:pPr>
            <a:r>
              <a:rPr lang="en-US" dirty="0">
                <a:sym typeface="Symbol"/>
              </a:rPr>
              <a:t>			</a:t>
            </a:r>
            <a:r>
              <a:rPr lang="ru-RU" dirty="0">
                <a:sym typeface="Symbol"/>
              </a:rPr>
              <a:t>то выдать ПОИСК (</a:t>
            </a:r>
            <a:r>
              <a:rPr lang="en-US" i="1" dirty="0">
                <a:sym typeface="Symbol"/>
              </a:rPr>
              <a:t>a</a:t>
            </a:r>
            <a:r>
              <a:rPr lang="en-US" dirty="0">
                <a:sym typeface="Symbol"/>
              </a:rPr>
              <a:t>, </a:t>
            </a:r>
            <a:r>
              <a:rPr lang="en-US" i="1" dirty="0">
                <a:sym typeface="Symbol"/>
              </a:rPr>
              <a:t>w</a:t>
            </a:r>
            <a:r>
              <a:rPr lang="en-US" dirty="0">
                <a:sym typeface="Symbol"/>
              </a:rPr>
              <a:t>)</a:t>
            </a:r>
          </a:p>
          <a:p>
            <a:pPr>
              <a:buNone/>
            </a:pPr>
            <a:r>
              <a:rPr lang="en-US" dirty="0">
                <a:sym typeface="Symbol"/>
              </a:rPr>
              <a:t>			</a:t>
            </a:r>
            <a:r>
              <a:rPr lang="ru-RU" dirty="0">
                <a:sym typeface="Symbol"/>
              </a:rPr>
              <a:t>иначе выдать </a:t>
            </a:r>
            <a:r>
              <a:rPr lang="en-US" i="1" dirty="0">
                <a:sym typeface="Symbol"/>
              </a:rPr>
              <a:t>false</a:t>
            </a:r>
            <a:r>
              <a:rPr lang="en-US" dirty="0">
                <a:sym typeface="Symbol"/>
              </a:rPr>
              <a:t>;</a:t>
            </a:r>
          </a:p>
          <a:p>
            <a:pPr>
              <a:buNone/>
            </a:pPr>
            <a:r>
              <a:rPr lang="en-US" dirty="0">
                <a:sym typeface="Symbol"/>
              </a:rPr>
              <a:t>}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634082"/>
          </a:xfrm>
        </p:spPr>
        <p:txBody>
          <a:bodyPr>
            <a:normAutofit/>
          </a:bodyPr>
          <a:lstStyle/>
          <a:p>
            <a:r>
              <a:rPr lang="ru-RU" sz="3200" dirty="0"/>
              <a:t>Пример построения дерева двоичного поиска</a:t>
            </a:r>
          </a:p>
        </p:txBody>
      </p:sp>
      <p:sp>
        <p:nvSpPr>
          <p:cNvPr id="4" name="Содержимое 2"/>
          <p:cNvSpPr>
            <a:spLocks noGrp="1"/>
          </p:cNvSpPr>
          <p:nvPr>
            <p:ph idx="1"/>
          </p:nvPr>
        </p:nvSpPr>
        <p:spPr>
          <a:xfrm>
            <a:off x="539552" y="692696"/>
            <a:ext cx="8229600" cy="829808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ru-RU" dirty="0"/>
              <a:t>Пусть на вход подаются числа в следующем порядке:</a:t>
            </a:r>
          </a:p>
          <a:p>
            <a:pPr>
              <a:buNone/>
            </a:pPr>
            <a:r>
              <a:rPr lang="en-US" dirty="0"/>
              <a:t>5, 1, 7, 6, 3, 2, 10,</a:t>
            </a:r>
            <a:r>
              <a:rPr lang="ru-RU" dirty="0"/>
              <a:t> </a:t>
            </a:r>
            <a:r>
              <a:rPr lang="en-US" dirty="0"/>
              <a:t>8, 4, 9</a:t>
            </a:r>
            <a:endParaRPr lang="ru-RU" dirty="0"/>
          </a:p>
        </p:txBody>
      </p:sp>
      <p:sp>
        <p:nvSpPr>
          <p:cNvPr id="34" name="Овал 33"/>
          <p:cNvSpPr/>
          <p:nvPr/>
        </p:nvSpPr>
        <p:spPr>
          <a:xfrm>
            <a:off x="3643306" y="1785926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/>
          <p:cNvSpPr/>
          <p:nvPr/>
        </p:nvSpPr>
        <p:spPr>
          <a:xfrm>
            <a:off x="4857752" y="2643182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Овал 35"/>
          <p:cNvSpPr/>
          <p:nvPr/>
        </p:nvSpPr>
        <p:spPr>
          <a:xfrm>
            <a:off x="2571736" y="2571744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Овал 36"/>
          <p:cNvSpPr/>
          <p:nvPr/>
        </p:nvSpPr>
        <p:spPr>
          <a:xfrm>
            <a:off x="3071802" y="3714752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Овал 37"/>
          <p:cNvSpPr/>
          <p:nvPr/>
        </p:nvSpPr>
        <p:spPr>
          <a:xfrm>
            <a:off x="4214810" y="4000504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/>
          <p:cNvSpPr/>
          <p:nvPr/>
        </p:nvSpPr>
        <p:spPr>
          <a:xfrm>
            <a:off x="5500694" y="4000504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Овал 39"/>
          <p:cNvSpPr/>
          <p:nvPr/>
        </p:nvSpPr>
        <p:spPr>
          <a:xfrm>
            <a:off x="3500430" y="4929198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/>
          <p:cNvSpPr/>
          <p:nvPr/>
        </p:nvSpPr>
        <p:spPr>
          <a:xfrm>
            <a:off x="2285984" y="4929198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Овал 41"/>
          <p:cNvSpPr/>
          <p:nvPr/>
        </p:nvSpPr>
        <p:spPr>
          <a:xfrm>
            <a:off x="4857752" y="5000636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Овал 42"/>
          <p:cNvSpPr/>
          <p:nvPr/>
        </p:nvSpPr>
        <p:spPr>
          <a:xfrm>
            <a:off x="5572132" y="6000768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4" name="Прямая соединительная линия 43"/>
          <p:cNvCxnSpPr>
            <a:stCxn id="34" idx="3"/>
            <a:endCxn id="36" idx="0"/>
          </p:cNvCxnSpPr>
          <p:nvPr/>
        </p:nvCxnSpPr>
        <p:spPr>
          <a:xfrm rot="5400000">
            <a:off x="3112753" y="1957495"/>
            <a:ext cx="358985" cy="8695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/>
          <p:cNvCxnSpPr>
            <a:stCxn id="34" idx="5"/>
            <a:endCxn id="35" idx="1"/>
          </p:cNvCxnSpPr>
          <p:nvPr/>
        </p:nvCxnSpPr>
        <p:spPr>
          <a:xfrm rot="16200000" flipH="1">
            <a:off x="4284453" y="2059421"/>
            <a:ext cx="503656" cy="8103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/>
          <p:cNvCxnSpPr>
            <a:stCxn id="36" idx="5"/>
            <a:endCxn id="37" idx="0"/>
          </p:cNvCxnSpPr>
          <p:nvPr/>
        </p:nvCxnSpPr>
        <p:spPr>
          <a:xfrm rot="16200000" flipH="1">
            <a:off x="2832603" y="3225519"/>
            <a:ext cx="716175" cy="2622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>
            <a:stCxn id="35" idx="3"/>
            <a:endCxn id="38" idx="0"/>
          </p:cNvCxnSpPr>
          <p:nvPr/>
        </p:nvCxnSpPr>
        <p:spPr>
          <a:xfrm rot="5400000">
            <a:off x="4237901" y="3296957"/>
            <a:ext cx="930489" cy="4766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/>
          <p:cNvCxnSpPr>
            <a:stCxn id="35" idx="5"/>
            <a:endCxn id="39" idx="0"/>
          </p:cNvCxnSpPr>
          <p:nvPr/>
        </p:nvCxnSpPr>
        <p:spPr>
          <a:xfrm rot="16200000" flipH="1">
            <a:off x="5082900" y="3332676"/>
            <a:ext cx="930489" cy="405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/>
          <p:cNvCxnSpPr>
            <a:stCxn id="37" idx="3"/>
            <a:endCxn id="41" idx="0"/>
          </p:cNvCxnSpPr>
          <p:nvPr/>
        </p:nvCxnSpPr>
        <p:spPr>
          <a:xfrm rot="5400000">
            <a:off x="2464580" y="4248742"/>
            <a:ext cx="787613" cy="5732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/>
          <p:cNvCxnSpPr>
            <a:stCxn id="37" idx="5"/>
            <a:endCxn id="40" idx="0"/>
          </p:cNvCxnSpPr>
          <p:nvPr/>
        </p:nvCxnSpPr>
        <p:spPr>
          <a:xfrm rot="16200000" flipH="1">
            <a:off x="3248602" y="4391617"/>
            <a:ext cx="787613" cy="2875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50"/>
          <p:cNvCxnSpPr>
            <a:stCxn id="39" idx="3"/>
            <a:endCxn id="42" idx="0"/>
          </p:cNvCxnSpPr>
          <p:nvPr/>
        </p:nvCxnSpPr>
        <p:spPr>
          <a:xfrm rot="5400000">
            <a:off x="5072067" y="4498775"/>
            <a:ext cx="573299" cy="4304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единительная линия 51"/>
          <p:cNvCxnSpPr>
            <a:stCxn id="42" idx="5"/>
            <a:endCxn id="43" idx="0"/>
          </p:cNvCxnSpPr>
          <p:nvPr/>
        </p:nvCxnSpPr>
        <p:spPr>
          <a:xfrm rot="16200000" flipH="1">
            <a:off x="5315073" y="5457956"/>
            <a:ext cx="573299" cy="5123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786182" y="18573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endParaRPr lang="ru-RU" b="1" dirty="0"/>
          </a:p>
        </p:txBody>
      </p:sp>
      <p:sp>
        <p:nvSpPr>
          <p:cNvPr id="54" name="TextBox 53"/>
          <p:cNvSpPr txBox="1"/>
          <p:nvPr/>
        </p:nvSpPr>
        <p:spPr>
          <a:xfrm>
            <a:off x="2714612" y="26431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ru-RU" b="1" dirty="0"/>
          </a:p>
        </p:txBody>
      </p:sp>
      <p:sp>
        <p:nvSpPr>
          <p:cNvPr id="55" name="TextBox 54"/>
          <p:cNvSpPr txBox="1"/>
          <p:nvPr/>
        </p:nvSpPr>
        <p:spPr>
          <a:xfrm>
            <a:off x="5000628" y="27146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7</a:t>
            </a:r>
            <a:endParaRPr lang="ru-RU" b="1" dirty="0"/>
          </a:p>
        </p:txBody>
      </p:sp>
      <p:sp>
        <p:nvSpPr>
          <p:cNvPr id="56" name="TextBox 55"/>
          <p:cNvSpPr txBox="1"/>
          <p:nvPr/>
        </p:nvSpPr>
        <p:spPr>
          <a:xfrm>
            <a:off x="3143240" y="37147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86248" y="40719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6</a:t>
            </a:r>
            <a:endParaRPr lang="ru-RU" b="1" dirty="0"/>
          </a:p>
        </p:txBody>
      </p:sp>
      <p:sp>
        <p:nvSpPr>
          <p:cNvPr id="58" name="TextBox 57"/>
          <p:cNvSpPr txBox="1"/>
          <p:nvPr/>
        </p:nvSpPr>
        <p:spPr>
          <a:xfrm>
            <a:off x="5572132" y="407194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10</a:t>
            </a:r>
            <a:endParaRPr lang="ru-RU" b="1" dirty="0"/>
          </a:p>
        </p:txBody>
      </p:sp>
      <p:sp>
        <p:nvSpPr>
          <p:cNvPr id="59" name="TextBox 58"/>
          <p:cNvSpPr txBox="1"/>
          <p:nvPr/>
        </p:nvSpPr>
        <p:spPr>
          <a:xfrm>
            <a:off x="2357422" y="50006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</a:t>
            </a:r>
            <a:endParaRPr lang="ru-RU" b="1" dirty="0"/>
          </a:p>
        </p:txBody>
      </p:sp>
      <p:sp>
        <p:nvSpPr>
          <p:cNvPr id="60" name="TextBox 59"/>
          <p:cNvSpPr txBox="1"/>
          <p:nvPr/>
        </p:nvSpPr>
        <p:spPr>
          <a:xfrm>
            <a:off x="3643306" y="50006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4</a:t>
            </a:r>
            <a:endParaRPr lang="ru-RU" b="1" dirty="0"/>
          </a:p>
        </p:txBody>
      </p:sp>
      <p:sp>
        <p:nvSpPr>
          <p:cNvPr id="61" name="TextBox 60"/>
          <p:cNvSpPr txBox="1"/>
          <p:nvPr/>
        </p:nvSpPr>
        <p:spPr>
          <a:xfrm>
            <a:off x="4929190" y="50720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8</a:t>
            </a:r>
            <a:endParaRPr lang="ru-RU" b="1" dirty="0"/>
          </a:p>
        </p:txBody>
      </p:sp>
      <p:sp>
        <p:nvSpPr>
          <p:cNvPr id="62" name="TextBox 61"/>
          <p:cNvSpPr txBox="1"/>
          <p:nvPr/>
        </p:nvSpPr>
        <p:spPr>
          <a:xfrm>
            <a:off x="5643570" y="60722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9</a:t>
            </a:r>
            <a:endParaRPr lang="ru-RU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8697144" cy="490066"/>
          </a:xfrm>
        </p:spPr>
        <p:txBody>
          <a:bodyPr>
            <a:noAutofit/>
          </a:bodyPr>
          <a:lstStyle/>
          <a:p>
            <a:r>
              <a:rPr lang="ru-RU" sz="3200" dirty="0"/>
              <a:t>Операции</a:t>
            </a:r>
            <a:r>
              <a:rPr lang="en-US" sz="3200" dirty="0"/>
              <a:t> </a:t>
            </a:r>
            <a:r>
              <a:rPr lang="ru-RU" sz="3200" dirty="0"/>
              <a:t>нахождения минимума и максимума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764704"/>
            <a:ext cx="4536504" cy="576064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min ( v ) </a:t>
            </a:r>
          </a:p>
          <a:p>
            <a:pPr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v </a:t>
            </a:r>
            <a:r>
              <a:rPr lang="en-US" sz="2800" b="1" dirty="0">
                <a:latin typeface="Courier New" pitchFamily="49" charset="0"/>
                <a:cs typeface="Courier New" pitchFamily="49" charset="0"/>
                <a:sym typeface="Symbol"/>
              </a:rPr>
              <a:t> root( T );</a:t>
            </a:r>
            <a:endParaRPr lang="en-US" sz="28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while left(v) ≠ NIL</a:t>
            </a:r>
          </a:p>
          <a:p>
            <a:pPr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	v</a:t>
            </a:r>
            <a:r>
              <a:rPr lang="en-US" sz="2800" b="1" dirty="0">
                <a:latin typeface="Courier New" pitchFamily="49" charset="0"/>
                <a:cs typeface="Courier New" pitchFamily="49" charset="0"/>
                <a:sym typeface="Symbol"/>
              </a:rPr>
              <a:t> 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 left(v) </a:t>
            </a:r>
          </a:p>
          <a:p>
            <a:pPr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return v</a:t>
            </a:r>
          </a:p>
          <a:p>
            <a:pPr>
              <a:buNone/>
            </a:pPr>
            <a:endParaRPr lang="en-US" sz="28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28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28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28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max ( v ) </a:t>
            </a:r>
          </a:p>
          <a:p>
            <a:pPr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v </a:t>
            </a:r>
            <a:r>
              <a:rPr lang="en-US" sz="2800" b="1" dirty="0">
                <a:latin typeface="Courier New" pitchFamily="49" charset="0"/>
                <a:cs typeface="Courier New" pitchFamily="49" charset="0"/>
                <a:sym typeface="Symbol"/>
              </a:rPr>
              <a:t> root(T);</a:t>
            </a:r>
            <a:endParaRPr lang="en-US" sz="28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while right(v) ≠ NIL</a:t>
            </a:r>
          </a:p>
          <a:p>
            <a:pPr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	v</a:t>
            </a:r>
            <a:r>
              <a:rPr lang="en-US" sz="2800" b="1" dirty="0">
                <a:latin typeface="Courier New" pitchFamily="49" charset="0"/>
                <a:cs typeface="Courier New" pitchFamily="49" charset="0"/>
                <a:sym typeface="Symbol"/>
              </a:rPr>
              <a:t> 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 right(v) </a:t>
            </a:r>
          </a:p>
          <a:p>
            <a:pPr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return v</a:t>
            </a:r>
          </a:p>
          <a:p>
            <a:pPr>
              <a:buNone/>
            </a:pPr>
            <a:endParaRPr lang="en-US" sz="28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ru-RU" sz="28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6235594" y="2001950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5" name="Овал 4"/>
          <p:cNvSpPr/>
          <p:nvPr/>
        </p:nvSpPr>
        <p:spPr>
          <a:xfrm>
            <a:off x="7309444" y="3213546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6" name="Овал 5"/>
          <p:cNvSpPr/>
          <p:nvPr/>
        </p:nvSpPr>
        <p:spPr>
          <a:xfrm>
            <a:off x="4875992" y="4587968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7" name="Овал 6"/>
          <p:cNvSpPr/>
          <p:nvPr/>
        </p:nvSpPr>
        <p:spPr>
          <a:xfrm>
            <a:off x="6012730" y="4437112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8" name="Овал 7"/>
          <p:cNvSpPr/>
          <p:nvPr/>
        </p:nvSpPr>
        <p:spPr>
          <a:xfrm>
            <a:off x="6807098" y="4288536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9" name="Овал 8"/>
          <p:cNvSpPr/>
          <p:nvPr/>
        </p:nvSpPr>
        <p:spPr>
          <a:xfrm>
            <a:off x="8460432" y="5301208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Овал 9"/>
          <p:cNvSpPr/>
          <p:nvPr/>
        </p:nvSpPr>
        <p:spPr>
          <a:xfrm>
            <a:off x="6301332" y="5445794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1" name="Овал 10"/>
          <p:cNvSpPr/>
          <p:nvPr/>
        </p:nvSpPr>
        <p:spPr>
          <a:xfrm>
            <a:off x="5364658" y="3285554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Овал 11"/>
          <p:cNvSpPr/>
          <p:nvPr/>
        </p:nvSpPr>
        <p:spPr>
          <a:xfrm>
            <a:off x="7380882" y="5301778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3" name="Овал 12"/>
          <p:cNvSpPr/>
          <p:nvPr/>
        </p:nvSpPr>
        <p:spPr>
          <a:xfrm>
            <a:off x="7956946" y="4221658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cxnSp>
        <p:nvCxnSpPr>
          <p:cNvPr id="14" name="Прямая соединительная линия 13"/>
          <p:cNvCxnSpPr>
            <a:stCxn id="11" idx="3"/>
            <a:endCxn id="6" idx="0"/>
          </p:cNvCxnSpPr>
          <p:nvPr/>
        </p:nvCxnSpPr>
        <p:spPr>
          <a:xfrm flipH="1">
            <a:off x="5161744" y="3712387"/>
            <a:ext cx="286609" cy="8755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>
            <a:stCxn id="4" idx="5"/>
            <a:endCxn id="5" idx="0"/>
          </p:cNvCxnSpPr>
          <p:nvPr/>
        </p:nvCxnSpPr>
        <p:spPr>
          <a:xfrm>
            <a:off x="6723403" y="2428783"/>
            <a:ext cx="871793" cy="7847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stCxn id="11" idx="5"/>
            <a:endCxn id="26" idx="0"/>
          </p:cNvCxnSpPr>
          <p:nvPr/>
        </p:nvCxnSpPr>
        <p:spPr>
          <a:xfrm>
            <a:off x="5852467" y="3712387"/>
            <a:ext cx="401780" cy="724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stCxn id="5" idx="3"/>
            <a:endCxn id="8" idx="0"/>
          </p:cNvCxnSpPr>
          <p:nvPr/>
        </p:nvCxnSpPr>
        <p:spPr>
          <a:xfrm flipH="1">
            <a:off x="7057131" y="3640379"/>
            <a:ext cx="336008" cy="6481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5" idx="5"/>
            <a:endCxn id="13" idx="0"/>
          </p:cNvCxnSpPr>
          <p:nvPr/>
        </p:nvCxnSpPr>
        <p:spPr>
          <a:xfrm>
            <a:off x="7797253" y="3640379"/>
            <a:ext cx="445445" cy="5812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11" idx="0"/>
            <a:endCxn id="4" idx="3"/>
          </p:cNvCxnSpPr>
          <p:nvPr/>
        </p:nvCxnSpPr>
        <p:spPr>
          <a:xfrm flipV="1">
            <a:off x="5650410" y="2428783"/>
            <a:ext cx="668879" cy="8567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>
            <a:stCxn id="7" idx="5"/>
            <a:endCxn id="10" idx="0"/>
          </p:cNvCxnSpPr>
          <p:nvPr/>
        </p:nvCxnSpPr>
        <p:spPr>
          <a:xfrm>
            <a:off x="6439563" y="4863945"/>
            <a:ext cx="147521" cy="5818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stCxn id="13" idx="3"/>
            <a:endCxn id="12" idx="0"/>
          </p:cNvCxnSpPr>
          <p:nvPr/>
        </p:nvCxnSpPr>
        <p:spPr>
          <a:xfrm flipH="1">
            <a:off x="7666634" y="4648491"/>
            <a:ext cx="374007" cy="653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3" idx="5"/>
            <a:endCxn id="9" idx="0"/>
          </p:cNvCxnSpPr>
          <p:nvPr/>
        </p:nvCxnSpPr>
        <p:spPr>
          <a:xfrm>
            <a:off x="8444755" y="4648491"/>
            <a:ext cx="265710" cy="652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372200" y="198884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5</a:t>
            </a:r>
            <a:endParaRPr lang="ru-RU" sz="24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4932040" y="458112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1</a:t>
            </a:r>
            <a:endParaRPr lang="ru-RU" sz="24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7452320" y="328498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7</a:t>
            </a:r>
            <a:endParaRPr lang="ru-RU" sz="24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6084168" y="443711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256" y="429309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6</a:t>
            </a:r>
            <a:endParaRPr lang="ru-RU" sz="24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8460432" y="5301208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10</a:t>
            </a:r>
            <a:endParaRPr lang="ru-RU" sz="24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5436096" y="335699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2</a:t>
            </a:r>
            <a:endParaRPr lang="ru-RU" sz="24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6444208" y="551723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4</a:t>
            </a:r>
            <a:endParaRPr lang="ru-RU" sz="24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7452320" y="537321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8</a:t>
            </a:r>
            <a:endParaRPr lang="ru-RU" sz="24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8028384" y="429309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9</a:t>
            </a:r>
            <a:endParaRPr lang="ru-RU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ru-RU" dirty="0"/>
              <a:t>Операция</a:t>
            </a:r>
            <a:r>
              <a:rPr lang="en-US" dirty="0"/>
              <a:t> </a:t>
            </a:r>
            <a:r>
              <a:rPr lang="ru-RU" dirty="0"/>
              <a:t>поиска следующего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692696"/>
            <a:ext cx="6239544" cy="3456384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successor (x)</a:t>
            </a:r>
            <a:endParaRPr lang="ru-RU" sz="24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if right[x] ≠ NIL then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return min (right [x])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y </a:t>
            </a:r>
            <a:r>
              <a:rPr lang="en-US" sz="2400" b="1" dirty="0">
                <a:latin typeface="Courier New" pitchFamily="49" charset="0"/>
                <a:cs typeface="Courier New" pitchFamily="49" charset="0"/>
                <a:sym typeface="Symbol"/>
              </a:rPr>
              <a:t> p[x]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  <a:sym typeface="Symbol"/>
              </a:rPr>
              <a:t>	while y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≠ NIL and x = right [y]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do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	x </a:t>
            </a:r>
            <a:r>
              <a:rPr lang="en-US" sz="2400" b="1" dirty="0">
                <a:latin typeface="Courier New" pitchFamily="49" charset="0"/>
                <a:cs typeface="Courier New" pitchFamily="49" charset="0"/>
                <a:sym typeface="Symbol"/>
              </a:rPr>
              <a:t>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y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	y </a:t>
            </a:r>
            <a:r>
              <a:rPr lang="en-US" sz="2400" b="1" dirty="0">
                <a:latin typeface="Courier New" pitchFamily="49" charset="0"/>
                <a:cs typeface="Courier New" pitchFamily="49" charset="0"/>
                <a:sym typeface="Symbol"/>
              </a:rPr>
              <a:t>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p[y]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return 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6235594" y="2722030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5" name="Овал 4"/>
          <p:cNvSpPr/>
          <p:nvPr/>
        </p:nvSpPr>
        <p:spPr>
          <a:xfrm>
            <a:off x="7309444" y="3933626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6" name="Овал 5"/>
          <p:cNvSpPr/>
          <p:nvPr/>
        </p:nvSpPr>
        <p:spPr>
          <a:xfrm>
            <a:off x="4875992" y="5308048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7" name="Овал 6"/>
          <p:cNvSpPr/>
          <p:nvPr/>
        </p:nvSpPr>
        <p:spPr>
          <a:xfrm>
            <a:off x="6012730" y="5157192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8" name="Овал 7"/>
          <p:cNvSpPr/>
          <p:nvPr/>
        </p:nvSpPr>
        <p:spPr>
          <a:xfrm>
            <a:off x="6807098" y="5008616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9" name="Овал 8"/>
          <p:cNvSpPr/>
          <p:nvPr/>
        </p:nvSpPr>
        <p:spPr>
          <a:xfrm>
            <a:off x="8460432" y="6021288"/>
            <a:ext cx="500066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Овал 9"/>
          <p:cNvSpPr/>
          <p:nvPr/>
        </p:nvSpPr>
        <p:spPr>
          <a:xfrm>
            <a:off x="6301332" y="6165874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1" name="Овал 10"/>
          <p:cNvSpPr/>
          <p:nvPr/>
        </p:nvSpPr>
        <p:spPr>
          <a:xfrm>
            <a:off x="5364658" y="4005634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Овал 11"/>
          <p:cNvSpPr/>
          <p:nvPr/>
        </p:nvSpPr>
        <p:spPr>
          <a:xfrm>
            <a:off x="7380882" y="6021858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3" name="Овал 12"/>
          <p:cNvSpPr/>
          <p:nvPr/>
        </p:nvSpPr>
        <p:spPr>
          <a:xfrm>
            <a:off x="7956946" y="4941738"/>
            <a:ext cx="571504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cxnSp>
        <p:nvCxnSpPr>
          <p:cNvPr id="14" name="Прямая соединительная линия 13"/>
          <p:cNvCxnSpPr>
            <a:stCxn id="11" idx="3"/>
            <a:endCxn id="6" idx="0"/>
          </p:cNvCxnSpPr>
          <p:nvPr/>
        </p:nvCxnSpPr>
        <p:spPr>
          <a:xfrm flipH="1">
            <a:off x="5161744" y="4432467"/>
            <a:ext cx="286609" cy="875581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>
            <a:stCxn id="4" idx="5"/>
            <a:endCxn id="5" idx="0"/>
          </p:cNvCxnSpPr>
          <p:nvPr/>
        </p:nvCxnSpPr>
        <p:spPr>
          <a:xfrm>
            <a:off x="6723403" y="3148863"/>
            <a:ext cx="871793" cy="784763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stCxn id="11" idx="5"/>
            <a:endCxn id="26" idx="0"/>
          </p:cNvCxnSpPr>
          <p:nvPr/>
        </p:nvCxnSpPr>
        <p:spPr>
          <a:xfrm>
            <a:off x="5852467" y="4432467"/>
            <a:ext cx="401780" cy="724725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stCxn id="5" idx="3"/>
            <a:endCxn id="8" idx="0"/>
          </p:cNvCxnSpPr>
          <p:nvPr/>
        </p:nvCxnSpPr>
        <p:spPr>
          <a:xfrm flipH="1">
            <a:off x="7057131" y="4360459"/>
            <a:ext cx="336008" cy="648157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5" idx="5"/>
            <a:endCxn id="13" idx="0"/>
          </p:cNvCxnSpPr>
          <p:nvPr/>
        </p:nvCxnSpPr>
        <p:spPr>
          <a:xfrm>
            <a:off x="7797253" y="4360459"/>
            <a:ext cx="445445" cy="581279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11" idx="0"/>
            <a:endCxn id="4" idx="3"/>
          </p:cNvCxnSpPr>
          <p:nvPr/>
        </p:nvCxnSpPr>
        <p:spPr>
          <a:xfrm flipV="1">
            <a:off x="5650410" y="3148863"/>
            <a:ext cx="668879" cy="856771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>
            <a:stCxn id="7" idx="5"/>
            <a:endCxn id="10" idx="0"/>
          </p:cNvCxnSpPr>
          <p:nvPr/>
        </p:nvCxnSpPr>
        <p:spPr>
          <a:xfrm>
            <a:off x="6439563" y="5584025"/>
            <a:ext cx="147521" cy="581849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stCxn id="13" idx="3"/>
            <a:endCxn id="12" idx="0"/>
          </p:cNvCxnSpPr>
          <p:nvPr/>
        </p:nvCxnSpPr>
        <p:spPr>
          <a:xfrm flipH="1">
            <a:off x="7666634" y="5368571"/>
            <a:ext cx="374007" cy="653287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3" idx="5"/>
            <a:endCxn id="9" idx="0"/>
          </p:cNvCxnSpPr>
          <p:nvPr/>
        </p:nvCxnSpPr>
        <p:spPr>
          <a:xfrm>
            <a:off x="8444755" y="5368571"/>
            <a:ext cx="265710" cy="652717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372200" y="270892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5</a:t>
            </a:r>
            <a:endParaRPr lang="ru-RU" sz="24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4932040" y="530120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1</a:t>
            </a:r>
            <a:endParaRPr lang="ru-RU" sz="24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7452320" y="400506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7</a:t>
            </a:r>
            <a:endParaRPr lang="ru-RU" sz="24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6084168" y="515719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256" y="501317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6</a:t>
            </a:r>
            <a:endParaRPr lang="ru-RU" sz="24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8460432" y="6021288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10</a:t>
            </a:r>
            <a:endParaRPr lang="ru-RU" sz="24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5436096" y="407707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2</a:t>
            </a:r>
            <a:endParaRPr lang="ru-RU" sz="24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6444208" y="623731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4</a:t>
            </a:r>
            <a:endParaRPr lang="ru-RU" sz="24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7452320" y="609329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8</a:t>
            </a:r>
            <a:endParaRPr lang="ru-RU" sz="24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8028384" y="501317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9</a:t>
            </a:r>
            <a:endParaRPr lang="ru-RU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0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0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1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2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41A9C"/>
                                      </p:to>
                                    </p:animClr>
                                    <p:set>
                                      <p:cBhvr>
                                        <p:cTn id="12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13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13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14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14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15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15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44E1A"/>
                                      </p:to>
                                    </p:animClr>
                                    <p:set>
                                      <p:cBhvr>
                                        <p:cTn id="16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0"/>
            <a:ext cx="8507288" cy="634082"/>
          </a:xfrm>
        </p:spPr>
        <p:txBody>
          <a:bodyPr>
            <a:noAutofit/>
          </a:bodyPr>
          <a:lstStyle/>
          <a:p>
            <a:r>
              <a:rPr lang="ru-RU" sz="3200" dirty="0"/>
              <a:t>Операция удаления элемента из дерева поиска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95536" y="548680"/>
            <a:ext cx="8229600" cy="630932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Delete(T, z)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if left[z] = NIL or right[z] = NIL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	then y </a:t>
            </a:r>
            <a:r>
              <a:rPr lang="en-US" b="1" dirty="0">
                <a:latin typeface="Courier New" pitchFamily="49" charset="0"/>
                <a:cs typeface="Courier New" pitchFamily="49" charset="0"/>
                <a:sym typeface="Symbol"/>
              </a:rPr>
              <a:t> z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  <a:sym typeface="Symbol"/>
              </a:rPr>
              <a:t>		else y  successor (z)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  <a:sym typeface="Symbol"/>
              </a:rPr>
              <a:t>	if left[y] ≠ NIL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  <a:sym typeface="Symbol"/>
              </a:rPr>
              <a:t>		then x  left[y]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  <a:sym typeface="Symbol"/>
              </a:rPr>
              <a:t>		else x  right[y]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  <a:sym typeface="Symbol"/>
              </a:rPr>
              <a:t>	if x ≠ NIL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  <a:sym typeface="Symbol"/>
              </a:rPr>
              <a:t>		p[x]  p[y]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  <a:sym typeface="Symbol"/>
              </a:rPr>
              <a:t>	if p[y] = NIL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  <a:sym typeface="Symbol"/>
              </a:rPr>
              <a:t>		then root[T]  x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  <a:sym typeface="Symbol"/>
              </a:rPr>
              <a:t>		else if y = left[p[y]]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  <a:sym typeface="Symbol"/>
              </a:rPr>
              <a:t>				then left[p[y]]  x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  <a:sym typeface="Symbol"/>
              </a:rPr>
              <a:t>				else right[p[y]]  x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  <a:sym typeface="Symbol"/>
              </a:rPr>
              <a:t>	if y ≠ z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  <a:sym typeface="Symbol"/>
              </a:rPr>
              <a:t>		then key[z]  key[y]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  <a:sym typeface="Symbol"/>
              </a:rPr>
              <a:t>			</a:t>
            </a:r>
            <a:r>
              <a:rPr lang="ru-RU" b="1" dirty="0">
                <a:latin typeface="Courier New" pitchFamily="49" charset="0"/>
                <a:cs typeface="Courier New" pitchFamily="49" charset="0"/>
                <a:sym typeface="Symbol"/>
              </a:rPr>
              <a:t>Копирование сопутствующих данных в </a:t>
            </a:r>
            <a:r>
              <a:rPr lang="en-US" b="1" dirty="0">
                <a:latin typeface="Courier New" pitchFamily="49" charset="0"/>
                <a:cs typeface="Courier New" pitchFamily="49" charset="0"/>
                <a:sym typeface="Symbol"/>
              </a:rPr>
              <a:t>z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  <a:sym typeface="Symbol"/>
              </a:rPr>
              <a:t>	return y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16632"/>
            <a:ext cx="8856984" cy="274042"/>
          </a:xfrm>
        </p:spPr>
        <p:txBody>
          <a:bodyPr>
            <a:noAutofit/>
          </a:bodyPr>
          <a:lstStyle/>
          <a:p>
            <a:r>
              <a:rPr lang="ru-RU" sz="2800" dirty="0"/>
              <a:t>Пример удаления элемента из дерева поиска</a:t>
            </a:r>
          </a:p>
        </p:txBody>
      </p:sp>
      <p:pic>
        <p:nvPicPr>
          <p:cNvPr id="4" name="Содержимое 3" descr="insert_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548680"/>
            <a:ext cx="6012160" cy="3019500"/>
          </a:xfrm>
        </p:spPr>
      </p:pic>
      <p:pic>
        <p:nvPicPr>
          <p:cNvPr id="6" name="Рисунок 5" descr="delete_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70430" y="3573016"/>
            <a:ext cx="6073570" cy="32849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90066"/>
          </a:xfrm>
        </p:spPr>
        <p:txBody>
          <a:bodyPr>
            <a:noAutofit/>
          </a:bodyPr>
          <a:lstStyle/>
          <a:p>
            <a:r>
              <a:rPr lang="ru-RU" sz="2800" dirty="0"/>
              <a:t>Пример удаления элемента из дерева поиска (окончание)</a:t>
            </a:r>
          </a:p>
        </p:txBody>
      </p:sp>
      <p:pic>
        <p:nvPicPr>
          <p:cNvPr id="4" name="Содержимое 3" descr="delete_3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199" y="1458909"/>
            <a:ext cx="8554375" cy="4130331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ru-RU" dirty="0"/>
              <a:t>Теорема (</a:t>
            </a:r>
            <a:r>
              <a:rPr lang="ru-RU" i="1" dirty="0"/>
              <a:t>Т. </a:t>
            </a:r>
            <a:r>
              <a:rPr lang="ru-RU" i="1" dirty="0" err="1"/>
              <a:t>Кормен</a:t>
            </a:r>
            <a:r>
              <a:rPr lang="ru-RU" i="1" dirty="0"/>
              <a:t> и др.</a:t>
            </a:r>
            <a:r>
              <a:rPr lang="ru-RU" dirty="0"/>
              <a:t>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/>
          <a:lstStyle/>
          <a:p>
            <a:pPr>
              <a:buNone/>
            </a:pPr>
            <a:r>
              <a:rPr lang="ru-RU" dirty="0"/>
              <a:t>Математическое ожидание высоты случайного бинарного дерева поиска с </a:t>
            </a:r>
            <a:r>
              <a:rPr lang="en-US" i="1" dirty="0"/>
              <a:t>n</a:t>
            </a:r>
            <a:r>
              <a:rPr lang="en-US" dirty="0"/>
              <a:t> </a:t>
            </a:r>
            <a:r>
              <a:rPr lang="ru-RU" dirty="0"/>
              <a:t>ключами равно </a:t>
            </a:r>
            <a:r>
              <a:rPr lang="en-US" dirty="0"/>
              <a:t>O(log</a:t>
            </a:r>
            <a:r>
              <a:rPr lang="ru-RU" baseline="-25000" dirty="0"/>
              <a:t>2</a:t>
            </a:r>
            <a:r>
              <a:rPr lang="en-US" dirty="0"/>
              <a:t> n)</a:t>
            </a:r>
            <a:endParaRPr lang="ru-RU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360040"/>
          </a:xfrm>
        </p:spPr>
        <p:txBody>
          <a:bodyPr>
            <a:noAutofit/>
          </a:bodyPr>
          <a:lstStyle/>
          <a:p>
            <a:r>
              <a:rPr lang="ru-RU" sz="3200" dirty="0"/>
              <a:t>Сбалансированные деревья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476672"/>
            <a:ext cx="8892480" cy="2304255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ru-RU" dirty="0">
                <a:solidFill>
                  <a:srgbClr val="00B050"/>
                </a:solidFill>
              </a:rPr>
              <a:t>Определение</a:t>
            </a:r>
            <a:r>
              <a:rPr lang="ru-RU" dirty="0"/>
              <a:t>  </a:t>
            </a:r>
          </a:p>
          <a:p>
            <a:pPr>
              <a:buNone/>
            </a:pPr>
            <a:r>
              <a:rPr lang="ru-RU" dirty="0"/>
              <a:t>	Дерево  называется </a:t>
            </a:r>
            <a:r>
              <a:rPr lang="ru-RU" dirty="0">
                <a:solidFill>
                  <a:srgbClr val="FF0000"/>
                </a:solidFill>
              </a:rPr>
              <a:t>сбалансированным</a:t>
            </a:r>
            <a:r>
              <a:rPr lang="ru-RU" dirty="0"/>
              <a:t> тогда и только тогда, когда высоты двух поддеревьев каждой из его вершин отличаются не более чем на единицу.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ru-RU" dirty="0" err="1"/>
              <a:t>АВЛ-деревья</a:t>
            </a:r>
            <a:r>
              <a:rPr lang="ru-RU" dirty="0"/>
              <a:t> </a:t>
            </a:r>
          </a:p>
          <a:p>
            <a:pPr>
              <a:buNone/>
            </a:pPr>
            <a:r>
              <a:rPr lang="ru-RU" dirty="0"/>
              <a:t>(1964 г. - </a:t>
            </a:r>
            <a:r>
              <a:rPr lang="ru-RU" dirty="0" err="1"/>
              <a:t>Г.М.Адельсон-Вельский</a:t>
            </a:r>
            <a:r>
              <a:rPr lang="ru-RU" dirty="0"/>
              <a:t>, Е.М. Ландис)</a:t>
            </a:r>
          </a:p>
        </p:txBody>
      </p:sp>
      <p:pic>
        <p:nvPicPr>
          <p:cNvPr id="4" name="Рисунок 3" descr="av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11760" y="2852936"/>
            <a:ext cx="4429125" cy="38195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654032"/>
          </a:xfrm>
        </p:spPr>
        <p:txBody>
          <a:bodyPr>
            <a:normAutofit/>
          </a:bodyPr>
          <a:lstStyle/>
          <a:p>
            <a:r>
              <a:rPr lang="ru-RU" sz="3200" dirty="0"/>
              <a:t>Вставка элемента в сбалансированное дерево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00108"/>
            <a:ext cx="5900750" cy="512605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600" dirty="0"/>
              <a:t>Пусть </a:t>
            </a:r>
            <a:r>
              <a:rPr lang="en-US" sz="2600" dirty="0"/>
              <a:t>r – </a:t>
            </a:r>
            <a:r>
              <a:rPr lang="ru-RU" sz="2600" dirty="0"/>
              <a:t>корень, </a:t>
            </a:r>
            <a:r>
              <a:rPr lang="en-US" sz="2600" dirty="0"/>
              <a:t>L – </a:t>
            </a:r>
            <a:r>
              <a:rPr lang="ru-RU" sz="2600" dirty="0"/>
              <a:t>левое поддерево, </a:t>
            </a:r>
            <a:r>
              <a:rPr lang="en-US" sz="2600" dirty="0"/>
              <a:t>R – </a:t>
            </a:r>
            <a:r>
              <a:rPr lang="ru-RU" sz="2600" dirty="0"/>
              <a:t>правое поддерево. Предположим, что включение в </a:t>
            </a:r>
            <a:r>
              <a:rPr lang="en-US" sz="2600" dirty="0"/>
              <a:t>L </a:t>
            </a:r>
            <a:r>
              <a:rPr lang="ru-RU" sz="2600" dirty="0"/>
              <a:t>приведет  к увеличению высоты на 1. 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ru-RU" sz="2800" dirty="0"/>
              <a:t>Возможны три случая</a:t>
            </a:r>
            <a:r>
              <a:rPr lang="en-US" sz="2800" dirty="0"/>
              <a:t>:</a:t>
            </a:r>
          </a:p>
          <a:p>
            <a:pPr marL="514350" indent="-514350">
              <a:buAutoNum type="arabicPeriod"/>
            </a:pPr>
            <a:r>
              <a:rPr lang="en-US" sz="2800" i="1" dirty="0" err="1"/>
              <a:t>h</a:t>
            </a:r>
            <a:r>
              <a:rPr lang="en-US" sz="2800" i="1" baseline="-25000" dirty="0" err="1"/>
              <a:t>L</a:t>
            </a:r>
            <a:r>
              <a:rPr lang="en-US" sz="2800" i="1" baseline="-25000" dirty="0"/>
              <a:t> </a:t>
            </a:r>
            <a:r>
              <a:rPr lang="en-US" sz="2800" i="1" dirty="0"/>
              <a:t>= </a:t>
            </a:r>
            <a:r>
              <a:rPr lang="en-US" sz="2800" i="1" dirty="0" err="1"/>
              <a:t>h</a:t>
            </a:r>
            <a:r>
              <a:rPr lang="en-US" sz="2800" i="1" baseline="-25000" dirty="0" err="1"/>
              <a:t>R</a:t>
            </a:r>
            <a:endParaRPr lang="en-US" sz="2800" i="1" baseline="-25000" dirty="0"/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sz="2800" i="1" dirty="0" err="1"/>
              <a:t>h</a:t>
            </a:r>
            <a:r>
              <a:rPr lang="en-US" sz="2800" i="1" baseline="-25000" dirty="0" err="1"/>
              <a:t>L</a:t>
            </a:r>
            <a:r>
              <a:rPr lang="en-US" sz="2800" i="1" baseline="-25000" dirty="0"/>
              <a:t> </a:t>
            </a:r>
            <a:r>
              <a:rPr lang="en-US" sz="2800" i="1" dirty="0"/>
              <a:t>&lt; </a:t>
            </a:r>
            <a:r>
              <a:rPr lang="en-US" sz="2800" i="1" dirty="0" err="1"/>
              <a:t>h</a:t>
            </a:r>
            <a:r>
              <a:rPr lang="en-US" sz="2800" i="1" baseline="-25000" dirty="0" err="1"/>
              <a:t>R</a:t>
            </a:r>
            <a:endParaRPr lang="en-US" sz="2800" i="1" baseline="-25000" dirty="0"/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sz="2800" i="1" dirty="0" err="1"/>
              <a:t>h</a:t>
            </a:r>
            <a:r>
              <a:rPr lang="en-US" sz="2800" i="1" baseline="-25000" dirty="0" err="1"/>
              <a:t>L</a:t>
            </a:r>
            <a:r>
              <a:rPr lang="en-US" sz="2800" i="1" baseline="-25000" dirty="0"/>
              <a:t> </a:t>
            </a:r>
            <a:r>
              <a:rPr lang="en-US" sz="2800" i="1" dirty="0"/>
              <a:t>&gt; </a:t>
            </a:r>
            <a:r>
              <a:rPr lang="en-US" sz="2800" i="1" dirty="0" err="1"/>
              <a:t>h</a:t>
            </a:r>
            <a:r>
              <a:rPr lang="en-US" sz="2800" i="1" baseline="-25000" dirty="0" err="1"/>
              <a:t>R</a:t>
            </a:r>
            <a:r>
              <a:rPr lang="en-US" sz="2800" i="1" baseline="-25000" dirty="0"/>
              <a:t>  </a:t>
            </a:r>
            <a:r>
              <a:rPr lang="en-US" sz="2800" i="1" dirty="0"/>
              <a:t>→</a:t>
            </a:r>
            <a:r>
              <a:rPr lang="ru-RU" sz="2800" i="1" dirty="0"/>
              <a:t>нарушен принцип сбалансированности, дерево нужно перестраивать</a:t>
            </a:r>
            <a:endParaRPr lang="en-US" sz="2800" i="1" baseline="-25000" dirty="0"/>
          </a:p>
          <a:p>
            <a:pPr marL="514350" indent="-514350">
              <a:buNone/>
            </a:pPr>
            <a:endParaRPr lang="en-US" b="1" i="1" baseline="-25000" dirty="0"/>
          </a:p>
          <a:p>
            <a:pPr marL="514350" indent="-514350">
              <a:buAutoNum type="arabicPeriod"/>
            </a:pPr>
            <a:endParaRPr lang="ru-RU" b="1" i="1" baseline="-25000" dirty="0"/>
          </a:p>
          <a:p>
            <a:pPr>
              <a:buNone/>
            </a:pPr>
            <a:endParaRPr lang="ru-RU" b="1" i="1" baseline="-25000" dirty="0"/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</p:txBody>
      </p:sp>
      <p:sp>
        <p:nvSpPr>
          <p:cNvPr id="4" name="Овал 3"/>
          <p:cNvSpPr/>
          <p:nvPr/>
        </p:nvSpPr>
        <p:spPr>
          <a:xfrm>
            <a:off x="7143768" y="2143116"/>
            <a:ext cx="357190" cy="35719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7215206" y="2143116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r</a:t>
            </a:r>
            <a:endParaRPr lang="ru-RU" sz="2000" b="1" i="1" dirty="0"/>
          </a:p>
        </p:txBody>
      </p:sp>
      <p:sp>
        <p:nvSpPr>
          <p:cNvPr id="6" name="Равнобедренный треугольник 5"/>
          <p:cNvSpPr/>
          <p:nvPr/>
        </p:nvSpPr>
        <p:spPr>
          <a:xfrm>
            <a:off x="6357950" y="2857496"/>
            <a:ext cx="785818" cy="192882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Равнобедренный треугольник 6"/>
          <p:cNvSpPr/>
          <p:nvPr/>
        </p:nvSpPr>
        <p:spPr>
          <a:xfrm>
            <a:off x="7500958" y="2857496"/>
            <a:ext cx="785818" cy="192882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>
            <a:stCxn id="4" idx="3"/>
            <a:endCxn id="6" idx="0"/>
          </p:cNvCxnSpPr>
          <p:nvPr/>
        </p:nvCxnSpPr>
        <p:spPr>
          <a:xfrm rot="5400000">
            <a:off x="6768719" y="2430137"/>
            <a:ext cx="409499" cy="44521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>
            <a:stCxn id="7" idx="0"/>
            <a:endCxn id="4" idx="5"/>
          </p:cNvCxnSpPr>
          <p:nvPr/>
        </p:nvCxnSpPr>
        <p:spPr>
          <a:xfrm rot="16200000" flipV="1">
            <a:off x="7466509" y="2430138"/>
            <a:ext cx="409499" cy="44521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72264" y="4071942"/>
            <a:ext cx="293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L</a:t>
            </a:r>
            <a:endParaRPr lang="ru-RU" sz="2000" b="1" i="1" dirty="0"/>
          </a:p>
        </p:txBody>
      </p:sp>
      <p:sp>
        <p:nvSpPr>
          <p:cNvPr id="17" name="TextBox 16"/>
          <p:cNvSpPr txBox="1"/>
          <p:nvPr/>
        </p:nvSpPr>
        <p:spPr>
          <a:xfrm>
            <a:off x="7786710" y="4071942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R</a:t>
            </a:r>
            <a:endParaRPr lang="ru-RU" sz="2000" b="1" i="1"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6357950" y="4786322"/>
            <a:ext cx="785818" cy="3571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6357950" y="4786322"/>
            <a:ext cx="785818" cy="357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 rot="10800000" flipV="1">
            <a:off x="6357950" y="4786322"/>
            <a:ext cx="785818" cy="357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stCxn id="6" idx="0"/>
          </p:cNvCxnSpPr>
          <p:nvPr/>
        </p:nvCxnSpPr>
        <p:spPr>
          <a:xfrm rot="16200000" flipV="1">
            <a:off x="6232934" y="2339570"/>
            <a:ext cx="0" cy="10358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 rot="10800000">
            <a:off x="5643570" y="4786322"/>
            <a:ext cx="7143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/>
          <p:nvPr/>
        </p:nvCxnSpPr>
        <p:spPr>
          <a:xfrm rot="10800000">
            <a:off x="5643570" y="5143512"/>
            <a:ext cx="7143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 rot="5400000">
            <a:off x="4964909" y="3821909"/>
            <a:ext cx="1928826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/>
          <p:nvPr/>
        </p:nvCxnSpPr>
        <p:spPr>
          <a:xfrm rot="5400000">
            <a:off x="5749933" y="4964917"/>
            <a:ext cx="357984" cy="79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572132" y="3786190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err="1"/>
              <a:t>h</a:t>
            </a:r>
            <a:r>
              <a:rPr lang="en-US" sz="2000" b="1" i="1" baseline="-25000" dirty="0" err="1"/>
              <a:t>L</a:t>
            </a:r>
            <a:endParaRPr lang="ru-RU" sz="2000" b="1" i="1" baseline="-25000" dirty="0"/>
          </a:p>
        </p:txBody>
      </p:sp>
      <p:sp>
        <p:nvSpPr>
          <p:cNvPr id="36" name="TextBox 35"/>
          <p:cNvSpPr txBox="1"/>
          <p:nvPr/>
        </p:nvSpPr>
        <p:spPr>
          <a:xfrm>
            <a:off x="5643570" y="4714884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1</a:t>
            </a:r>
            <a:endParaRPr lang="ru-RU" sz="2000" b="1" i="1" dirty="0"/>
          </a:p>
        </p:txBody>
      </p:sp>
      <p:cxnSp>
        <p:nvCxnSpPr>
          <p:cNvPr id="38" name="Прямая соединительная линия 37"/>
          <p:cNvCxnSpPr>
            <a:stCxn id="7" idx="0"/>
          </p:cNvCxnSpPr>
          <p:nvPr/>
        </p:nvCxnSpPr>
        <p:spPr>
          <a:xfrm rot="5400000" flipH="1" flipV="1">
            <a:off x="8340354" y="2411009"/>
            <a:ext cx="0" cy="8929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/>
          <p:cNvCxnSpPr>
            <a:stCxn id="7" idx="4"/>
          </p:cNvCxnSpPr>
          <p:nvPr/>
        </p:nvCxnSpPr>
        <p:spPr>
          <a:xfrm rot="16200000" flipH="1">
            <a:off x="8608247" y="4464851"/>
            <a:ext cx="0" cy="64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/>
          <p:cNvCxnSpPr/>
          <p:nvPr/>
        </p:nvCxnSpPr>
        <p:spPr>
          <a:xfrm rot="16200000" flipH="1">
            <a:off x="7429520" y="3786190"/>
            <a:ext cx="1928826" cy="7143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429652" y="3643314"/>
            <a:ext cx="4154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err="1"/>
              <a:t>h</a:t>
            </a:r>
            <a:r>
              <a:rPr lang="en-US" sz="2000" b="1" i="1" baseline="-25000" dirty="0" err="1"/>
              <a:t>R</a:t>
            </a:r>
            <a:endParaRPr lang="ru-RU" sz="2000" b="1" i="1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ru-RU" dirty="0"/>
              <a:t>Вставка в левое поддерево</a:t>
            </a:r>
          </a:p>
        </p:txBody>
      </p:sp>
      <p:sp>
        <p:nvSpPr>
          <p:cNvPr id="4" name="Овал 3"/>
          <p:cNvSpPr/>
          <p:nvPr/>
        </p:nvSpPr>
        <p:spPr>
          <a:xfrm>
            <a:off x="2071670" y="1500174"/>
            <a:ext cx="500066" cy="5000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1428728" y="2428868"/>
            <a:ext cx="500066" cy="5000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000100" y="3429000"/>
            <a:ext cx="571504" cy="21431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928794" y="3429000"/>
            <a:ext cx="571504" cy="21431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3000364" y="2643182"/>
            <a:ext cx="571504" cy="21431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000100" y="5572140"/>
            <a:ext cx="571504" cy="4286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1000100" y="5572140"/>
            <a:ext cx="571504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 rot="10800000" flipV="1">
            <a:off x="1000100" y="5572140"/>
            <a:ext cx="571504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>
            <a:stCxn id="5" idx="3"/>
            <a:endCxn id="6" idx="0"/>
          </p:cNvCxnSpPr>
          <p:nvPr/>
        </p:nvCxnSpPr>
        <p:spPr>
          <a:xfrm rot="5400000">
            <a:off x="1107258" y="3034296"/>
            <a:ext cx="573299" cy="21610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endCxn id="7" idx="0"/>
          </p:cNvCxnSpPr>
          <p:nvPr/>
        </p:nvCxnSpPr>
        <p:spPr>
          <a:xfrm rot="16200000" flipH="1">
            <a:off x="1750199" y="2964652"/>
            <a:ext cx="571505" cy="35719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4" idx="3"/>
            <a:endCxn id="5" idx="0"/>
          </p:cNvCxnSpPr>
          <p:nvPr/>
        </p:nvCxnSpPr>
        <p:spPr>
          <a:xfrm rot="5400000">
            <a:off x="1660902" y="1944866"/>
            <a:ext cx="501861" cy="46614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stCxn id="4" idx="5"/>
            <a:endCxn id="8" idx="0"/>
          </p:cNvCxnSpPr>
          <p:nvPr/>
        </p:nvCxnSpPr>
        <p:spPr>
          <a:xfrm rot="16200000" flipH="1">
            <a:off x="2534222" y="1891287"/>
            <a:ext cx="716175" cy="78761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500166" y="2428868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</a:t>
            </a:r>
            <a:endParaRPr lang="ru-RU" sz="24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2143108" y="150017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</a:t>
            </a:r>
            <a:endParaRPr lang="ru-RU" sz="24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3071802" y="328612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3</a:t>
            </a:r>
            <a:endParaRPr lang="ru-RU" sz="24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2000232" y="421481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2</a:t>
            </a:r>
            <a:endParaRPr lang="ru-RU" sz="24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1071538" y="428625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1</a:t>
            </a:r>
            <a:endParaRPr lang="ru-RU" sz="2400" b="1" dirty="0"/>
          </a:p>
        </p:txBody>
      </p:sp>
      <p:sp>
        <p:nvSpPr>
          <p:cNvPr id="46" name="Овал 45"/>
          <p:cNvSpPr/>
          <p:nvPr/>
        </p:nvSpPr>
        <p:spPr>
          <a:xfrm>
            <a:off x="6429388" y="2285992"/>
            <a:ext cx="500066" cy="5000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Овал 46"/>
          <p:cNvSpPr/>
          <p:nvPr/>
        </p:nvSpPr>
        <p:spPr>
          <a:xfrm>
            <a:off x="5786446" y="1428736"/>
            <a:ext cx="500066" cy="5000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рямоугольник 47"/>
          <p:cNvSpPr/>
          <p:nvPr/>
        </p:nvSpPr>
        <p:spPr>
          <a:xfrm>
            <a:off x="5000628" y="2786058"/>
            <a:ext cx="571504" cy="21431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Прямоугольник 48"/>
          <p:cNvSpPr/>
          <p:nvPr/>
        </p:nvSpPr>
        <p:spPr>
          <a:xfrm>
            <a:off x="5929322" y="3214686"/>
            <a:ext cx="571504" cy="21431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Прямоугольник 49"/>
          <p:cNvSpPr/>
          <p:nvPr/>
        </p:nvSpPr>
        <p:spPr>
          <a:xfrm>
            <a:off x="6929454" y="3214686"/>
            <a:ext cx="571504" cy="21431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Прямоугольник 50"/>
          <p:cNvSpPr/>
          <p:nvPr/>
        </p:nvSpPr>
        <p:spPr>
          <a:xfrm>
            <a:off x="5000628" y="4929198"/>
            <a:ext cx="571504" cy="4286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2" name="Прямая соединительная линия 51"/>
          <p:cNvCxnSpPr/>
          <p:nvPr/>
        </p:nvCxnSpPr>
        <p:spPr>
          <a:xfrm>
            <a:off x="5000628" y="4929198"/>
            <a:ext cx="571504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rot="10800000" flipV="1">
            <a:off x="5000628" y="4929198"/>
            <a:ext cx="571504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>
            <a:stCxn id="47" idx="3"/>
            <a:endCxn id="48" idx="0"/>
          </p:cNvCxnSpPr>
          <p:nvPr/>
        </p:nvCxnSpPr>
        <p:spPr>
          <a:xfrm rot="5400000">
            <a:off x="5107786" y="2034164"/>
            <a:ext cx="930489" cy="57329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>
            <a:stCxn id="46" idx="3"/>
            <a:endCxn id="49" idx="0"/>
          </p:cNvCxnSpPr>
          <p:nvPr/>
        </p:nvCxnSpPr>
        <p:spPr>
          <a:xfrm rot="5400000">
            <a:off x="6107918" y="2819982"/>
            <a:ext cx="501861" cy="2875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46" idx="0"/>
            <a:endCxn id="47" idx="5"/>
          </p:cNvCxnSpPr>
          <p:nvPr/>
        </p:nvCxnSpPr>
        <p:spPr>
          <a:xfrm rot="16200000" flipV="1">
            <a:off x="6231139" y="1837710"/>
            <a:ext cx="430423" cy="46614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>
            <a:stCxn id="46" idx="5"/>
            <a:endCxn id="50" idx="0"/>
          </p:cNvCxnSpPr>
          <p:nvPr/>
        </p:nvCxnSpPr>
        <p:spPr>
          <a:xfrm rot="16200000" flipH="1">
            <a:off x="6784783" y="2784262"/>
            <a:ext cx="501861" cy="35898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857884" y="1428736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</a:t>
            </a:r>
            <a:endParaRPr lang="ru-RU" sz="2400" b="1" dirty="0"/>
          </a:p>
        </p:txBody>
      </p:sp>
      <p:sp>
        <p:nvSpPr>
          <p:cNvPr id="59" name="TextBox 58"/>
          <p:cNvSpPr txBox="1"/>
          <p:nvPr/>
        </p:nvSpPr>
        <p:spPr>
          <a:xfrm>
            <a:off x="6500826" y="2285992"/>
            <a:ext cx="357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</a:t>
            </a:r>
            <a:endParaRPr lang="ru-RU" sz="2400" b="1" dirty="0"/>
          </a:p>
        </p:txBody>
      </p:sp>
      <p:sp>
        <p:nvSpPr>
          <p:cNvPr id="60" name="TextBox 59"/>
          <p:cNvSpPr txBox="1"/>
          <p:nvPr/>
        </p:nvSpPr>
        <p:spPr>
          <a:xfrm>
            <a:off x="7000892" y="385762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3</a:t>
            </a:r>
            <a:endParaRPr lang="ru-RU" sz="2400" b="1" dirty="0"/>
          </a:p>
        </p:txBody>
      </p:sp>
      <p:sp>
        <p:nvSpPr>
          <p:cNvPr id="61" name="TextBox 60"/>
          <p:cNvSpPr txBox="1"/>
          <p:nvPr/>
        </p:nvSpPr>
        <p:spPr>
          <a:xfrm>
            <a:off x="6000760" y="385762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2</a:t>
            </a:r>
            <a:endParaRPr lang="ru-RU" sz="2400" b="1" dirty="0"/>
          </a:p>
        </p:txBody>
      </p:sp>
      <p:sp>
        <p:nvSpPr>
          <p:cNvPr id="62" name="TextBox 61"/>
          <p:cNvSpPr txBox="1"/>
          <p:nvPr/>
        </p:nvSpPr>
        <p:spPr>
          <a:xfrm>
            <a:off x="5072066" y="378619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1</a:t>
            </a:r>
            <a:endParaRPr lang="ru-RU" sz="2400" b="1" dirty="0"/>
          </a:p>
        </p:txBody>
      </p:sp>
      <p:sp>
        <p:nvSpPr>
          <p:cNvPr id="81" name="Стрелка вправо 80"/>
          <p:cNvSpPr/>
          <p:nvPr/>
        </p:nvSpPr>
        <p:spPr>
          <a:xfrm>
            <a:off x="4071934" y="3286124"/>
            <a:ext cx="78581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8" grpId="0"/>
      <p:bldP spid="59" grpId="0"/>
      <p:bldP spid="60" grpId="0"/>
      <p:bldP spid="61" grpId="0"/>
      <p:bldP spid="62" grpId="0"/>
      <p:bldP spid="8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ru-RU" dirty="0"/>
              <a:t>Вставка в правое поддерево</a:t>
            </a:r>
          </a:p>
        </p:txBody>
      </p:sp>
      <p:sp>
        <p:nvSpPr>
          <p:cNvPr id="4" name="Овал 3"/>
          <p:cNvSpPr/>
          <p:nvPr/>
        </p:nvSpPr>
        <p:spPr>
          <a:xfrm>
            <a:off x="1857356" y="2571744"/>
            <a:ext cx="500066" cy="5000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1214414" y="1714488"/>
            <a:ext cx="500066" cy="5000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85720" y="2643182"/>
            <a:ext cx="571504" cy="21431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357290" y="3571876"/>
            <a:ext cx="571504" cy="21431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2428860" y="3571876"/>
            <a:ext cx="571504" cy="21431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357290" y="5286388"/>
            <a:ext cx="571504" cy="4286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1357290" y="5286388"/>
            <a:ext cx="571504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 rot="10800000" flipV="1">
            <a:off x="1357290" y="5286388"/>
            <a:ext cx="571504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>
            <a:stCxn id="5" idx="3"/>
            <a:endCxn id="6" idx="0"/>
          </p:cNvCxnSpPr>
          <p:nvPr/>
        </p:nvCxnSpPr>
        <p:spPr>
          <a:xfrm rot="5400000">
            <a:off x="678630" y="2034164"/>
            <a:ext cx="501861" cy="7161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>
            <a:stCxn id="4" idx="3"/>
            <a:endCxn id="7" idx="0"/>
          </p:cNvCxnSpPr>
          <p:nvPr/>
        </p:nvCxnSpPr>
        <p:spPr>
          <a:xfrm rot="5400000">
            <a:off x="1500167" y="3141453"/>
            <a:ext cx="573299" cy="2875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>
            <a:stCxn id="4" idx="0"/>
            <a:endCxn id="5" idx="5"/>
          </p:cNvCxnSpPr>
          <p:nvPr/>
        </p:nvCxnSpPr>
        <p:spPr>
          <a:xfrm rot="16200000" flipV="1">
            <a:off x="1659107" y="2123462"/>
            <a:ext cx="430423" cy="46614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>
            <a:stCxn id="4" idx="5"/>
            <a:endCxn id="8" idx="0"/>
          </p:cNvCxnSpPr>
          <p:nvPr/>
        </p:nvCxnSpPr>
        <p:spPr>
          <a:xfrm rot="16200000" flipH="1">
            <a:off x="2212751" y="3070014"/>
            <a:ext cx="573299" cy="4304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85852" y="1714488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</a:t>
            </a:r>
            <a:endParaRPr lang="ru-RU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1928794" y="25717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</a:t>
            </a:r>
            <a:endParaRPr lang="ru-RU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2571736" y="435769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3</a:t>
            </a:r>
            <a:endParaRPr lang="ru-RU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1428728" y="442913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2</a:t>
            </a:r>
            <a:endParaRPr lang="ru-RU" sz="24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357158" y="364331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1</a:t>
            </a:r>
            <a:endParaRPr lang="ru-RU" sz="2400" b="1" dirty="0"/>
          </a:p>
        </p:txBody>
      </p:sp>
      <p:sp>
        <p:nvSpPr>
          <p:cNvPr id="21" name="Стрелка вправо 20"/>
          <p:cNvSpPr/>
          <p:nvPr/>
        </p:nvSpPr>
        <p:spPr>
          <a:xfrm>
            <a:off x="4143372" y="3214686"/>
            <a:ext cx="78581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/>
          <p:cNvSpPr/>
          <p:nvPr/>
        </p:nvSpPr>
        <p:spPr>
          <a:xfrm>
            <a:off x="2285984" y="928670"/>
            <a:ext cx="500066" cy="5000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3428992" y="2428868"/>
            <a:ext cx="571504" cy="21431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4" name="Прямая соединительная линия 23"/>
          <p:cNvCxnSpPr>
            <a:stCxn id="22" idx="5"/>
            <a:endCxn id="23" idx="0"/>
          </p:cNvCxnSpPr>
          <p:nvPr/>
        </p:nvCxnSpPr>
        <p:spPr>
          <a:xfrm rot="16200000" flipH="1">
            <a:off x="2677098" y="1391221"/>
            <a:ext cx="1073365" cy="100192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357422" y="92867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0430" y="364331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4</a:t>
            </a:r>
          </a:p>
        </p:txBody>
      </p:sp>
      <p:cxnSp>
        <p:nvCxnSpPr>
          <p:cNvPr id="51" name="Прямая соединительная линия 50"/>
          <p:cNvCxnSpPr>
            <a:stCxn id="22" idx="3"/>
            <a:endCxn id="5" idx="0"/>
          </p:cNvCxnSpPr>
          <p:nvPr/>
        </p:nvCxnSpPr>
        <p:spPr>
          <a:xfrm rot="5400000">
            <a:off x="1732340" y="1087610"/>
            <a:ext cx="358985" cy="89477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Прямоугольник 56"/>
          <p:cNvSpPr/>
          <p:nvPr/>
        </p:nvSpPr>
        <p:spPr>
          <a:xfrm>
            <a:off x="2428860" y="5286388"/>
            <a:ext cx="571504" cy="4286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8" name="Прямая соединительная линия 57"/>
          <p:cNvCxnSpPr/>
          <p:nvPr/>
        </p:nvCxnSpPr>
        <p:spPr>
          <a:xfrm>
            <a:off x="2428860" y="5286388"/>
            <a:ext cx="571504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 rot="10800000" flipV="1">
            <a:off x="2428860" y="5286388"/>
            <a:ext cx="571504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Овал 61"/>
          <p:cNvSpPr/>
          <p:nvPr/>
        </p:nvSpPr>
        <p:spPr>
          <a:xfrm>
            <a:off x="6643702" y="1071546"/>
            <a:ext cx="500066" cy="5000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Овал 62"/>
          <p:cNvSpPr/>
          <p:nvPr/>
        </p:nvSpPr>
        <p:spPr>
          <a:xfrm>
            <a:off x="5643570" y="2357430"/>
            <a:ext cx="500066" cy="5000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Прямоугольник 63"/>
          <p:cNvSpPr/>
          <p:nvPr/>
        </p:nvSpPr>
        <p:spPr>
          <a:xfrm>
            <a:off x="5072066" y="3571876"/>
            <a:ext cx="571504" cy="21431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Прямоугольник 64"/>
          <p:cNvSpPr/>
          <p:nvPr/>
        </p:nvSpPr>
        <p:spPr>
          <a:xfrm>
            <a:off x="6072198" y="3571876"/>
            <a:ext cx="571504" cy="21431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Прямоугольник 65"/>
          <p:cNvSpPr/>
          <p:nvPr/>
        </p:nvSpPr>
        <p:spPr>
          <a:xfrm>
            <a:off x="7143768" y="3571876"/>
            <a:ext cx="571504" cy="21431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Прямоугольник 66"/>
          <p:cNvSpPr/>
          <p:nvPr/>
        </p:nvSpPr>
        <p:spPr>
          <a:xfrm>
            <a:off x="6072198" y="5286388"/>
            <a:ext cx="571504" cy="4286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8" name="Прямая соединительная линия 67"/>
          <p:cNvCxnSpPr/>
          <p:nvPr/>
        </p:nvCxnSpPr>
        <p:spPr>
          <a:xfrm>
            <a:off x="6072198" y="5286388"/>
            <a:ext cx="571504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единительная линия 68"/>
          <p:cNvCxnSpPr/>
          <p:nvPr/>
        </p:nvCxnSpPr>
        <p:spPr>
          <a:xfrm rot="10800000" flipV="1">
            <a:off x="6072198" y="5286388"/>
            <a:ext cx="571504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>
            <a:stCxn id="63" idx="3"/>
            <a:endCxn id="64" idx="0"/>
          </p:cNvCxnSpPr>
          <p:nvPr/>
        </p:nvCxnSpPr>
        <p:spPr>
          <a:xfrm rot="5400000">
            <a:off x="5143505" y="2998577"/>
            <a:ext cx="787613" cy="35898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Прямая соединительная линия 70"/>
          <p:cNvCxnSpPr>
            <a:stCxn id="62" idx="3"/>
            <a:endCxn id="63" idx="0"/>
          </p:cNvCxnSpPr>
          <p:nvPr/>
        </p:nvCxnSpPr>
        <p:spPr>
          <a:xfrm rot="5400000">
            <a:off x="5875744" y="1516238"/>
            <a:ext cx="859051" cy="82333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Прямая соединительная линия 71"/>
          <p:cNvCxnSpPr>
            <a:stCxn id="65" idx="0"/>
            <a:endCxn id="63" idx="5"/>
          </p:cNvCxnSpPr>
          <p:nvPr/>
        </p:nvCxnSpPr>
        <p:spPr>
          <a:xfrm rot="16200000" flipV="1">
            <a:off x="5820371" y="3034296"/>
            <a:ext cx="787613" cy="2875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единительная линия 72"/>
          <p:cNvCxnSpPr>
            <a:stCxn id="62" idx="5"/>
            <a:endCxn id="79" idx="0"/>
          </p:cNvCxnSpPr>
          <p:nvPr/>
        </p:nvCxnSpPr>
        <p:spPr>
          <a:xfrm rot="16200000" flipH="1">
            <a:off x="7052676" y="1516238"/>
            <a:ext cx="787613" cy="75189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5715008" y="2357430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</a:t>
            </a:r>
            <a:endParaRPr lang="ru-RU" sz="2400" b="1" dirty="0"/>
          </a:p>
        </p:txBody>
      </p:sp>
      <p:sp>
        <p:nvSpPr>
          <p:cNvPr id="76" name="TextBox 75"/>
          <p:cNvSpPr txBox="1"/>
          <p:nvPr/>
        </p:nvSpPr>
        <p:spPr>
          <a:xfrm>
            <a:off x="7286644" y="435769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3</a:t>
            </a:r>
            <a:endParaRPr lang="ru-RU" sz="2400" b="1" dirty="0"/>
          </a:p>
        </p:txBody>
      </p:sp>
      <p:sp>
        <p:nvSpPr>
          <p:cNvPr id="77" name="TextBox 76"/>
          <p:cNvSpPr txBox="1"/>
          <p:nvPr/>
        </p:nvSpPr>
        <p:spPr>
          <a:xfrm>
            <a:off x="6143636" y="442913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2</a:t>
            </a:r>
            <a:endParaRPr lang="ru-RU" sz="2400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5143504" y="450057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1</a:t>
            </a:r>
            <a:endParaRPr lang="ru-RU" sz="2400" b="1" dirty="0"/>
          </a:p>
        </p:txBody>
      </p:sp>
      <p:sp>
        <p:nvSpPr>
          <p:cNvPr id="79" name="Овал 78"/>
          <p:cNvSpPr/>
          <p:nvPr/>
        </p:nvSpPr>
        <p:spPr>
          <a:xfrm>
            <a:off x="7572396" y="2285992"/>
            <a:ext cx="500066" cy="5000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Прямоугольник 79"/>
          <p:cNvSpPr/>
          <p:nvPr/>
        </p:nvSpPr>
        <p:spPr>
          <a:xfrm>
            <a:off x="8072462" y="3643314"/>
            <a:ext cx="571504" cy="21431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1" name="Прямая соединительная линия 80"/>
          <p:cNvCxnSpPr>
            <a:stCxn id="79" idx="5"/>
            <a:endCxn id="80" idx="0"/>
          </p:cNvCxnSpPr>
          <p:nvPr/>
        </p:nvCxnSpPr>
        <p:spPr>
          <a:xfrm rot="16200000" flipH="1">
            <a:off x="7713477" y="2998576"/>
            <a:ext cx="930489" cy="35898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7643834" y="2285992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С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15338" y="442913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4</a:t>
            </a:r>
          </a:p>
        </p:txBody>
      </p:sp>
      <p:cxnSp>
        <p:nvCxnSpPr>
          <p:cNvPr id="84" name="Прямая соединительная линия 83"/>
          <p:cNvCxnSpPr>
            <a:stCxn id="79" idx="3"/>
            <a:endCxn id="66" idx="0"/>
          </p:cNvCxnSpPr>
          <p:nvPr/>
        </p:nvCxnSpPr>
        <p:spPr>
          <a:xfrm rot="5400000">
            <a:off x="7108050" y="3034296"/>
            <a:ext cx="859051" cy="21610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Прямоугольник 84"/>
          <p:cNvSpPr/>
          <p:nvPr/>
        </p:nvSpPr>
        <p:spPr>
          <a:xfrm>
            <a:off x="7143768" y="5286388"/>
            <a:ext cx="571504" cy="4286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6" name="Прямая соединительная линия 85"/>
          <p:cNvCxnSpPr/>
          <p:nvPr/>
        </p:nvCxnSpPr>
        <p:spPr>
          <a:xfrm>
            <a:off x="7143768" y="5286388"/>
            <a:ext cx="571504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Прямая соединительная линия 86"/>
          <p:cNvCxnSpPr/>
          <p:nvPr/>
        </p:nvCxnSpPr>
        <p:spPr>
          <a:xfrm rot="10800000" flipV="1">
            <a:off x="7143768" y="5286388"/>
            <a:ext cx="571504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Прямоугольник 89"/>
          <p:cNvSpPr/>
          <p:nvPr/>
        </p:nvSpPr>
        <p:spPr>
          <a:xfrm>
            <a:off x="6715140" y="1071546"/>
            <a:ext cx="3577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400" b="1" dirty="0">
                <a:solidFill>
                  <a:prstClr val="black"/>
                </a:solidFill>
              </a:rPr>
              <a:t>B</a:t>
            </a:r>
            <a:endParaRPr lang="ru-RU" sz="2400" b="1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74" grpId="0"/>
      <p:bldP spid="76" grpId="0"/>
      <p:bldP spid="77" grpId="0"/>
      <p:bldP spid="78" grpId="0"/>
      <p:bldP spid="79" grpId="0" animBg="1"/>
      <p:bldP spid="80" grpId="0" animBg="1"/>
      <p:bldP spid="82" grpId="0"/>
      <p:bldP spid="83" grpId="0"/>
      <p:bldP spid="85" grpId="0" animBg="1"/>
      <p:bldP spid="9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/>
          </p:cNvSpPr>
          <p:nvPr>
            <p:ph type="title"/>
          </p:nvPr>
        </p:nvSpPr>
        <p:spPr>
          <a:xfrm>
            <a:off x="293712" y="116632"/>
            <a:ext cx="8229600" cy="478406"/>
          </a:xfrm>
        </p:spPr>
        <p:txBody>
          <a:bodyPr>
            <a:normAutofit fontScale="90000"/>
          </a:bodyPr>
          <a:lstStyle/>
          <a:p>
            <a:pPr algn="l"/>
            <a:r>
              <a:rPr lang="ru-RU" sz="2800" dirty="0">
                <a:solidFill>
                  <a:srgbClr val="404F21"/>
                </a:solidFill>
              </a:rPr>
              <a:t>Пример построения </a:t>
            </a:r>
            <a:r>
              <a:rPr lang="ru-RU" sz="2800" dirty="0" err="1">
                <a:solidFill>
                  <a:srgbClr val="404F21"/>
                </a:solidFill>
              </a:rPr>
              <a:t>АВЛ-дерева</a:t>
            </a:r>
            <a:endParaRPr lang="ru-RU" sz="2800" dirty="0">
              <a:solidFill>
                <a:srgbClr val="404F21"/>
              </a:solidFill>
            </a:endParaRPr>
          </a:p>
        </p:txBody>
      </p:sp>
      <p:pic>
        <p:nvPicPr>
          <p:cNvPr id="92162" name="Picture 3" descr="ris77_1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620688" y="595038"/>
            <a:ext cx="7718805" cy="5949950"/>
          </a:xfr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/>
          </p:cNvSpPr>
          <p:nvPr>
            <p:ph type="title"/>
          </p:nvPr>
        </p:nvSpPr>
        <p:spPr>
          <a:xfrm>
            <a:off x="395536" y="0"/>
            <a:ext cx="8572560" cy="836712"/>
          </a:xfrm>
        </p:spPr>
        <p:txBody>
          <a:bodyPr/>
          <a:lstStyle/>
          <a:p>
            <a:pPr algn="l"/>
            <a:r>
              <a:rPr lang="ru-RU" sz="3200" dirty="0">
                <a:solidFill>
                  <a:srgbClr val="404F21"/>
                </a:solidFill>
              </a:rPr>
              <a:t>Красно-чёрное дерево (</a:t>
            </a:r>
            <a:r>
              <a:rPr lang="ru-RU" sz="3200" dirty="0" err="1">
                <a:solidFill>
                  <a:srgbClr val="404F21"/>
                </a:solidFill>
              </a:rPr>
              <a:t>Red-Black-Tree</a:t>
            </a:r>
            <a:r>
              <a:rPr lang="ru-RU" sz="3200" dirty="0">
                <a:solidFill>
                  <a:srgbClr val="404F21"/>
                </a:solidFill>
              </a:rPr>
              <a:t>, </a:t>
            </a:r>
            <a:r>
              <a:rPr lang="ru-RU" sz="3200" dirty="0" err="1">
                <a:solidFill>
                  <a:srgbClr val="404F21"/>
                </a:solidFill>
              </a:rPr>
              <a:t>RB-Tree</a:t>
            </a:r>
            <a:r>
              <a:rPr lang="ru-RU" sz="3200" dirty="0">
                <a:solidFill>
                  <a:srgbClr val="404F21"/>
                </a:solidFill>
              </a:rPr>
              <a:t>)</a:t>
            </a:r>
          </a:p>
        </p:txBody>
      </p:sp>
      <p:sp>
        <p:nvSpPr>
          <p:cNvPr id="96259" name="Rectangle 3"/>
          <p:cNvSpPr>
            <a:spLocks noGrp="1"/>
          </p:cNvSpPr>
          <p:nvPr>
            <p:ph type="body" idx="1"/>
          </p:nvPr>
        </p:nvSpPr>
        <p:spPr>
          <a:xfrm>
            <a:off x="251520" y="1124744"/>
            <a:ext cx="8892480" cy="5616624"/>
          </a:xfrm>
        </p:spPr>
        <p:txBody>
          <a:bodyPr>
            <a:normAutofit fontScale="92500"/>
          </a:bodyPr>
          <a:lstStyle/>
          <a:p>
            <a:pPr>
              <a:lnSpc>
                <a:spcPct val="80000"/>
              </a:lnSpc>
              <a:buFont typeface="Arial" charset="0"/>
              <a:buNone/>
            </a:pPr>
            <a:r>
              <a:rPr lang="ru-RU" sz="2800" i="1" dirty="0">
                <a:solidFill>
                  <a:srgbClr val="FF0000"/>
                </a:solidFill>
              </a:rPr>
              <a:t>Красно-чёрное</a:t>
            </a:r>
            <a:r>
              <a:rPr lang="ru-RU" sz="2800" dirty="0"/>
              <a:t> дерево обладает следующими свойствами.</a:t>
            </a:r>
          </a:p>
          <a:p>
            <a:pPr marL="514350" indent="-514350">
              <a:lnSpc>
                <a:spcPct val="80000"/>
              </a:lnSpc>
              <a:buFont typeface="+mj-lt"/>
              <a:buAutoNum type="arabicPeriod"/>
            </a:pPr>
            <a:r>
              <a:rPr lang="ru-RU" sz="2800" dirty="0"/>
              <a:t>Каждый узел либо красный либо чёрный</a:t>
            </a:r>
          </a:p>
          <a:p>
            <a:pPr marL="514350" indent="-514350">
              <a:lnSpc>
                <a:spcPct val="80000"/>
              </a:lnSpc>
              <a:buFont typeface="+mj-lt"/>
              <a:buAutoNum type="arabicPeriod"/>
            </a:pPr>
            <a:r>
              <a:rPr lang="ru-RU" sz="2800" dirty="0"/>
              <a:t>Все листья черны. </a:t>
            </a:r>
          </a:p>
          <a:p>
            <a:pPr marL="514350" indent="-514350">
              <a:lnSpc>
                <a:spcPct val="80000"/>
              </a:lnSpc>
              <a:buFont typeface="+mj-lt"/>
              <a:buAutoNum type="arabicPeriod"/>
            </a:pPr>
            <a:r>
              <a:rPr lang="ru-RU" sz="2800" dirty="0"/>
              <a:t>Корень дерева – чёрный</a:t>
            </a:r>
          </a:p>
          <a:p>
            <a:pPr marL="514350" indent="-514350">
              <a:lnSpc>
                <a:spcPct val="80000"/>
              </a:lnSpc>
              <a:buFont typeface="+mj-lt"/>
              <a:buAutoNum type="arabicPeriod"/>
            </a:pPr>
            <a:r>
              <a:rPr lang="ru-RU" sz="2800" dirty="0"/>
              <a:t>Все сыновья красных узлов черны. </a:t>
            </a:r>
          </a:p>
          <a:p>
            <a:pPr marL="514350" indent="-514350">
              <a:lnSpc>
                <a:spcPct val="80000"/>
              </a:lnSpc>
              <a:buFont typeface="+mj-lt"/>
              <a:buAutoNum type="arabicPeriod"/>
            </a:pPr>
            <a:r>
              <a:rPr lang="ru-RU" sz="2800" dirty="0"/>
              <a:t>Для каждого узла все пути от него до листьев, являющихся его потомками, содержат одно и то же количество черных узлов.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endParaRPr lang="ru-RU" sz="2800" dirty="0"/>
          </a:p>
          <a:p>
            <a:pPr>
              <a:lnSpc>
                <a:spcPct val="80000"/>
              </a:lnSpc>
              <a:buFont typeface="Arial" charset="0"/>
              <a:buNone/>
            </a:pPr>
            <a:r>
              <a:rPr lang="ru-RU" sz="2800" dirty="0"/>
              <a:t>Для корня число чёрных узлов до листьев называется </a:t>
            </a:r>
            <a:r>
              <a:rPr lang="ru-RU" sz="2800" dirty="0">
                <a:solidFill>
                  <a:srgbClr val="FF0000"/>
                </a:solidFill>
              </a:rPr>
              <a:t>чёрной высотой</a:t>
            </a:r>
            <a:r>
              <a:rPr lang="ru-RU" sz="2800" dirty="0"/>
              <a:t> дерева. 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endParaRPr lang="ru-RU" sz="2800" dirty="0"/>
          </a:p>
          <a:p>
            <a:pPr>
              <a:lnSpc>
                <a:spcPct val="80000"/>
              </a:lnSpc>
              <a:buFont typeface="Arial" charset="0"/>
              <a:buNone/>
            </a:pPr>
            <a:r>
              <a:rPr lang="ru-RU" sz="2800" dirty="0"/>
              <a:t>Для удобства листьями красно-чёрного дерева считаются фиктивные «нулевые» узлы, не содержащие данных (</a:t>
            </a:r>
            <a:r>
              <a:rPr lang="en-US" sz="2800" dirty="0"/>
              <a:t>NIL</a:t>
            </a:r>
            <a:r>
              <a:rPr lang="ru-RU" sz="2800" dirty="0"/>
              <a:t>).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endParaRPr lang="ru-RU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9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/>
          <p:cNvSpPr>
            <a:spLocks noGrp="1"/>
          </p:cNvSpPr>
          <p:nvPr>
            <p:ph type="title"/>
          </p:nvPr>
        </p:nvSpPr>
        <p:spPr>
          <a:xfrm>
            <a:off x="395288" y="260350"/>
            <a:ext cx="8229600" cy="647700"/>
          </a:xfrm>
        </p:spPr>
        <p:txBody>
          <a:bodyPr>
            <a:normAutofit fontScale="90000"/>
          </a:bodyPr>
          <a:lstStyle/>
          <a:p>
            <a:pPr algn="l"/>
            <a:br>
              <a:rPr lang="ru-RU" sz="2800" b="1" dirty="0"/>
            </a:br>
            <a:r>
              <a:rPr lang="ru-RU" sz="2800" dirty="0">
                <a:solidFill>
                  <a:srgbClr val="404F21"/>
                </a:solidFill>
              </a:rPr>
              <a:t>Пример</a:t>
            </a:r>
            <a:r>
              <a:rPr lang="ru-RU" sz="2800" b="1" dirty="0"/>
              <a:t> </a:t>
            </a:r>
            <a:br>
              <a:rPr lang="ru-RU" sz="4000" b="1" dirty="0"/>
            </a:br>
            <a:endParaRPr lang="ru-RU" sz="4000" b="1" dirty="0"/>
          </a:p>
        </p:txBody>
      </p:sp>
      <p:pic>
        <p:nvPicPr>
          <p:cNvPr id="7" name="Содержимое 6" descr="RB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29936" y="900010"/>
            <a:ext cx="8760303" cy="4341251"/>
          </a:xfr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/>
          <p:cNvSpPr>
            <a:spLocks noGrp="1"/>
          </p:cNvSpPr>
          <p:nvPr>
            <p:ph type="title"/>
          </p:nvPr>
        </p:nvSpPr>
        <p:spPr>
          <a:xfrm>
            <a:off x="285720" y="285728"/>
            <a:ext cx="8229600" cy="777875"/>
          </a:xfrm>
        </p:spPr>
        <p:txBody>
          <a:bodyPr/>
          <a:lstStyle/>
          <a:p>
            <a:pPr algn="l"/>
            <a:r>
              <a:rPr lang="ru-RU" sz="2800" dirty="0">
                <a:solidFill>
                  <a:srgbClr val="FF0000"/>
                </a:solidFill>
              </a:rPr>
              <a:t>Свойства красно-чёрного дерева </a:t>
            </a:r>
          </a:p>
        </p:txBody>
      </p:sp>
      <p:sp>
        <p:nvSpPr>
          <p:cNvPr id="100355" name="Rectangle 3"/>
          <p:cNvSpPr>
            <a:spLocks noGrp="1"/>
          </p:cNvSpPr>
          <p:nvPr>
            <p:ph type="body" idx="1"/>
          </p:nvPr>
        </p:nvSpPr>
        <p:spPr>
          <a:xfrm>
            <a:off x="323850" y="1125538"/>
            <a:ext cx="8229600" cy="4525962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ru-RU" b="1" dirty="0"/>
              <a:t>1.</a:t>
            </a:r>
            <a:r>
              <a:rPr lang="ru-RU" dirty="0"/>
              <a:t> Если </a:t>
            </a:r>
            <a:r>
              <a:rPr lang="ru-RU" dirty="0" err="1"/>
              <a:t>h</a:t>
            </a:r>
            <a:r>
              <a:rPr lang="ru-RU" dirty="0"/>
              <a:t> - чёрная высота дерева, то количество листьев не менее 2</a:t>
            </a:r>
            <a:r>
              <a:rPr lang="ru-RU" i="1" baseline="30000" dirty="0"/>
              <a:t>h</a:t>
            </a:r>
            <a:r>
              <a:rPr lang="ru-RU" baseline="30000" dirty="0"/>
              <a:t> − 1</a:t>
            </a:r>
            <a:r>
              <a:rPr lang="ru-RU" dirty="0"/>
              <a:t>.</a:t>
            </a:r>
          </a:p>
          <a:p>
            <a:pPr>
              <a:buFont typeface="Arial" charset="0"/>
              <a:buNone/>
            </a:pPr>
            <a:r>
              <a:rPr lang="ru-RU" b="1" dirty="0"/>
              <a:t>2.</a:t>
            </a:r>
            <a:r>
              <a:rPr lang="ru-RU" dirty="0"/>
              <a:t> Если </a:t>
            </a:r>
            <a:r>
              <a:rPr lang="ru-RU" dirty="0" err="1"/>
              <a:t>h</a:t>
            </a:r>
            <a:r>
              <a:rPr lang="ru-RU" dirty="0"/>
              <a:t> - высота дерева, то количество листьев не менее 2</a:t>
            </a:r>
            <a:r>
              <a:rPr lang="ru-RU" baseline="30000" dirty="0"/>
              <a:t>(</a:t>
            </a:r>
            <a:r>
              <a:rPr lang="ru-RU" i="1" baseline="30000" dirty="0"/>
              <a:t>h</a:t>
            </a:r>
            <a:r>
              <a:rPr lang="ru-RU" baseline="30000" dirty="0"/>
              <a:t>−1)/2</a:t>
            </a:r>
            <a:r>
              <a:rPr lang="ru-RU" dirty="0"/>
              <a:t>. </a:t>
            </a:r>
          </a:p>
          <a:p>
            <a:pPr>
              <a:buFont typeface="Arial" charset="0"/>
              <a:buNone/>
            </a:pPr>
            <a:r>
              <a:rPr lang="ru-RU" b="1" dirty="0"/>
              <a:t>3. </a:t>
            </a:r>
            <a:r>
              <a:rPr lang="ru-RU" dirty="0"/>
              <a:t>Если количество листьев </a:t>
            </a:r>
            <a:r>
              <a:rPr lang="ru-RU" i="1" dirty="0"/>
              <a:t>N</a:t>
            </a:r>
            <a:r>
              <a:rPr lang="ru-RU" dirty="0"/>
              <a:t>, высота дерева не больше 2</a:t>
            </a:r>
            <a:r>
              <a:rPr lang="ru-RU" i="1" dirty="0"/>
              <a:t>log</a:t>
            </a:r>
            <a:r>
              <a:rPr lang="ru-RU" baseline="-25000" dirty="0"/>
              <a:t>2</a:t>
            </a:r>
            <a:r>
              <a:rPr lang="ru-RU" dirty="0"/>
              <a:t>(</a:t>
            </a:r>
            <a:r>
              <a:rPr lang="ru-RU" i="1" dirty="0"/>
              <a:t>N</a:t>
            </a:r>
            <a:r>
              <a:rPr lang="ru-RU" dirty="0"/>
              <a:t> + 1)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5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ru-RU" dirty="0"/>
              <a:t>Повороты</a:t>
            </a:r>
          </a:p>
        </p:txBody>
      </p:sp>
      <p:pic>
        <p:nvPicPr>
          <p:cNvPr id="4" name="Содержимое 3" descr="rotate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131841" y="836712"/>
            <a:ext cx="6012160" cy="2817986"/>
          </a:xfrm>
        </p:spPr>
      </p:pic>
      <p:sp>
        <p:nvSpPr>
          <p:cNvPr id="3" name="TextBox 2"/>
          <p:cNvSpPr txBox="1"/>
          <p:nvPr/>
        </p:nvSpPr>
        <p:spPr>
          <a:xfrm>
            <a:off x="251520" y="2420888"/>
            <a:ext cx="460851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Left_Rotate</a:t>
            </a:r>
            <a:r>
              <a:rPr lang="en-US" sz="2000" dirty="0"/>
              <a:t>(T, x)</a:t>
            </a:r>
          </a:p>
          <a:p>
            <a:pPr>
              <a:tabLst>
                <a:tab pos="542925" algn="l"/>
              </a:tabLst>
            </a:pPr>
            <a:r>
              <a:rPr lang="en-US" sz="2000" dirty="0"/>
              <a:t>	y </a:t>
            </a:r>
            <a:r>
              <a:rPr lang="en-US" sz="2000" dirty="0">
                <a:sym typeface="Symbol"/>
              </a:rPr>
              <a:t> right[x]</a:t>
            </a:r>
          </a:p>
          <a:p>
            <a:pPr>
              <a:tabLst>
                <a:tab pos="542925" algn="l"/>
              </a:tabLst>
            </a:pPr>
            <a:r>
              <a:rPr lang="en-US" sz="2000" dirty="0">
                <a:sym typeface="Symbol"/>
              </a:rPr>
              <a:t>	right[x]  left[y]</a:t>
            </a:r>
          </a:p>
          <a:p>
            <a:pPr>
              <a:tabLst>
                <a:tab pos="542925" algn="l"/>
              </a:tabLst>
            </a:pPr>
            <a:r>
              <a:rPr lang="en-US" sz="2000" dirty="0">
                <a:sym typeface="Symbol"/>
              </a:rPr>
              <a:t>	if left[y] ≠ nil [T]</a:t>
            </a:r>
          </a:p>
          <a:p>
            <a:pPr>
              <a:tabLst>
                <a:tab pos="542925" algn="l"/>
              </a:tabLst>
            </a:pPr>
            <a:r>
              <a:rPr lang="en-US" sz="2000" dirty="0">
                <a:sym typeface="Symbol"/>
              </a:rPr>
              <a:t>		then p[left[y]]   x</a:t>
            </a:r>
          </a:p>
          <a:p>
            <a:pPr>
              <a:tabLst>
                <a:tab pos="542925" algn="l"/>
              </a:tabLst>
            </a:pPr>
            <a:r>
              <a:rPr lang="en-US" sz="2000" dirty="0">
                <a:sym typeface="Symbol"/>
              </a:rPr>
              <a:t>	p[y]   p[x]</a:t>
            </a:r>
          </a:p>
          <a:p>
            <a:pPr>
              <a:tabLst>
                <a:tab pos="542925" algn="l"/>
              </a:tabLst>
            </a:pPr>
            <a:r>
              <a:rPr lang="en-US" sz="2000" dirty="0">
                <a:sym typeface="Symbol"/>
              </a:rPr>
              <a:t>	if p[x] = nil [T]	</a:t>
            </a:r>
          </a:p>
          <a:p>
            <a:pPr>
              <a:tabLst>
                <a:tab pos="542925" algn="l"/>
              </a:tabLst>
            </a:pPr>
            <a:r>
              <a:rPr lang="en-US" sz="2000" dirty="0">
                <a:sym typeface="Symbol"/>
              </a:rPr>
              <a:t>		then root[T]  y</a:t>
            </a:r>
          </a:p>
          <a:p>
            <a:pPr>
              <a:tabLst>
                <a:tab pos="542925" algn="l"/>
              </a:tabLst>
            </a:pPr>
            <a:r>
              <a:rPr lang="en-US" sz="2000" dirty="0">
                <a:sym typeface="Symbol"/>
              </a:rPr>
              <a:t>		else  if x = left[p[x]]</a:t>
            </a:r>
          </a:p>
          <a:p>
            <a:pPr>
              <a:tabLst>
                <a:tab pos="542925" algn="l"/>
              </a:tabLst>
            </a:pPr>
            <a:r>
              <a:rPr lang="en-US" sz="2000" dirty="0">
                <a:sym typeface="Symbol"/>
              </a:rPr>
              <a:t>			then left[p[x]]  y</a:t>
            </a:r>
          </a:p>
          <a:p>
            <a:pPr>
              <a:tabLst>
                <a:tab pos="542925" algn="l"/>
              </a:tabLst>
            </a:pPr>
            <a:r>
              <a:rPr lang="en-US" sz="2000" dirty="0">
                <a:sym typeface="Symbol"/>
              </a:rPr>
              <a:t>			else right[p[x]]  y</a:t>
            </a:r>
          </a:p>
          <a:p>
            <a:pPr>
              <a:tabLst>
                <a:tab pos="542925" algn="l"/>
              </a:tabLst>
            </a:pPr>
            <a:r>
              <a:rPr lang="en-US" sz="2000" dirty="0">
                <a:sym typeface="Symbol"/>
              </a:rPr>
              <a:t>	left[y]  x</a:t>
            </a:r>
          </a:p>
          <a:p>
            <a:pPr>
              <a:tabLst>
                <a:tab pos="542925" algn="l"/>
              </a:tabLst>
            </a:pPr>
            <a:r>
              <a:rPr lang="en-US" sz="2000" dirty="0">
                <a:sym typeface="Symbol"/>
              </a:rPr>
              <a:t>	p[x]  y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/>
          <p:cNvSpPr>
            <a:spLocks noGrp="1"/>
          </p:cNvSpPr>
          <p:nvPr>
            <p:ph type="title"/>
          </p:nvPr>
        </p:nvSpPr>
        <p:spPr>
          <a:xfrm>
            <a:off x="251520" y="5752"/>
            <a:ext cx="8229600" cy="561975"/>
          </a:xfrm>
        </p:spPr>
        <p:txBody>
          <a:bodyPr/>
          <a:lstStyle/>
          <a:p>
            <a:pPr algn="l"/>
            <a:r>
              <a:rPr lang="ru-RU" sz="2800" dirty="0">
                <a:solidFill>
                  <a:srgbClr val="404F21"/>
                </a:solidFill>
              </a:rPr>
              <a:t>Операция вставки</a:t>
            </a:r>
          </a:p>
        </p:txBody>
      </p:sp>
      <p:sp>
        <p:nvSpPr>
          <p:cNvPr id="106499" name="Rectangle 3"/>
          <p:cNvSpPr>
            <a:spLocks noGrp="1"/>
          </p:cNvSpPr>
          <p:nvPr>
            <p:ph type="body" idx="1"/>
          </p:nvPr>
        </p:nvSpPr>
        <p:spPr>
          <a:xfrm>
            <a:off x="251520" y="567727"/>
            <a:ext cx="8892480" cy="6290273"/>
          </a:xfrm>
          <a:ln>
            <a:solidFill>
              <a:schemeClr val="accent1"/>
            </a:solidFill>
          </a:ln>
        </p:spPr>
        <p:txBody>
          <a:bodyPr>
            <a:normAutofit fontScale="85000" lnSpcReduction="20000"/>
          </a:bodyPr>
          <a:lstStyle/>
          <a:p>
            <a:pPr>
              <a:lnSpc>
                <a:spcPct val="80000"/>
              </a:lnSpc>
              <a:buFont typeface="Arial" charset="0"/>
              <a:buNone/>
            </a:pPr>
            <a:r>
              <a:rPr lang="ru-RU" sz="2400" dirty="0"/>
              <a:t>Чтобы вставить узел, мы сначала </a:t>
            </a:r>
          </a:p>
          <a:p>
            <a:pPr>
              <a:lnSpc>
                <a:spcPct val="80000"/>
              </a:lnSpc>
              <a:buFontTx/>
              <a:buChar char="-"/>
            </a:pPr>
            <a:r>
              <a:rPr lang="ru-RU" sz="2400" dirty="0"/>
              <a:t>ищем в дереве место, куда его следует добавить. </a:t>
            </a:r>
          </a:p>
          <a:p>
            <a:pPr>
              <a:lnSpc>
                <a:spcPct val="80000"/>
              </a:lnSpc>
              <a:buFontTx/>
              <a:buChar char="-"/>
            </a:pPr>
            <a:r>
              <a:rPr lang="ru-RU" sz="2400" dirty="0"/>
              <a:t>Новый узел всегда добавляется как лист, поэтому оба его потомка являются </a:t>
            </a:r>
            <a:r>
              <a:rPr lang="ru-RU" sz="2400" b="1" dirty="0"/>
              <a:t>N</a:t>
            </a:r>
            <a:r>
              <a:rPr lang="en-US" sz="2400" b="1" dirty="0"/>
              <a:t>UL</a:t>
            </a:r>
            <a:r>
              <a:rPr lang="ru-RU" sz="2400" b="1" dirty="0"/>
              <a:t>L</a:t>
            </a:r>
            <a:r>
              <a:rPr lang="ru-RU" sz="2400" dirty="0"/>
              <a:t>-узлами и предполагаются черными. </a:t>
            </a:r>
          </a:p>
          <a:p>
            <a:pPr>
              <a:lnSpc>
                <a:spcPct val="80000"/>
              </a:lnSpc>
              <a:buFontTx/>
              <a:buChar char="-"/>
            </a:pPr>
            <a:r>
              <a:rPr lang="ru-RU" sz="2400" dirty="0"/>
              <a:t>После вставки красим узел в красный цвет. </a:t>
            </a:r>
          </a:p>
          <a:p>
            <a:pPr>
              <a:lnSpc>
                <a:spcPct val="80000"/>
              </a:lnSpc>
              <a:buFontTx/>
              <a:buChar char="-"/>
            </a:pPr>
            <a:r>
              <a:rPr lang="ru-RU" sz="2400" dirty="0"/>
              <a:t>После этого применяем процедуру </a:t>
            </a:r>
            <a:r>
              <a:rPr lang="en-US" sz="2400" dirty="0" err="1"/>
              <a:t>Fixup</a:t>
            </a:r>
            <a:r>
              <a:rPr lang="en-US" sz="2400" dirty="0"/>
              <a:t>:</a:t>
            </a:r>
          </a:p>
          <a:p>
            <a:pPr marL="0" indent="0">
              <a:lnSpc>
                <a:spcPct val="80000"/>
              </a:lnSpc>
              <a:buNone/>
            </a:pPr>
            <a:endParaRPr lang="en-US" sz="2400" dirty="0"/>
          </a:p>
          <a:p>
            <a:pPr marL="0" indent="0">
              <a:lnSpc>
                <a:spcPct val="80000"/>
              </a:lnSpc>
              <a:buNone/>
            </a:pPr>
            <a:endParaRPr lang="en-US" sz="2400" dirty="0"/>
          </a:p>
          <a:p>
            <a:pPr marL="0" indent="0">
              <a:lnSpc>
                <a:spcPct val="80000"/>
              </a:lnSpc>
              <a:buNone/>
              <a:tabLst>
                <a:tab pos="542925" algn="l"/>
                <a:tab pos="989013" algn="l"/>
                <a:tab pos="1435100" algn="l"/>
              </a:tabLst>
            </a:pPr>
            <a:r>
              <a:rPr lang="en-US" sz="2400" dirty="0" err="1"/>
              <a:t>Fixup</a:t>
            </a:r>
            <a:r>
              <a:rPr lang="en-US" sz="2400" dirty="0"/>
              <a:t> (T, z)</a:t>
            </a:r>
          </a:p>
          <a:p>
            <a:pPr marL="0" indent="0">
              <a:lnSpc>
                <a:spcPct val="80000"/>
              </a:lnSpc>
              <a:buNone/>
              <a:tabLst>
                <a:tab pos="542925" algn="l"/>
                <a:tab pos="989013" algn="l"/>
                <a:tab pos="1435100" algn="l"/>
              </a:tabLst>
            </a:pPr>
            <a:r>
              <a:rPr lang="en-US" sz="2400" dirty="0"/>
              <a:t>	while color[p[x]] = RED</a:t>
            </a:r>
          </a:p>
          <a:p>
            <a:pPr marL="0" indent="0">
              <a:lnSpc>
                <a:spcPct val="80000"/>
              </a:lnSpc>
              <a:buNone/>
              <a:tabLst>
                <a:tab pos="542925" algn="l"/>
                <a:tab pos="989013" algn="l"/>
                <a:tab pos="1435100" algn="l"/>
              </a:tabLst>
            </a:pPr>
            <a:r>
              <a:rPr lang="en-US" sz="2400" dirty="0"/>
              <a:t>		do </a:t>
            </a:r>
            <a:r>
              <a:rPr lang="ru-RU" sz="2400" dirty="0"/>
              <a:t>  </a:t>
            </a:r>
            <a:r>
              <a:rPr lang="en-US" sz="2400" dirty="0"/>
              <a:t>if p[z] = left[p[p[z]]]</a:t>
            </a:r>
          </a:p>
          <a:p>
            <a:pPr marL="0" indent="0">
              <a:lnSpc>
                <a:spcPct val="80000"/>
              </a:lnSpc>
              <a:buNone/>
              <a:tabLst>
                <a:tab pos="542925" algn="l"/>
                <a:tab pos="989013" algn="l"/>
                <a:tab pos="1435100" algn="l"/>
              </a:tabLst>
            </a:pPr>
            <a:r>
              <a:rPr lang="en-US" sz="2400" dirty="0"/>
              <a:t>			then y </a:t>
            </a:r>
            <a:r>
              <a:rPr lang="en-US" sz="2400" dirty="0">
                <a:sym typeface="Symbol"/>
              </a:rPr>
              <a:t>right</a:t>
            </a:r>
            <a:r>
              <a:rPr lang="en-US" sz="2400" dirty="0"/>
              <a:t>[p[p[z]]]</a:t>
            </a:r>
          </a:p>
          <a:p>
            <a:pPr marL="0" indent="0">
              <a:lnSpc>
                <a:spcPct val="80000"/>
              </a:lnSpc>
              <a:buNone/>
              <a:tabLst>
                <a:tab pos="542925" algn="l"/>
                <a:tab pos="989013" algn="l"/>
                <a:tab pos="1435100" algn="l"/>
                <a:tab pos="1978025" algn="l"/>
              </a:tabLst>
            </a:pPr>
            <a:r>
              <a:rPr lang="en-US" sz="2400" dirty="0"/>
              <a:t>			</a:t>
            </a:r>
            <a:r>
              <a:rPr lang="ru-RU" sz="2400" dirty="0"/>
              <a:t>     </a:t>
            </a:r>
            <a:r>
              <a:rPr lang="en-US" sz="2400" dirty="0"/>
              <a:t>if color [y] = RED		</a:t>
            </a:r>
            <a:r>
              <a:rPr lang="ru-RU" sz="2400" dirty="0"/>
              <a:t>	              </a:t>
            </a:r>
            <a:r>
              <a:rPr lang="en-US" sz="2400" dirty="0">
                <a:solidFill>
                  <a:srgbClr val="00B050"/>
                </a:solidFill>
              </a:rPr>
              <a:t>//</a:t>
            </a:r>
            <a:r>
              <a:rPr lang="ru-RU" sz="2400" dirty="0">
                <a:solidFill>
                  <a:srgbClr val="00B050"/>
                </a:solidFill>
              </a:rPr>
              <a:t>Случай 1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>
              <a:lnSpc>
                <a:spcPct val="80000"/>
              </a:lnSpc>
              <a:buNone/>
              <a:tabLst>
                <a:tab pos="542925" algn="l"/>
                <a:tab pos="989013" algn="l"/>
                <a:tab pos="1435100" algn="l"/>
                <a:tab pos="1881188" algn="l"/>
                <a:tab pos="2328863" algn="l"/>
              </a:tabLst>
            </a:pPr>
            <a:r>
              <a:rPr lang="en-US" sz="2400" dirty="0"/>
              <a:t>			</a:t>
            </a:r>
            <a:r>
              <a:rPr lang="ru-RU" sz="2400" dirty="0"/>
              <a:t>     </a:t>
            </a:r>
            <a:r>
              <a:rPr lang="en-US" sz="2400" dirty="0"/>
              <a:t>then [p[z]]</a:t>
            </a:r>
            <a:r>
              <a:rPr lang="en-US" sz="2400" dirty="0">
                <a:sym typeface="Symbol"/>
              </a:rPr>
              <a:t>  BLACK</a:t>
            </a:r>
          </a:p>
          <a:p>
            <a:pPr marL="0" indent="0">
              <a:lnSpc>
                <a:spcPct val="80000"/>
              </a:lnSpc>
              <a:buNone/>
              <a:tabLst>
                <a:tab pos="542925" algn="l"/>
                <a:tab pos="989013" algn="l"/>
                <a:tab pos="1435100" algn="l"/>
              </a:tabLst>
            </a:pPr>
            <a:r>
              <a:rPr lang="en-US" sz="2400" dirty="0">
                <a:sym typeface="Symbol"/>
              </a:rPr>
              <a:t>				</a:t>
            </a:r>
            <a:r>
              <a:rPr lang="ru-RU" sz="2400" dirty="0">
                <a:sym typeface="Symbol"/>
              </a:rPr>
              <a:t>     </a:t>
            </a:r>
            <a:r>
              <a:rPr lang="en-US" sz="2400" dirty="0">
                <a:sym typeface="Symbol"/>
              </a:rPr>
              <a:t>  color [p[p[z]]]  RED</a:t>
            </a:r>
          </a:p>
          <a:p>
            <a:pPr marL="0" indent="0">
              <a:lnSpc>
                <a:spcPct val="80000"/>
              </a:lnSpc>
              <a:buNone/>
              <a:tabLst>
                <a:tab pos="542925" algn="l"/>
                <a:tab pos="989013" algn="l"/>
                <a:tab pos="1435100" algn="l"/>
              </a:tabLst>
            </a:pPr>
            <a:r>
              <a:rPr lang="en-US" sz="2400" dirty="0">
                <a:sym typeface="Symbol"/>
              </a:rPr>
              <a:t>				</a:t>
            </a:r>
            <a:r>
              <a:rPr lang="ru-RU" sz="2400" dirty="0">
                <a:sym typeface="Symbol"/>
              </a:rPr>
              <a:t>     </a:t>
            </a:r>
            <a:r>
              <a:rPr lang="en-US" sz="2400" dirty="0">
                <a:sym typeface="Symbol"/>
              </a:rPr>
              <a:t>  z p[p[z]]</a:t>
            </a:r>
          </a:p>
          <a:p>
            <a:pPr marL="0" indent="0">
              <a:lnSpc>
                <a:spcPct val="80000"/>
              </a:lnSpc>
              <a:buNone/>
              <a:tabLst>
                <a:tab pos="542925" algn="l"/>
                <a:tab pos="989013" algn="l"/>
                <a:tab pos="1435100" algn="l"/>
                <a:tab pos="2328863" algn="l"/>
              </a:tabLst>
            </a:pPr>
            <a:r>
              <a:rPr lang="en-US" sz="2400" dirty="0">
                <a:sym typeface="Symbol"/>
              </a:rPr>
              <a:t>			</a:t>
            </a:r>
            <a:r>
              <a:rPr lang="ru-RU" sz="2400" dirty="0">
                <a:sym typeface="Symbol"/>
              </a:rPr>
              <a:t>     </a:t>
            </a:r>
            <a:r>
              <a:rPr lang="en-US" sz="2400" dirty="0">
                <a:sym typeface="Symbol"/>
              </a:rPr>
              <a:t>else if z = right[p[z]]</a:t>
            </a:r>
            <a:r>
              <a:rPr lang="ru-RU" sz="2400" dirty="0">
                <a:sym typeface="Symbol"/>
              </a:rPr>
              <a:t>			</a:t>
            </a:r>
            <a:r>
              <a:rPr lang="en-US" sz="2400" dirty="0">
                <a:solidFill>
                  <a:srgbClr val="00B050"/>
                </a:solidFill>
                <a:sym typeface="Symbol"/>
              </a:rPr>
              <a:t>//</a:t>
            </a:r>
            <a:r>
              <a:rPr lang="ru-RU" sz="2400" dirty="0">
                <a:solidFill>
                  <a:srgbClr val="00B050"/>
                </a:solidFill>
                <a:sym typeface="Symbol"/>
              </a:rPr>
              <a:t> Случай 2</a:t>
            </a:r>
            <a:endParaRPr lang="en-US" sz="2400" dirty="0">
              <a:solidFill>
                <a:srgbClr val="00B050"/>
              </a:solidFill>
              <a:sym typeface="Symbol"/>
            </a:endParaRPr>
          </a:p>
          <a:p>
            <a:pPr marL="0" indent="0">
              <a:lnSpc>
                <a:spcPct val="80000"/>
              </a:lnSpc>
              <a:buNone/>
              <a:tabLst>
                <a:tab pos="542925" algn="l"/>
                <a:tab pos="989013" algn="l"/>
                <a:tab pos="1435100" algn="l"/>
                <a:tab pos="2955925" algn="l"/>
              </a:tabLst>
            </a:pPr>
            <a:r>
              <a:rPr lang="en-US" sz="2400" dirty="0">
                <a:sym typeface="Symbol"/>
              </a:rPr>
              <a:t>			</a:t>
            </a:r>
            <a:r>
              <a:rPr lang="ru-RU" sz="2400" dirty="0">
                <a:sym typeface="Symbol"/>
              </a:rPr>
              <a:t>             </a:t>
            </a:r>
            <a:r>
              <a:rPr lang="en-US" sz="2400" dirty="0">
                <a:sym typeface="Symbol"/>
              </a:rPr>
              <a:t>then z p[z]</a:t>
            </a:r>
          </a:p>
          <a:p>
            <a:pPr marL="0" indent="0">
              <a:lnSpc>
                <a:spcPct val="80000"/>
              </a:lnSpc>
              <a:buNone/>
              <a:tabLst>
                <a:tab pos="542925" algn="l"/>
                <a:tab pos="989013" algn="l"/>
                <a:tab pos="1435100" algn="l"/>
                <a:tab pos="3498850" algn="l"/>
              </a:tabLst>
            </a:pPr>
            <a:r>
              <a:rPr lang="en-US" sz="2400" dirty="0">
                <a:sym typeface="Symbol"/>
              </a:rPr>
              <a:t>			</a:t>
            </a:r>
            <a:r>
              <a:rPr lang="ru-RU" sz="2400" dirty="0">
                <a:sym typeface="Symbol"/>
              </a:rPr>
              <a:t>                      </a:t>
            </a:r>
            <a:r>
              <a:rPr lang="en-US" sz="2400" dirty="0" err="1">
                <a:sym typeface="Symbol"/>
              </a:rPr>
              <a:t>Left_Rotate</a:t>
            </a:r>
            <a:r>
              <a:rPr lang="en-US" sz="2400" dirty="0">
                <a:sym typeface="Symbol"/>
              </a:rPr>
              <a:t> (T, z)</a:t>
            </a:r>
          </a:p>
          <a:p>
            <a:pPr marL="0" indent="0">
              <a:lnSpc>
                <a:spcPct val="80000"/>
              </a:lnSpc>
              <a:buNone/>
              <a:tabLst>
                <a:tab pos="542925" algn="l"/>
                <a:tab pos="989013" algn="l"/>
                <a:tab pos="1435100" algn="l"/>
                <a:tab pos="2955925" algn="l"/>
              </a:tabLst>
            </a:pPr>
            <a:r>
              <a:rPr lang="en-US" sz="2400" dirty="0">
                <a:sym typeface="Symbol"/>
              </a:rPr>
              <a:t>			</a:t>
            </a:r>
            <a:r>
              <a:rPr lang="ru-RU" sz="2400" dirty="0">
                <a:sym typeface="Symbol"/>
              </a:rPr>
              <a:t>                     </a:t>
            </a:r>
            <a:r>
              <a:rPr lang="en-US" sz="2400" dirty="0">
                <a:sym typeface="Symbol"/>
              </a:rPr>
              <a:t>color[p[z]]  BLACK</a:t>
            </a:r>
            <a:r>
              <a:rPr lang="ru-RU" sz="2400" dirty="0">
                <a:sym typeface="Symbol"/>
              </a:rPr>
              <a:t>		</a:t>
            </a:r>
            <a:r>
              <a:rPr lang="en-US" sz="2400" dirty="0">
                <a:solidFill>
                  <a:srgbClr val="00B050"/>
                </a:solidFill>
                <a:sym typeface="Symbol"/>
              </a:rPr>
              <a:t>//</a:t>
            </a:r>
            <a:r>
              <a:rPr lang="ru-RU" sz="2400" dirty="0">
                <a:solidFill>
                  <a:srgbClr val="00B050"/>
                </a:solidFill>
                <a:sym typeface="Symbol"/>
              </a:rPr>
              <a:t> Случай 3</a:t>
            </a:r>
            <a:endParaRPr lang="en-US" sz="2400" dirty="0">
              <a:solidFill>
                <a:srgbClr val="00B050"/>
              </a:solidFill>
              <a:sym typeface="Symbol"/>
            </a:endParaRPr>
          </a:p>
          <a:p>
            <a:pPr marL="0" indent="0">
              <a:lnSpc>
                <a:spcPct val="80000"/>
              </a:lnSpc>
              <a:buNone/>
              <a:tabLst>
                <a:tab pos="542925" algn="l"/>
                <a:tab pos="989013" algn="l"/>
                <a:tab pos="1435100" algn="l"/>
                <a:tab pos="2955925" algn="l"/>
              </a:tabLst>
            </a:pPr>
            <a:r>
              <a:rPr lang="en-US" sz="2400" dirty="0">
                <a:sym typeface="Symbol"/>
              </a:rPr>
              <a:t>			</a:t>
            </a:r>
            <a:r>
              <a:rPr lang="ru-RU" sz="2400" dirty="0">
                <a:sym typeface="Symbol"/>
              </a:rPr>
              <a:t>                     </a:t>
            </a:r>
            <a:r>
              <a:rPr lang="en-US" sz="2400" dirty="0">
                <a:sym typeface="Symbol"/>
              </a:rPr>
              <a:t>color [p[p[z]]]  RED</a:t>
            </a:r>
          </a:p>
          <a:p>
            <a:pPr marL="0" indent="0">
              <a:lnSpc>
                <a:spcPct val="80000"/>
              </a:lnSpc>
              <a:buNone/>
              <a:tabLst>
                <a:tab pos="542925" algn="l"/>
                <a:tab pos="989013" algn="l"/>
                <a:tab pos="1435100" algn="l"/>
                <a:tab pos="2955925" algn="l"/>
              </a:tabLst>
            </a:pPr>
            <a:r>
              <a:rPr lang="en-US" sz="2400" dirty="0">
                <a:sym typeface="Symbol"/>
              </a:rPr>
              <a:t>			</a:t>
            </a:r>
            <a:r>
              <a:rPr lang="ru-RU" sz="2400" dirty="0">
                <a:sym typeface="Symbol"/>
              </a:rPr>
              <a:t>                      </a:t>
            </a:r>
            <a:r>
              <a:rPr lang="en-US" sz="2400" dirty="0" err="1">
                <a:sym typeface="Symbol"/>
              </a:rPr>
              <a:t>Right_Rotate</a:t>
            </a:r>
            <a:r>
              <a:rPr lang="en-US" sz="2400" dirty="0">
                <a:sym typeface="Symbol"/>
              </a:rPr>
              <a:t>(T, p[p[z]])</a:t>
            </a:r>
          </a:p>
          <a:p>
            <a:pPr marL="0" indent="0">
              <a:lnSpc>
                <a:spcPct val="80000"/>
              </a:lnSpc>
              <a:buNone/>
              <a:tabLst>
                <a:tab pos="542925" algn="l"/>
                <a:tab pos="989013" algn="l"/>
                <a:tab pos="1435100" algn="l"/>
              </a:tabLst>
            </a:pPr>
            <a:r>
              <a:rPr lang="en-US" sz="2400" dirty="0"/>
              <a:t>			else (</a:t>
            </a:r>
            <a:r>
              <a:rPr lang="ru-RU" sz="2400" dirty="0"/>
              <a:t>симметрично с </a:t>
            </a:r>
            <a:r>
              <a:rPr lang="en-US" sz="2400" dirty="0"/>
              <a:t>then)</a:t>
            </a:r>
          </a:p>
          <a:p>
            <a:pPr marL="0" indent="0">
              <a:lnSpc>
                <a:spcPct val="80000"/>
              </a:lnSpc>
              <a:buNone/>
              <a:tabLst>
                <a:tab pos="542925" algn="l"/>
                <a:tab pos="989013" algn="l"/>
                <a:tab pos="1435100" algn="l"/>
              </a:tabLst>
            </a:pPr>
            <a:r>
              <a:rPr lang="en-US" sz="2400" dirty="0"/>
              <a:t>	color[root[T]] </a:t>
            </a:r>
            <a:r>
              <a:rPr lang="en-US" sz="2400" dirty="0">
                <a:sym typeface="Symbol"/>
              </a:rPr>
              <a:t> RLACK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9" grpId="0" build="p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/>
          <p:cNvSpPr>
            <a:spLocks noGrp="1"/>
          </p:cNvSpPr>
          <p:nvPr>
            <p:ph type="title"/>
          </p:nvPr>
        </p:nvSpPr>
        <p:spPr>
          <a:xfrm>
            <a:off x="179388" y="1"/>
            <a:ext cx="8785225" cy="620688"/>
          </a:xfrm>
        </p:spPr>
        <p:txBody>
          <a:bodyPr/>
          <a:lstStyle/>
          <a:p>
            <a:pPr algn="l"/>
            <a:r>
              <a:rPr lang="ru-RU" sz="2800" dirty="0">
                <a:solidFill>
                  <a:srgbClr val="000099"/>
                </a:solidFill>
              </a:rPr>
              <a:t>Красный предок, красный «дядя» – случай 1 </a:t>
            </a:r>
          </a:p>
        </p:txBody>
      </p:sp>
      <p:sp>
        <p:nvSpPr>
          <p:cNvPr id="108547" name="Rectangle 3"/>
          <p:cNvSpPr>
            <a:spLocks noGrp="1"/>
          </p:cNvSpPr>
          <p:nvPr>
            <p:ph type="body" idx="1"/>
          </p:nvPr>
        </p:nvSpPr>
        <p:spPr>
          <a:xfrm>
            <a:off x="395536" y="692150"/>
            <a:ext cx="8568952" cy="1080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Простое перекрашивание избавляет нас </a:t>
            </a:r>
            <a:r>
              <a:rPr lang="en-US" sz="2000" dirty="0"/>
              <a:t> </a:t>
            </a:r>
            <a:r>
              <a:rPr lang="ru-RU" sz="2000" dirty="0"/>
              <a:t>от красно-красного нарушения. После перекраски нужно проверить "дедушку" нового узла (узел </a:t>
            </a:r>
            <a:r>
              <a:rPr lang="en-US" sz="2000" dirty="0"/>
              <a:t>C</a:t>
            </a:r>
            <a:r>
              <a:rPr lang="ru-RU" sz="2000" dirty="0"/>
              <a:t>), поскольку он может оказаться красным. 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1988840"/>
            <a:ext cx="6481186" cy="4680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7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2"/>
          <p:cNvSpPr>
            <a:spLocks noGrp="1"/>
          </p:cNvSpPr>
          <p:nvPr>
            <p:ph type="title"/>
          </p:nvPr>
        </p:nvSpPr>
        <p:spPr>
          <a:xfrm>
            <a:off x="250825" y="188913"/>
            <a:ext cx="8229600" cy="633412"/>
          </a:xfrm>
        </p:spPr>
        <p:txBody>
          <a:bodyPr/>
          <a:lstStyle/>
          <a:p>
            <a:pPr algn="l"/>
            <a:r>
              <a:rPr lang="ru-RU" sz="2800" dirty="0">
                <a:solidFill>
                  <a:srgbClr val="000099"/>
                </a:solidFill>
              </a:rPr>
              <a:t>Красный предок, черный «дядя» - случаи 2 и 3</a:t>
            </a:r>
            <a:endParaRPr lang="ru-RU" sz="2800" b="1" dirty="0">
              <a:solidFill>
                <a:srgbClr val="000099"/>
              </a:solidFill>
            </a:endParaRPr>
          </a:p>
        </p:txBody>
      </p:sp>
      <p:pic>
        <p:nvPicPr>
          <p:cNvPr id="3" name="Объект 2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01" y="2924944"/>
            <a:ext cx="9010816" cy="2116494"/>
          </a:xfr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2016224" cy="504056"/>
          </a:xfrm>
        </p:spPr>
        <p:txBody>
          <a:bodyPr>
            <a:noAutofit/>
          </a:bodyPr>
          <a:lstStyle/>
          <a:p>
            <a:pPr algn="l"/>
            <a:r>
              <a:rPr lang="ru-RU" sz="3200" dirty="0"/>
              <a:t>Пример</a:t>
            </a:r>
            <a:endParaRPr lang="ru-RU" sz="3200" dirty="0">
              <a:solidFill>
                <a:srgbClr val="00B050"/>
              </a:solidFill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3" y="188640"/>
            <a:ext cx="6259429" cy="3168352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3356992"/>
            <a:ext cx="6307683" cy="3312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740" y="2821363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B050"/>
                </a:solidFill>
              </a:rPr>
              <a:t>Случай 1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71740" y="6136565"/>
            <a:ext cx="10438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B050"/>
                </a:solidFill>
              </a:rPr>
              <a:t>Случай 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93982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179" y="116632"/>
            <a:ext cx="3744416" cy="562074"/>
          </a:xfrm>
        </p:spPr>
        <p:txBody>
          <a:bodyPr>
            <a:noAutofit/>
          </a:bodyPr>
          <a:lstStyle/>
          <a:p>
            <a:pPr algn="l"/>
            <a:r>
              <a:rPr lang="ru-RU" sz="3200" dirty="0"/>
              <a:t>Пример, окончание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4938" y="927684"/>
            <a:ext cx="3831923" cy="2364002"/>
          </a:xfrm>
        </p:spPr>
      </p:pic>
      <p:sp>
        <p:nvSpPr>
          <p:cNvPr id="5" name="Прямоугольник 4"/>
          <p:cNvSpPr/>
          <p:nvPr/>
        </p:nvSpPr>
        <p:spPr>
          <a:xfrm>
            <a:off x="121659" y="678706"/>
            <a:ext cx="10438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B050"/>
                </a:solidFill>
              </a:rPr>
              <a:t>Случай 2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90715" y="3964414"/>
            <a:ext cx="10438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B050"/>
                </a:solidFill>
              </a:rPr>
              <a:t>Случай 3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60" y="3717032"/>
            <a:ext cx="4112457" cy="266429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B910620-3BDD-41BB-B90D-56E8A4303C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872" y="1059438"/>
            <a:ext cx="4250830" cy="2364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535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2"/>
          <p:cNvSpPr>
            <a:spLocks noGrp="1"/>
          </p:cNvSpPr>
          <p:nvPr>
            <p:ph type="title"/>
          </p:nvPr>
        </p:nvSpPr>
        <p:spPr>
          <a:xfrm>
            <a:off x="285720" y="214290"/>
            <a:ext cx="8229600" cy="633412"/>
          </a:xfrm>
        </p:spPr>
        <p:txBody>
          <a:bodyPr/>
          <a:lstStyle/>
          <a:p>
            <a:pPr algn="l"/>
            <a:r>
              <a:rPr lang="ru-RU" sz="2800" dirty="0">
                <a:solidFill>
                  <a:srgbClr val="404F21"/>
                </a:solidFill>
              </a:rPr>
              <a:t>Удаление узла</a:t>
            </a:r>
          </a:p>
        </p:txBody>
      </p:sp>
      <p:sp>
        <p:nvSpPr>
          <p:cNvPr id="114691" name="Rectangle 3"/>
          <p:cNvSpPr>
            <a:spLocks noGrp="1"/>
          </p:cNvSpPr>
          <p:nvPr>
            <p:ph type="body" idx="1"/>
          </p:nvPr>
        </p:nvSpPr>
        <p:spPr>
          <a:xfrm>
            <a:off x="395288" y="981075"/>
            <a:ext cx="8229600" cy="4525963"/>
          </a:xfrm>
        </p:spPr>
        <p:txBody>
          <a:bodyPr/>
          <a:lstStyle/>
          <a:p>
            <a:pPr>
              <a:lnSpc>
                <a:spcPct val="90000"/>
              </a:lnSpc>
              <a:buFont typeface="Arial" charset="0"/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Если удаляемый узел красный все правила сохраняются и все прекрасно. </a:t>
            </a:r>
          </a:p>
          <a:p>
            <a:pPr>
              <a:lnSpc>
                <a:spcPct val="90000"/>
              </a:lnSpc>
              <a:buFont typeface="Arial" charset="0"/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Если же удаляемый узел черный, требуется значительное количество кода, для поддержания дерева частично сбалансированным. </a:t>
            </a:r>
          </a:p>
          <a:p>
            <a:pPr>
              <a:lnSpc>
                <a:spcPct val="90000"/>
              </a:lnSpc>
              <a:buFont typeface="Arial" charset="0"/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Как и в случае вставки в красно-черное дерево, здесь также существует несколько различных случаев.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/>
          <p:cNvSpPr>
            <a:spLocks noGrp="1"/>
          </p:cNvSpPr>
          <p:nvPr>
            <p:ph type="title"/>
          </p:nvPr>
        </p:nvSpPr>
        <p:spPr>
          <a:xfrm>
            <a:off x="285720" y="214290"/>
            <a:ext cx="8229600" cy="777875"/>
          </a:xfrm>
        </p:spPr>
        <p:txBody>
          <a:bodyPr/>
          <a:lstStyle/>
          <a:p>
            <a:pPr algn="l"/>
            <a:r>
              <a:rPr lang="ru-RU" sz="2800" dirty="0">
                <a:solidFill>
                  <a:srgbClr val="FF0000"/>
                </a:solidFill>
              </a:rPr>
              <a:t>Сравнение с </a:t>
            </a:r>
            <a:r>
              <a:rPr lang="ru-RU" sz="2800" dirty="0" err="1">
                <a:solidFill>
                  <a:srgbClr val="FF0000"/>
                </a:solidFill>
              </a:rPr>
              <a:t>АВЛ-деревом</a:t>
            </a:r>
            <a:endParaRPr lang="ru-RU" sz="2800" dirty="0">
              <a:solidFill>
                <a:srgbClr val="FF0000"/>
              </a:solidFill>
            </a:endParaRPr>
          </a:p>
        </p:txBody>
      </p:sp>
      <p:sp>
        <p:nvSpPr>
          <p:cNvPr id="102403" name="Rectangle 3"/>
          <p:cNvSpPr>
            <a:spLocks noGrp="1"/>
          </p:cNvSpPr>
          <p:nvPr>
            <p:ph type="body" idx="1"/>
          </p:nvPr>
        </p:nvSpPr>
        <p:spPr>
          <a:xfrm>
            <a:off x="179388" y="1125538"/>
            <a:ext cx="8785225" cy="5183782"/>
          </a:xfrm>
        </p:spPr>
        <p:txBody>
          <a:bodyPr/>
          <a:lstStyle/>
          <a:p>
            <a:pPr>
              <a:lnSpc>
                <a:spcPct val="90000"/>
              </a:lnSpc>
              <a:buFont typeface="Arial" charset="0"/>
              <a:buNone/>
            </a:pPr>
            <a:r>
              <a:rPr lang="ru-RU" sz="2400" dirty="0"/>
              <a:t>Пусть высота дерева </a:t>
            </a:r>
            <a:r>
              <a:rPr lang="ru-RU" sz="2400" i="1" dirty="0" err="1"/>
              <a:t>h</a:t>
            </a:r>
            <a:r>
              <a:rPr lang="ru-RU" sz="2400" dirty="0"/>
              <a:t>, минимальное количество листьев </a:t>
            </a:r>
            <a:r>
              <a:rPr lang="ru-RU" sz="2400" i="1" dirty="0"/>
              <a:t>N</a:t>
            </a:r>
            <a:r>
              <a:rPr lang="ru-RU" sz="2400" dirty="0"/>
              <a:t>. </a:t>
            </a:r>
          </a:p>
          <a:p>
            <a:pPr>
              <a:lnSpc>
                <a:spcPct val="90000"/>
              </a:lnSpc>
              <a:buFont typeface="Arial" charset="0"/>
              <a:buNone/>
            </a:pPr>
            <a:r>
              <a:rPr lang="ru-RU" sz="2400" dirty="0"/>
              <a:t>Тогда:</a:t>
            </a:r>
          </a:p>
          <a:p>
            <a:pPr>
              <a:lnSpc>
                <a:spcPct val="90000"/>
              </a:lnSpc>
            </a:pPr>
            <a:r>
              <a:rPr lang="ru-RU" sz="2400" dirty="0"/>
              <a:t>для </a:t>
            </a:r>
            <a:r>
              <a:rPr lang="ru-RU" sz="2400" dirty="0" err="1"/>
              <a:t>АВЛ-дерева</a:t>
            </a:r>
            <a:r>
              <a:rPr lang="ru-RU" sz="2400" dirty="0"/>
              <a:t> </a:t>
            </a:r>
            <a:r>
              <a:rPr lang="ru-RU" sz="2400" i="1" dirty="0"/>
              <a:t>N</a:t>
            </a:r>
            <a:r>
              <a:rPr lang="ru-RU" sz="2400" dirty="0"/>
              <a:t>(</a:t>
            </a:r>
            <a:r>
              <a:rPr lang="ru-RU" sz="2400" i="1" dirty="0" err="1"/>
              <a:t>h</a:t>
            </a:r>
            <a:r>
              <a:rPr lang="ru-RU" sz="2400" dirty="0"/>
              <a:t>) = </a:t>
            </a:r>
            <a:r>
              <a:rPr lang="ru-RU" sz="2400" i="1" dirty="0"/>
              <a:t>N</a:t>
            </a:r>
            <a:r>
              <a:rPr lang="ru-RU" sz="2400" dirty="0"/>
              <a:t>(</a:t>
            </a:r>
            <a:r>
              <a:rPr lang="ru-RU" sz="2400" i="1" dirty="0" err="1"/>
              <a:t>h</a:t>
            </a:r>
            <a:r>
              <a:rPr lang="ru-RU" sz="2400" dirty="0"/>
              <a:t> − 1) + </a:t>
            </a:r>
            <a:r>
              <a:rPr lang="ru-RU" sz="2400" i="1" dirty="0"/>
              <a:t>N</a:t>
            </a:r>
            <a:r>
              <a:rPr lang="ru-RU" sz="2400" dirty="0"/>
              <a:t>(</a:t>
            </a:r>
            <a:r>
              <a:rPr lang="ru-RU" sz="2400" i="1" dirty="0" err="1"/>
              <a:t>h</a:t>
            </a:r>
            <a:r>
              <a:rPr lang="ru-RU" sz="2400" dirty="0"/>
              <a:t> − 2). </a:t>
            </a:r>
          </a:p>
          <a:p>
            <a:pPr>
              <a:lnSpc>
                <a:spcPct val="90000"/>
              </a:lnSpc>
              <a:buFont typeface="Arial" charset="0"/>
              <a:buNone/>
            </a:pPr>
            <a:r>
              <a:rPr lang="ru-RU" sz="2400" dirty="0"/>
              <a:t>   Поскольку </a:t>
            </a:r>
            <a:r>
              <a:rPr lang="ru-RU" sz="2400" i="1" dirty="0"/>
              <a:t>N</a:t>
            </a:r>
            <a:r>
              <a:rPr lang="ru-RU" sz="2400" dirty="0"/>
              <a:t>(0) = 1, </a:t>
            </a:r>
            <a:r>
              <a:rPr lang="ru-RU" sz="2400" i="1" dirty="0"/>
              <a:t>N</a:t>
            </a:r>
            <a:r>
              <a:rPr lang="ru-RU" sz="2400" dirty="0"/>
              <a:t>(1) = 1, N(</a:t>
            </a:r>
            <a:r>
              <a:rPr lang="ru-RU" sz="2400" dirty="0" err="1"/>
              <a:t>h</a:t>
            </a:r>
            <a:r>
              <a:rPr lang="ru-RU" sz="2400" dirty="0"/>
              <a:t>) растёт как последовательность Фибоначчи, следовательно, </a:t>
            </a:r>
            <a:r>
              <a:rPr lang="ru-RU" sz="2400" i="1" dirty="0"/>
              <a:t>N</a:t>
            </a:r>
            <a:r>
              <a:rPr lang="ru-RU" sz="2400" dirty="0"/>
              <a:t>(</a:t>
            </a:r>
            <a:r>
              <a:rPr lang="ru-RU" sz="2400" i="1" dirty="0" err="1"/>
              <a:t>h</a:t>
            </a:r>
            <a:r>
              <a:rPr lang="ru-RU" sz="2400" dirty="0"/>
              <a:t>) = Θ(</a:t>
            </a:r>
            <a:r>
              <a:rPr lang="ru-RU" sz="2400" dirty="0" err="1"/>
              <a:t>λ</a:t>
            </a:r>
            <a:r>
              <a:rPr lang="ru-RU" sz="2400" i="1" baseline="30000" dirty="0" err="1"/>
              <a:t>h</a:t>
            </a:r>
            <a:r>
              <a:rPr lang="ru-RU" sz="2400" dirty="0"/>
              <a:t>), где </a:t>
            </a:r>
          </a:p>
          <a:p>
            <a:pPr>
              <a:lnSpc>
                <a:spcPct val="90000"/>
              </a:lnSpc>
              <a:buFont typeface="Arial" charset="0"/>
              <a:buNone/>
            </a:pPr>
            <a:endParaRPr lang="ru-RU" sz="2400" dirty="0"/>
          </a:p>
          <a:p>
            <a:pPr>
              <a:lnSpc>
                <a:spcPct val="90000"/>
              </a:lnSpc>
              <a:buFont typeface="Arial" charset="0"/>
              <a:buNone/>
            </a:pPr>
            <a:endParaRPr lang="ru-RU" sz="2400" dirty="0"/>
          </a:p>
          <a:p>
            <a:pPr>
              <a:lnSpc>
                <a:spcPct val="90000"/>
              </a:lnSpc>
            </a:pPr>
            <a:r>
              <a:rPr lang="ru-RU" sz="2400" dirty="0"/>
              <a:t>для красно-чёрного дерева </a:t>
            </a:r>
          </a:p>
          <a:p>
            <a:pPr>
              <a:lnSpc>
                <a:spcPct val="90000"/>
              </a:lnSpc>
              <a:buFont typeface="Arial" charset="0"/>
              <a:buNone/>
            </a:pPr>
            <a:endParaRPr lang="ru-RU" sz="2400" dirty="0"/>
          </a:p>
          <a:p>
            <a:pPr>
              <a:lnSpc>
                <a:spcPct val="90000"/>
              </a:lnSpc>
              <a:buFont typeface="Arial" charset="0"/>
              <a:buNone/>
            </a:pPr>
            <a:r>
              <a:rPr lang="ru-RU" sz="2400" dirty="0"/>
              <a:t>Следовательно, при том же количестве листьев красно-чёрное</a:t>
            </a:r>
          </a:p>
          <a:p>
            <a:pPr>
              <a:lnSpc>
                <a:spcPct val="90000"/>
              </a:lnSpc>
              <a:buFont typeface="Arial" charset="0"/>
              <a:buNone/>
            </a:pPr>
            <a:r>
              <a:rPr lang="ru-RU" sz="2400" dirty="0"/>
              <a:t>дерево может быть выше </a:t>
            </a:r>
            <a:r>
              <a:rPr lang="ru-RU" sz="2400" dirty="0" err="1"/>
              <a:t>АВЛ-дерева</a:t>
            </a:r>
            <a:r>
              <a:rPr lang="ru-RU" sz="2400" dirty="0"/>
              <a:t>, но не более чем 	</a:t>
            </a:r>
          </a:p>
          <a:p>
            <a:pPr>
              <a:lnSpc>
                <a:spcPct val="90000"/>
              </a:lnSpc>
              <a:buFont typeface="Arial" charset="0"/>
              <a:buNone/>
            </a:pPr>
            <a:r>
              <a:rPr lang="ru-RU" sz="2400" dirty="0"/>
              <a:t>				раз.</a:t>
            </a:r>
          </a:p>
          <a:p>
            <a:pPr>
              <a:lnSpc>
                <a:spcPct val="90000"/>
              </a:lnSpc>
              <a:buFont typeface="Arial" charset="0"/>
              <a:buNone/>
            </a:pPr>
            <a:endParaRPr lang="ru-RU" sz="2400" dirty="0"/>
          </a:p>
          <a:p>
            <a:pPr>
              <a:lnSpc>
                <a:spcPct val="90000"/>
              </a:lnSpc>
              <a:buFont typeface="Arial" charset="0"/>
              <a:buNone/>
            </a:pPr>
            <a:endParaRPr lang="ru-RU" sz="2400" dirty="0"/>
          </a:p>
        </p:txBody>
      </p:sp>
      <p:pic>
        <p:nvPicPr>
          <p:cNvPr id="102404" name="Picture 4" descr="\lambda=(\sqrt{5}+1)/2\approx 1,6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43213" y="3068638"/>
            <a:ext cx="2449512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05" name="Picture 5" descr="N(h)\ge 2^{(h-1)/2} = \Theta(\sqrt{2}^h)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0" y="3789363"/>
            <a:ext cx="3024188" cy="379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06" name="Picture 6" descr="\log \lambda / \log \sqrt{2} \approx 1,38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1188" y="5589588"/>
            <a:ext cx="2232025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78598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2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2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2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2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4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4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24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24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2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2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/>
          <p:cNvSpPr>
            <a:spLocks noGrp="1"/>
          </p:cNvSpPr>
          <p:nvPr>
            <p:ph type="title"/>
          </p:nvPr>
        </p:nvSpPr>
        <p:spPr>
          <a:xfrm>
            <a:off x="357158" y="214290"/>
            <a:ext cx="8229600" cy="561975"/>
          </a:xfrm>
        </p:spPr>
        <p:txBody>
          <a:bodyPr>
            <a:normAutofit fontScale="90000"/>
          </a:bodyPr>
          <a:lstStyle/>
          <a:p>
            <a:pPr algn="l"/>
            <a:r>
              <a:rPr lang="ru-RU" sz="2800" dirty="0">
                <a:solidFill>
                  <a:srgbClr val="404F21"/>
                </a:solidFill>
              </a:rPr>
              <a:t>Поиск, вставка, удаление</a:t>
            </a:r>
            <a:r>
              <a:rPr lang="ru-RU" sz="4000" dirty="0">
                <a:solidFill>
                  <a:srgbClr val="404F21"/>
                </a:solidFill>
              </a:rPr>
              <a:t> </a:t>
            </a:r>
          </a:p>
        </p:txBody>
      </p:sp>
      <p:sp>
        <p:nvSpPr>
          <p:cNvPr id="104451" name="Rectangle 3"/>
          <p:cNvSpPr>
            <a:spLocks noGrp="1"/>
          </p:cNvSpPr>
          <p:nvPr>
            <p:ph type="body" idx="1"/>
          </p:nvPr>
        </p:nvSpPr>
        <p:spPr>
          <a:xfrm>
            <a:off x="323850" y="1052512"/>
            <a:ext cx="8229600" cy="5544839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 typeface="Arial" charset="0"/>
              <a:buNone/>
            </a:pPr>
            <a:r>
              <a:rPr lang="ru-RU" sz="2400" b="1" dirty="0"/>
              <a:t>Поиск. </a:t>
            </a:r>
            <a:r>
              <a:rPr lang="ru-RU" sz="2400" dirty="0"/>
              <a:t>Поскольку красно-чёрное дерево, в худшем случае, выше, поиск в нём медленнее, но проигрыш по времени не превышает 40%.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endParaRPr lang="ru-RU" sz="2400" b="1" dirty="0"/>
          </a:p>
          <a:p>
            <a:pPr>
              <a:lnSpc>
                <a:spcPct val="80000"/>
              </a:lnSpc>
              <a:buFont typeface="Arial" charset="0"/>
              <a:buNone/>
            </a:pPr>
            <a:r>
              <a:rPr lang="ru-RU" sz="2400" b="1" dirty="0"/>
              <a:t>Вставка. </a:t>
            </a:r>
            <a:r>
              <a:rPr lang="ru-RU" sz="2400" dirty="0"/>
              <a:t>Вставка требует до 2 поворотов в обоих видах деревьев. Однако из-за большей высоты красно-чёрного дерева вставка может занимать больше времени.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endParaRPr lang="ru-RU" sz="2400" b="1" dirty="0"/>
          </a:p>
          <a:p>
            <a:pPr>
              <a:lnSpc>
                <a:spcPct val="80000"/>
              </a:lnSpc>
              <a:buFont typeface="Arial" charset="0"/>
              <a:buNone/>
            </a:pPr>
            <a:r>
              <a:rPr lang="ru-RU" sz="2400" b="1" dirty="0"/>
              <a:t>Удаление. </a:t>
            </a:r>
            <a:r>
              <a:rPr lang="ru-RU" sz="2400" dirty="0"/>
              <a:t>Удаление из красно-черного дерева требует до 3 поворотов, в </a:t>
            </a:r>
            <a:r>
              <a:rPr lang="ru-RU" sz="2400" dirty="0" err="1"/>
              <a:t>АВЛ-дереве</a:t>
            </a:r>
            <a:r>
              <a:rPr lang="ru-RU" sz="2400" dirty="0"/>
              <a:t> оно может потребовать числа поворотов до корня. Поэтому удаление из красно-чёрного дерева быстрее, чем из АВЛ-дерева.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endParaRPr lang="ru-RU" sz="2400" b="1" dirty="0"/>
          </a:p>
          <a:p>
            <a:pPr>
              <a:lnSpc>
                <a:spcPct val="80000"/>
              </a:lnSpc>
              <a:buFont typeface="Arial" charset="0"/>
              <a:buNone/>
            </a:pPr>
            <a:r>
              <a:rPr lang="ru-RU" sz="2400" b="1" dirty="0"/>
              <a:t>Память. </a:t>
            </a:r>
            <a:r>
              <a:rPr lang="ru-RU" sz="2400" dirty="0"/>
              <a:t>АВЛ-дерево в каждом узле хранит высоту (целое число). Красно-чёрное дерево в каждом узле хранит цвет (1 бит). Таким образом, красно-чёрное дерево может быть экономичнее.</a:t>
            </a:r>
          </a:p>
        </p:txBody>
      </p:sp>
    </p:spTree>
    <p:extLst>
      <p:ext uri="{BB962C8B-B14F-4D97-AF65-F5344CB8AC3E}">
        <p14:creationId xmlns:p14="http://schemas.microsoft.com/office/powerpoint/2010/main" val="2521193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-99392"/>
            <a:ext cx="8229600" cy="1143000"/>
          </a:xfrm>
        </p:spPr>
        <p:txBody>
          <a:bodyPr/>
          <a:lstStyle/>
          <a:p>
            <a:r>
              <a:rPr lang="en-US" dirty="0"/>
              <a:t>Splay </a:t>
            </a:r>
            <a:r>
              <a:rPr lang="ru-RU" dirty="0"/>
              <a:t>деревья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 err="1">
                <a:solidFill>
                  <a:srgbClr val="FF0000"/>
                </a:solidFill>
              </a:rPr>
              <a:t>Сплей</a:t>
            </a:r>
            <a:r>
              <a:rPr lang="ru-RU" b="1" dirty="0">
                <a:solidFill>
                  <a:srgbClr val="FF0000"/>
                </a:solidFill>
              </a:rPr>
              <a:t>-дерево (</a:t>
            </a:r>
            <a:r>
              <a:rPr lang="ru-RU" b="1" dirty="0" err="1">
                <a:solidFill>
                  <a:srgbClr val="FF0000"/>
                </a:solidFill>
              </a:rPr>
              <a:t>Splay-tree</a:t>
            </a:r>
            <a:r>
              <a:rPr lang="ru-RU" b="1" dirty="0">
                <a:solidFill>
                  <a:srgbClr val="FF0000"/>
                </a:solidFill>
              </a:rPr>
              <a:t>)</a:t>
            </a:r>
            <a:r>
              <a:rPr lang="ru-RU" dirty="0"/>
              <a:t> — это двоичное дерево поиска. </a:t>
            </a:r>
          </a:p>
          <a:p>
            <a:pPr marL="0" indent="0">
              <a:buNone/>
            </a:pPr>
            <a:r>
              <a:rPr lang="ru-RU" dirty="0"/>
              <a:t>Оно позволяет находить быстрее те данные, которые использовались недавно. </a:t>
            </a:r>
          </a:p>
          <a:p>
            <a:pPr marL="0" indent="0">
              <a:buNone/>
            </a:pPr>
            <a:r>
              <a:rPr lang="ru-RU" dirty="0"/>
              <a:t>Относится к разряду сливаемых и самобалансирующихся деревьев.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 err="1"/>
              <a:t>Сплей</a:t>
            </a:r>
            <a:r>
              <a:rPr lang="ru-RU" dirty="0"/>
              <a:t>-дерево было придумано Робертом </a:t>
            </a:r>
            <a:r>
              <a:rPr lang="ru-RU" dirty="0" err="1"/>
              <a:t>Тарьяном</a:t>
            </a:r>
            <a:r>
              <a:rPr lang="ru-RU" dirty="0"/>
              <a:t> и Даниелем </a:t>
            </a:r>
            <a:r>
              <a:rPr lang="ru-RU" dirty="0" err="1"/>
              <a:t>Слейтером</a:t>
            </a:r>
            <a:r>
              <a:rPr lang="ru-RU" dirty="0"/>
              <a:t> в 1983 году.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Основная операция</a:t>
            </a:r>
            <a:r>
              <a:rPr lang="en-US" dirty="0"/>
              <a:t> Splay(Tree, x):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x </a:t>
            </a:r>
            <a:r>
              <a:rPr lang="ru-RU" dirty="0"/>
              <a:t>становится корнем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T</a:t>
            </a:r>
            <a:r>
              <a:rPr lang="en-US" baseline="-25000" dirty="0" err="1"/>
              <a:t>real</a:t>
            </a:r>
            <a:r>
              <a:rPr lang="en-US" dirty="0"/>
              <a:t> = </a:t>
            </a:r>
            <a:r>
              <a:rPr lang="el-GR" dirty="0"/>
              <a:t>Θ</a:t>
            </a:r>
            <a:r>
              <a:rPr lang="en-US" dirty="0"/>
              <a:t>(depth(x))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T</a:t>
            </a:r>
            <a:r>
              <a:rPr lang="en-US" baseline="-25000" dirty="0" err="1"/>
              <a:t>amort</a:t>
            </a:r>
            <a:r>
              <a:rPr lang="en-US" dirty="0"/>
              <a:t> = O(log(n))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6244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US" dirty="0"/>
              <a:t>Splay(Tree, x)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5" y="836712"/>
            <a:ext cx="8523927" cy="146875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sz="4500" b="1" dirty="0" err="1"/>
              <a:t>Zig</a:t>
            </a:r>
            <a:endParaRPr lang="ru-RU" sz="4500" dirty="0"/>
          </a:p>
          <a:p>
            <a:pPr marL="0" indent="0">
              <a:buNone/>
            </a:pPr>
            <a:r>
              <a:rPr lang="ru-RU" dirty="0"/>
              <a:t>Если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dirty="0"/>
              <a:t> — корень дерева с сыном </a:t>
            </a:r>
            <a:r>
              <a:rPr lang="en-US" i="1" dirty="0"/>
              <a:t>x</a:t>
            </a:r>
            <a:r>
              <a:rPr lang="ru-RU" dirty="0"/>
              <a:t>, то совершаем один поворот вокруг ребра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/>
              <a:t>, делая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/>
              <a:t> корнем дерева. Данный случай является крайним и выполняется только один раз в конце, если изначальная глубина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/>
              <a:t> была нечетной.</a:t>
            </a:r>
          </a:p>
        </p:txBody>
      </p:sp>
      <p:pic>
        <p:nvPicPr>
          <p:cNvPr id="4" name="Рисунок 3" descr="Zig - поворот">
            <a:hlinkClick r:id="rId2" tooltip="&quot;Zig - поворот&quot;"/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6495" y="2924944"/>
            <a:ext cx="8712968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4300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dirty="0"/>
              <a:t>Splay(Tree, x)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08721"/>
            <a:ext cx="8229600" cy="151216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 err="1"/>
              <a:t>Zig-Zig</a:t>
            </a:r>
            <a:endParaRPr lang="ru-RU" dirty="0"/>
          </a:p>
          <a:p>
            <a:pPr marL="0" indent="0">
              <a:buNone/>
            </a:pPr>
            <a:r>
              <a:rPr lang="ru-RU" sz="2400" dirty="0"/>
              <a:t>Если 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sz="2400" dirty="0"/>
              <a:t>  — не корень дерева, а 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2400" dirty="0"/>
              <a:t> и 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sz="2400" dirty="0"/>
              <a:t> — оба левые или оба правые дети, то делаем поворот ребра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400" dirty="0"/>
              <a:t>, где 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sz="2400" dirty="0"/>
              <a:t> отец 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sz="2400" dirty="0"/>
              <a:t>, а затем поворот ребра 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pic>
        <p:nvPicPr>
          <p:cNvPr id="4" name="Рисунок 3" descr="Zig-zig - поворот">
            <a:hlinkClick r:id="rId2" tooltip="&quot;Zig-zig - поворот&quot;"/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608" y="2348880"/>
            <a:ext cx="7200800" cy="450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9422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32048"/>
          </a:xfrm>
        </p:spPr>
        <p:txBody>
          <a:bodyPr>
            <a:normAutofit fontScale="90000"/>
          </a:bodyPr>
          <a:lstStyle/>
          <a:p>
            <a:r>
              <a:rPr lang="en-US" dirty="0"/>
              <a:t>Splay(Tree, x)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692697"/>
            <a:ext cx="8229600" cy="165618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b="1" dirty="0" err="1"/>
              <a:t>Zig-Zag</a:t>
            </a:r>
            <a:endParaRPr lang="en-US" b="1" dirty="0"/>
          </a:p>
          <a:p>
            <a:pPr marL="0" indent="0">
              <a:buNone/>
            </a:pPr>
            <a:r>
              <a:rPr lang="ru-RU" sz="2400" dirty="0"/>
              <a:t>Если </a:t>
            </a:r>
            <a:r>
              <a:rPr lang="en-US" sz="2400" i="1" dirty="0"/>
              <a:t>p</a:t>
            </a:r>
            <a:r>
              <a:rPr lang="ru-RU" sz="2400" dirty="0"/>
              <a:t> — не корень дерева и </a:t>
            </a:r>
            <a:r>
              <a:rPr lang="en-US" sz="2400" i="1" dirty="0"/>
              <a:t>x</a:t>
            </a:r>
            <a:r>
              <a:rPr lang="ru-RU" sz="2400" dirty="0"/>
              <a:t> — левый ребенок, а</a:t>
            </a:r>
            <a:r>
              <a:rPr lang="ru-RU" sz="2400" i="1" dirty="0"/>
              <a:t> </a:t>
            </a:r>
            <a:r>
              <a:rPr lang="en-US" sz="2400" i="1" dirty="0"/>
              <a:t>p</a:t>
            </a:r>
            <a:r>
              <a:rPr lang="ru-RU" sz="2400" dirty="0"/>
              <a:t> — правый, или наоборот, то делаем поворот вокруг ребра (</a:t>
            </a:r>
            <a:r>
              <a:rPr lang="en-US" sz="2400" i="1" dirty="0"/>
              <a:t>x</a:t>
            </a:r>
            <a:r>
              <a:rPr lang="ru-RU" sz="2400" dirty="0"/>
              <a:t>, </a:t>
            </a:r>
            <a:r>
              <a:rPr lang="en-US" sz="2400" i="1" dirty="0"/>
              <a:t>p</a:t>
            </a:r>
            <a:r>
              <a:rPr lang="ru-RU" sz="2400" dirty="0"/>
              <a:t>), а затем поворот нового ребра (</a:t>
            </a:r>
            <a:r>
              <a:rPr lang="en-US" sz="2400" i="1" dirty="0"/>
              <a:t>x</a:t>
            </a:r>
            <a:r>
              <a:rPr lang="ru-RU" sz="2400" dirty="0"/>
              <a:t>, </a:t>
            </a:r>
            <a:r>
              <a:rPr lang="en-US" sz="2400" i="1" dirty="0"/>
              <a:t>g</a:t>
            </a:r>
            <a:r>
              <a:rPr lang="ru-RU" sz="2400" dirty="0"/>
              <a:t>), где </a:t>
            </a:r>
            <a:r>
              <a:rPr lang="en-US" sz="2400" i="1" dirty="0"/>
              <a:t>g</a:t>
            </a:r>
            <a:r>
              <a:rPr lang="en-US" sz="2400" dirty="0"/>
              <a:t> </a:t>
            </a:r>
            <a:r>
              <a:rPr lang="ru-RU" sz="2400" dirty="0"/>
              <a:t>– бывший родитель </a:t>
            </a:r>
            <a:r>
              <a:rPr lang="en-US" sz="2400" dirty="0"/>
              <a:t>p</a:t>
            </a:r>
            <a:r>
              <a:rPr lang="ru-RU" sz="2400" dirty="0"/>
              <a:t>.</a:t>
            </a:r>
            <a:endParaRPr lang="ru-RU" dirty="0"/>
          </a:p>
        </p:txBody>
      </p:sp>
      <p:pic>
        <p:nvPicPr>
          <p:cNvPr id="4" name="Рисунок 3" descr="Zig-zag - поворот">
            <a:hlinkClick r:id="rId2" tooltip="&quot;Zig-zag - поворот&quot;"/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2348880"/>
            <a:ext cx="8136904" cy="450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23587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48680"/>
          </a:xfrm>
        </p:spPr>
        <p:txBody>
          <a:bodyPr>
            <a:normAutofit fontScale="90000"/>
          </a:bodyPr>
          <a:lstStyle/>
          <a:p>
            <a:r>
              <a:rPr lang="ru-RU" dirty="0"/>
              <a:t>Операции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476672"/>
            <a:ext cx="8445624" cy="638132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sz="4400" b="1" dirty="0" err="1"/>
              <a:t>Find</a:t>
            </a:r>
            <a:r>
              <a:rPr lang="ru-RU" sz="4400" b="1" dirty="0"/>
              <a:t> (</a:t>
            </a:r>
            <a:r>
              <a:rPr lang="ru-RU" sz="4400" b="1" dirty="0" err="1"/>
              <a:t>Tree</a:t>
            </a:r>
            <a:r>
              <a:rPr lang="ru-RU" sz="4400" b="1" dirty="0"/>
              <a:t>, x)</a:t>
            </a:r>
            <a:endParaRPr lang="ru-RU" sz="4400" dirty="0"/>
          </a:p>
          <a:p>
            <a:pPr marL="0" indent="0">
              <a:buNone/>
            </a:pPr>
            <a:r>
              <a:rPr lang="ru-RU" dirty="0"/>
              <a:t>Эта операция выполняется как для обычного бинарного дерева, только после нее запускается операция </a:t>
            </a:r>
            <a:r>
              <a:rPr lang="ru-RU" dirty="0" err="1"/>
              <a:t>Splay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r>
              <a:rPr lang="ru-RU" sz="4400" b="1" dirty="0" err="1"/>
              <a:t>Merge</a:t>
            </a:r>
            <a:r>
              <a:rPr lang="ru-RU" sz="4400" b="1" dirty="0"/>
              <a:t> (Tree1, Tree2)</a:t>
            </a:r>
            <a:endParaRPr lang="ru-RU" sz="4400" dirty="0"/>
          </a:p>
          <a:p>
            <a:pPr marL="0" indent="0">
              <a:buNone/>
            </a:pPr>
            <a:r>
              <a:rPr lang="ru-RU" dirty="0"/>
              <a:t>У нас есть два дерева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1 </a:t>
            </a:r>
            <a:r>
              <a:rPr lang="ru-RU" dirty="0"/>
              <a:t>и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dirty="0"/>
              <a:t>, причём подразумевается, что все элементы первого дерева меньше элементов второго. </a:t>
            </a:r>
          </a:p>
          <a:p>
            <a:pPr marL="0" indent="0">
              <a:buNone/>
            </a:pPr>
            <a:r>
              <a:rPr lang="ru-RU" dirty="0"/>
              <a:t>Запускаем </a:t>
            </a:r>
            <a:r>
              <a:rPr lang="ru-RU" dirty="0" err="1"/>
              <a:t>Splay</a:t>
            </a:r>
            <a:r>
              <a:rPr lang="ru-RU" dirty="0"/>
              <a:t> от самого большого элемента в дереве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dirty="0"/>
              <a:t>  (пусть это элемент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dirty="0"/>
              <a:t>). После этого корень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dirty="0"/>
              <a:t> содержит элемент 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dirty="0"/>
              <a:t>, при этом у него нет правого ребёнка. Делаем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dirty="0"/>
              <a:t> правым поддеревом</a:t>
            </a:r>
            <a:r>
              <a:rPr lang="ru-RU" i="1" dirty="0"/>
              <a:t> 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/>
              <a:t>и возвращаем полученное дерево.</a:t>
            </a:r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r>
              <a:rPr lang="ru-RU" sz="4400" b="1" dirty="0" err="1"/>
              <a:t>Split</a:t>
            </a:r>
            <a:r>
              <a:rPr lang="ru-RU" sz="4400" b="1" dirty="0"/>
              <a:t> (</a:t>
            </a:r>
            <a:r>
              <a:rPr lang="ru-RU" sz="4400" b="1" dirty="0" err="1"/>
              <a:t>Tree</a:t>
            </a:r>
            <a:r>
              <a:rPr lang="ru-RU" sz="4400" b="1" dirty="0"/>
              <a:t>, x)</a:t>
            </a:r>
            <a:endParaRPr lang="ru-RU" sz="4400" dirty="0"/>
          </a:p>
          <a:p>
            <a:pPr marL="0" indent="0">
              <a:buNone/>
            </a:pPr>
            <a:r>
              <a:rPr lang="ru-RU" dirty="0"/>
              <a:t>Запускаем </a:t>
            </a:r>
            <a:r>
              <a:rPr lang="ru-RU" dirty="0" err="1"/>
              <a:t>Splay</a:t>
            </a:r>
            <a:r>
              <a:rPr lang="ru-RU" dirty="0"/>
              <a:t> от элемента </a:t>
            </a:r>
            <a:r>
              <a:rPr lang="en-US" i="1" dirty="0"/>
              <a:t>x</a:t>
            </a:r>
            <a:r>
              <a:rPr lang="ru-RU" dirty="0"/>
              <a:t> и возвращаем два дерева, полученные отсечением правого или левого поддерева от корня, в зависимости от того, содержит корень элемент больше или не больше, чем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r>
              <a:rPr lang="ru-RU" sz="4400" b="1" dirty="0" err="1"/>
              <a:t>Add</a:t>
            </a:r>
            <a:r>
              <a:rPr lang="ru-RU" sz="4400" b="1" dirty="0"/>
              <a:t> (</a:t>
            </a:r>
            <a:r>
              <a:rPr lang="ru-RU" sz="4400" b="1" dirty="0" err="1"/>
              <a:t>Tree</a:t>
            </a:r>
            <a:r>
              <a:rPr lang="ru-RU" sz="4400" b="1" dirty="0"/>
              <a:t>, x)</a:t>
            </a:r>
            <a:endParaRPr lang="ru-RU" sz="4400" dirty="0"/>
          </a:p>
          <a:p>
            <a:pPr marL="0" indent="0">
              <a:buNone/>
            </a:pPr>
            <a:r>
              <a:rPr lang="ru-RU" dirty="0"/>
              <a:t>Запускаем </a:t>
            </a:r>
            <a:r>
              <a:rPr lang="ru-RU" dirty="0" err="1"/>
              <a:t>Split</a:t>
            </a:r>
            <a:r>
              <a:rPr lang="ru-RU" dirty="0"/>
              <a:t>(</a:t>
            </a:r>
            <a:r>
              <a:rPr lang="ru-RU" dirty="0" err="1"/>
              <a:t>Tree</a:t>
            </a:r>
            <a:r>
              <a:rPr lang="ru-RU" dirty="0"/>
              <a:t>, x), который нам возвращает деревья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r>
              <a:rPr lang="ru-RU" dirty="0"/>
              <a:t>1 и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r>
              <a:rPr lang="ru-RU" dirty="0"/>
              <a:t>2, их подвешиваем к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/>
              <a:t> как левое и правое поддеревья соответственно.</a:t>
            </a:r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r>
              <a:rPr lang="ru-RU" sz="4400" b="1" dirty="0" err="1"/>
              <a:t>Remove</a:t>
            </a:r>
            <a:r>
              <a:rPr lang="ru-RU" sz="4400" b="1" dirty="0"/>
              <a:t>(</a:t>
            </a:r>
            <a:r>
              <a:rPr lang="ru-RU" sz="4400" b="1" dirty="0" err="1"/>
              <a:t>Tree</a:t>
            </a:r>
            <a:r>
              <a:rPr lang="ru-RU" sz="4400" b="1" dirty="0"/>
              <a:t>, x)</a:t>
            </a:r>
            <a:endParaRPr lang="ru-RU" sz="4400" dirty="0"/>
          </a:p>
          <a:p>
            <a:pPr marL="0" indent="0">
              <a:buNone/>
            </a:pPr>
            <a:r>
              <a:rPr lang="ru-RU" dirty="0"/>
              <a:t>Запускаем </a:t>
            </a:r>
            <a:r>
              <a:rPr lang="ru-RU" dirty="0" err="1"/>
              <a:t>Splay</a:t>
            </a:r>
            <a:r>
              <a:rPr lang="ru-RU" dirty="0"/>
              <a:t> от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/>
              <a:t> элемента и возвращаем </a:t>
            </a:r>
            <a:r>
              <a:rPr lang="ru-RU" dirty="0" err="1"/>
              <a:t>Merge</a:t>
            </a:r>
            <a:r>
              <a:rPr lang="ru-RU" dirty="0"/>
              <a:t> от его детей.</a:t>
            </a:r>
          </a:p>
        </p:txBody>
      </p:sp>
    </p:spTree>
    <p:extLst>
      <p:ext uri="{BB962C8B-B14F-4D97-AF65-F5344CB8AC3E}">
        <p14:creationId xmlns:p14="http://schemas.microsoft.com/office/powerpoint/2010/main" val="383063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ru-RU" dirty="0"/>
              <a:t>Анализ </a:t>
            </a:r>
            <a:r>
              <a:rPr lang="en-US" dirty="0"/>
              <a:t>Splay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54461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800" dirty="0"/>
              <a:t>Амортизационный анализ </a:t>
            </a:r>
            <a:r>
              <a:rPr lang="ru-RU" sz="2800" dirty="0" err="1"/>
              <a:t>сплей</a:t>
            </a:r>
            <a:r>
              <a:rPr lang="ru-RU" sz="2800" dirty="0"/>
              <a:t>-дерева проводится с помощью метода потенциалов.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 </a:t>
            </a:r>
          </a:p>
          <a:p>
            <a:pPr marL="0" indent="0">
              <a:buNone/>
            </a:pPr>
            <a:r>
              <a:rPr lang="ru-RU" sz="2800" dirty="0"/>
              <a:t>Потенциалом рассматриваемого дерева назовём сумму рангов его вершин. </a:t>
            </a:r>
            <a:endParaRPr lang="en-US" sz="2800" dirty="0"/>
          </a:p>
          <a:p>
            <a:pPr marL="0" indent="0">
              <a:buNone/>
            </a:pPr>
            <a:endParaRPr lang="ru-RU" sz="2800" dirty="0"/>
          </a:p>
          <a:p>
            <a:pPr marL="0" indent="0">
              <a:buNone/>
            </a:pPr>
            <a:r>
              <a:rPr lang="ru-RU" sz="2800" dirty="0"/>
              <a:t>Ранг вершины —</a:t>
            </a:r>
            <a:r>
              <a:rPr lang="en-US" sz="2800" dirty="0"/>
              <a:t>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ru-RU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800" dirty="0"/>
              <a:t>, </a:t>
            </a:r>
            <a:endParaRPr lang="en-US" sz="2800" dirty="0"/>
          </a:p>
          <a:p>
            <a:pPr marL="0" indent="0">
              <a:buNone/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800" dirty="0"/>
              <a:t> — количество вершин в поддереве с корнем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dirty="0"/>
              <a:t>.</a:t>
            </a:r>
            <a:r>
              <a:rPr lang="ru-RU" sz="2800" dirty="0"/>
              <a:t> </a:t>
            </a:r>
            <a:endParaRPr lang="en-US" sz="2800" dirty="0"/>
          </a:p>
          <a:p>
            <a:pPr marL="0" indent="0">
              <a:buNone/>
            </a:pPr>
            <a:endParaRPr lang="ru-RU" sz="2800" dirty="0"/>
          </a:p>
          <a:p>
            <a:pPr marL="0" indent="0">
              <a:buNone/>
            </a:pPr>
            <a:r>
              <a:rPr lang="ru-RU" sz="2800" dirty="0">
                <a:solidFill>
                  <a:srgbClr val="FF0000"/>
                </a:solidFill>
              </a:rPr>
              <a:t>Лемма</a:t>
            </a:r>
          </a:p>
          <a:p>
            <a:pPr marL="0" indent="0">
              <a:buNone/>
            </a:pPr>
            <a:r>
              <a:rPr lang="ru-RU" sz="2800" dirty="0"/>
              <a:t>Амортизированное время </a:t>
            </a:r>
            <a:r>
              <a:rPr lang="ru-RU" sz="2800"/>
              <a:t>операции </a:t>
            </a:r>
            <a:r>
              <a:rPr lang="en-US" sz="2800"/>
              <a:t>S</a:t>
            </a:r>
            <a:r>
              <a:rPr lang="ru-RU" sz="2800" dirty="0" err="1"/>
              <a:t>play</a:t>
            </a:r>
            <a:r>
              <a:rPr lang="ru-RU" sz="2800" dirty="0"/>
              <a:t> вершины 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2800" dirty="0"/>
              <a:t> в дереве с корнем</a:t>
            </a:r>
            <a:r>
              <a:rPr lang="ru-RU" sz="2800" i="1" dirty="0"/>
              <a:t> 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800" dirty="0"/>
              <a:t>не превосходит </a:t>
            </a:r>
          </a:p>
          <a:p>
            <a:pPr marL="0" indent="0" algn="ctr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3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+1</a:t>
            </a:r>
          </a:p>
        </p:txBody>
      </p:sp>
    </p:spTree>
    <p:extLst>
      <p:ext uri="{BB962C8B-B14F-4D97-AF65-F5344CB8AC3E}">
        <p14:creationId xmlns:p14="http://schemas.microsoft.com/office/powerpoint/2010/main" val="416676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360040"/>
          </a:xfrm>
        </p:spPr>
        <p:txBody>
          <a:bodyPr>
            <a:noAutofit/>
          </a:bodyPr>
          <a:lstStyle/>
          <a:p>
            <a:pPr algn="l"/>
            <a:r>
              <a:rPr lang="ru-RU" sz="3200" dirty="0"/>
              <a:t>Доказательство леммы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692696"/>
            <a:ext cx="8435280" cy="381642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Пусть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ru-RU" dirty="0"/>
              <a:t>  и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dirty="0"/>
              <a:t> — ранги вершин после шага и до него соответственно,</a:t>
            </a:r>
            <a:r>
              <a:rPr lang="ru-RU" i="1" dirty="0"/>
              <a:t>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dirty="0"/>
              <a:t> — предок вершины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/>
              <a:t>, а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dirty="0"/>
              <a:t> — предок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dirty="0"/>
              <a:t>, если есть.</a:t>
            </a:r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r>
              <a:rPr lang="ru-RU" b="1" dirty="0" err="1"/>
              <a:t>Zig</a:t>
            </a:r>
            <a:r>
              <a:rPr lang="ru-RU" dirty="0"/>
              <a:t>. Выполнен один поворот </a:t>
            </a:r>
            <a:r>
              <a:rPr lang="ru-RU" dirty="0">
                <a:sym typeface="Symbol"/>
              </a:rPr>
              <a:t></a:t>
            </a:r>
          </a:p>
          <a:p>
            <a:pPr marL="0" indent="0" algn="ctr">
              <a:buNone/>
            </a:pP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amort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= 1 +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/>
              <a:t> </a:t>
            </a:r>
          </a:p>
          <a:p>
            <a:pPr marL="0" indent="0">
              <a:buNone/>
            </a:pPr>
            <a:r>
              <a:rPr lang="ru-RU" dirty="0"/>
              <a:t>Ранг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/>
              <a:t> </a:t>
            </a:r>
            <a:r>
              <a:rPr lang="ru-RU" dirty="0"/>
              <a:t>уменьшился  </a:t>
            </a:r>
            <a:r>
              <a:rPr lang="ru-RU" dirty="0">
                <a:sym typeface="Symbol"/>
              </a:rPr>
              <a:t>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amort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≤ 1 + 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–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/>
              <a:t>. 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Ранг 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/>
              <a:t> увеличился </a:t>
            </a:r>
            <a:r>
              <a:rPr lang="ru-RU" dirty="0">
                <a:sym typeface="Symbol"/>
              </a:rPr>
              <a:t></a:t>
            </a:r>
            <a:r>
              <a:rPr lang="ru-RU" dirty="0"/>
              <a:t> 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–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≥ 0 </a:t>
            </a:r>
            <a:r>
              <a:rPr lang="ru-RU" dirty="0">
                <a:sym typeface="Symbol"/>
              </a:rPr>
              <a:t></a:t>
            </a:r>
            <a:r>
              <a:rPr lang="ru-RU" dirty="0"/>
              <a:t> </a:t>
            </a:r>
          </a:p>
          <a:p>
            <a:pPr marL="0" indent="0" algn="ctr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amort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 1 + 3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– 3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dirty="0"/>
              <a:t>.</a:t>
            </a:r>
          </a:p>
        </p:txBody>
      </p:sp>
      <p:pic>
        <p:nvPicPr>
          <p:cNvPr id="4" name="Рисунок 3" descr="Zig - поворот">
            <a:hlinkClick r:id="rId2" tooltip="&quot;Zig - поворот&quot;"/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5" y="4653136"/>
            <a:ext cx="8523927" cy="2204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71999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4704"/>
          </a:xfrm>
        </p:spPr>
        <p:txBody>
          <a:bodyPr>
            <a:normAutofit/>
          </a:bodyPr>
          <a:lstStyle/>
          <a:p>
            <a:pPr algn="l"/>
            <a:r>
              <a:rPr lang="ru-RU" dirty="0"/>
              <a:t>Доказательство леммы - </a:t>
            </a:r>
            <a:r>
              <a:rPr lang="ru-RU" b="1" dirty="0" err="1"/>
              <a:t>Zig-zig</a:t>
            </a:r>
            <a:r>
              <a:rPr lang="ru-RU" dirty="0"/>
              <a:t>. 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836713"/>
            <a:ext cx="8229600" cy="252028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30255" y="3573016"/>
                <a:ext cx="8892480" cy="3313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Выполнено два поворота </a:t>
                </a:r>
                <a:r>
                  <a:rPr lang="ru-RU" dirty="0">
                    <a:sym typeface="Symbol"/>
                  </a:rPr>
                  <a:t></a:t>
                </a:r>
                <a:r>
                  <a:rPr lang="en-US" i="1" dirty="0" err="1"/>
                  <a:t>T</a:t>
                </a:r>
                <a:r>
                  <a:rPr lang="en-US" i="1" baseline="-25000" dirty="0" err="1"/>
                  <a:t>amort</a:t>
                </a:r>
                <a:r>
                  <a:rPr lang="ru-RU" dirty="0"/>
                  <a:t> = 2 + </a:t>
                </a:r>
                <a:r>
                  <a:rPr lang="en-US" i="1" dirty="0"/>
                  <a:t>r</a:t>
                </a:r>
                <a:r>
                  <a:rPr lang="ru-RU" i="1" dirty="0"/>
                  <a:t>′</a:t>
                </a:r>
                <a:r>
                  <a:rPr lang="ru-RU" dirty="0"/>
                  <a:t> (</a:t>
                </a:r>
                <a:r>
                  <a:rPr lang="en-US" i="1" dirty="0"/>
                  <a:t>x</a:t>
                </a:r>
                <a:r>
                  <a:rPr lang="ru-RU" dirty="0"/>
                  <a:t>) + </a:t>
                </a:r>
                <a:r>
                  <a:rPr lang="en-US" i="1" dirty="0"/>
                  <a:t>r</a:t>
                </a:r>
                <a:r>
                  <a:rPr lang="ru-RU" i="1" dirty="0"/>
                  <a:t>′</a:t>
                </a:r>
                <a:r>
                  <a:rPr lang="ru-RU" dirty="0"/>
                  <a:t> (</a:t>
                </a:r>
                <a:r>
                  <a:rPr lang="en-US" i="1" dirty="0"/>
                  <a:t>p</a:t>
                </a:r>
                <a:r>
                  <a:rPr lang="ru-RU" dirty="0"/>
                  <a:t>) + </a:t>
                </a:r>
                <a:r>
                  <a:rPr lang="en-US" i="1" dirty="0"/>
                  <a:t>r</a:t>
                </a:r>
                <a:r>
                  <a:rPr lang="ru-RU" i="1" dirty="0"/>
                  <a:t>′</a:t>
                </a:r>
                <a:r>
                  <a:rPr lang="ru-RU" dirty="0"/>
                  <a:t> (</a:t>
                </a:r>
                <a:r>
                  <a:rPr lang="en-US" i="1" dirty="0"/>
                  <a:t>g</a:t>
                </a:r>
                <a:r>
                  <a:rPr lang="ru-RU" dirty="0"/>
                  <a:t>) – </a:t>
                </a:r>
                <a:r>
                  <a:rPr lang="en-US" i="1" dirty="0"/>
                  <a:t>r</a:t>
                </a:r>
                <a:r>
                  <a:rPr lang="ru-RU" dirty="0"/>
                  <a:t>(</a:t>
                </a:r>
                <a:r>
                  <a:rPr lang="en-US" i="1" dirty="0"/>
                  <a:t>x</a:t>
                </a:r>
                <a:r>
                  <a:rPr lang="ru-RU" dirty="0"/>
                  <a:t>) – </a:t>
                </a:r>
                <a:r>
                  <a:rPr lang="en-US" i="1" dirty="0"/>
                  <a:t>r</a:t>
                </a:r>
                <a:r>
                  <a:rPr lang="ru-RU" dirty="0"/>
                  <a:t>(</a:t>
                </a:r>
                <a:r>
                  <a:rPr lang="en-US" i="1" dirty="0"/>
                  <a:t>p</a:t>
                </a:r>
                <a:r>
                  <a:rPr lang="ru-RU" dirty="0"/>
                  <a:t>) – </a:t>
                </a:r>
                <a:r>
                  <a:rPr lang="en-US" i="1" dirty="0"/>
                  <a:t>r</a:t>
                </a:r>
                <a:r>
                  <a:rPr lang="ru-RU" dirty="0"/>
                  <a:t>(</a:t>
                </a:r>
                <a:r>
                  <a:rPr lang="en-US" i="1" dirty="0"/>
                  <a:t>g</a:t>
                </a:r>
                <a:r>
                  <a:rPr lang="ru-RU" dirty="0"/>
                  <a:t>) </a:t>
                </a:r>
              </a:p>
              <a:p>
                <a:r>
                  <a:rPr lang="en-US" dirty="0"/>
                  <a:t> </a:t>
                </a:r>
                <a:r>
                  <a:rPr lang="en-US" i="1" dirty="0"/>
                  <a:t>r′</a:t>
                </a:r>
                <a:r>
                  <a:rPr lang="en-US" dirty="0"/>
                  <a:t> (</a:t>
                </a:r>
                <a:r>
                  <a:rPr lang="en-US" i="1" dirty="0"/>
                  <a:t>x</a:t>
                </a:r>
                <a:r>
                  <a:rPr lang="en-US" dirty="0"/>
                  <a:t>)  </a:t>
                </a:r>
                <a:r>
                  <a:rPr lang="ru-RU" dirty="0"/>
                  <a:t>=</a:t>
                </a:r>
                <a:r>
                  <a:rPr lang="en-US" dirty="0"/>
                  <a:t> </a:t>
                </a:r>
                <a:r>
                  <a:rPr lang="en-US" i="1" dirty="0"/>
                  <a:t>r</a:t>
                </a:r>
                <a:r>
                  <a:rPr lang="en-US" dirty="0"/>
                  <a:t>(</a:t>
                </a:r>
                <a:r>
                  <a:rPr lang="en-US" i="1" dirty="0"/>
                  <a:t>g</a:t>
                </a:r>
                <a:r>
                  <a:rPr lang="en-US" dirty="0"/>
                  <a:t>) </a:t>
                </a:r>
                <a:r>
                  <a:rPr lang="ru-RU" dirty="0">
                    <a:sym typeface="Symbol"/>
                  </a:rPr>
                  <a:t></a:t>
                </a:r>
                <a:r>
                  <a:rPr lang="ru-RU" i="1" dirty="0"/>
                  <a:t> </a:t>
                </a:r>
                <a:r>
                  <a:rPr lang="en-US" i="1" dirty="0" err="1"/>
                  <a:t>T</a:t>
                </a:r>
                <a:r>
                  <a:rPr lang="en-US" i="1" baseline="-25000" dirty="0" err="1"/>
                  <a:t>amort</a:t>
                </a:r>
                <a:r>
                  <a:rPr lang="en-US" dirty="0"/>
                  <a:t> = 2 + </a:t>
                </a:r>
                <a:r>
                  <a:rPr lang="en-US" i="1" dirty="0"/>
                  <a:t>r’</a:t>
                </a:r>
                <a:r>
                  <a:rPr lang="en-US" dirty="0"/>
                  <a:t>(</a:t>
                </a:r>
                <a:r>
                  <a:rPr lang="en-US" i="1" dirty="0"/>
                  <a:t>p</a:t>
                </a:r>
                <a:r>
                  <a:rPr lang="en-US" dirty="0"/>
                  <a:t>) + </a:t>
                </a:r>
                <a:r>
                  <a:rPr lang="en-US" i="1" dirty="0"/>
                  <a:t>r′</a:t>
                </a:r>
                <a:r>
                  <a:rPr lang="en-US" dirty="0"/>
                  <a:t> (</a:t>
                </a:r>
                <a:r>
                  <a:rPr lang="en-US" i="1" dirty="0"/>
                  <a:t>g</a:t>
                </a:r>
                <a:r>
                  <a:rPr lang="en-US" dirty="0"/>
                  <a:t>) – </a:t>
                </a:r>
                <a:r>
                  <a:rPr lang="en-US" i="1" dirty="0"/>
                  <a:t>r</a:t>
                </a:r>
                <a:r>
                  <a:rPr lang="en-US" dirty="0"/>
                  <a:t>(</a:t>
                </a:r>
                <a:r>
                  <a:rPr lang="en-US" i="1" dirty="0"/>
                  <a:t>x</a:t>
                </a:r>
                <a:r>
                  <a:rPr lang="en-US" dirty="0"/>
                  <a:t>) – </a:t>
                </a:r>
                <a:r>
                  <a:rPr lang="en-US" i="1" dirty="0"/>
                  <a:t>r</a:t>
                </a:r>
                <a:r>
                  <a:rPr lang="en-US" dirty="0"/>
                  <a:t>(</a:t>
                </a:r>
                <a:r>
                  <a:rPr lang="en-US" i="1" dirty="0"/>
                  <a:t>p</a:t>
                </a:r>
                <a:r>
                  <a:rPr lang="en-US" dirty="0"/>
                  <a:t>) </a:t>
                </a:r>
                <a:endParaRPr lang="ru-RU" dirty="0"/>
              </a:p>
              <a:p>
                <a:r>
                  <a:rPr lang="en-US" dirty="0"/>
                  <a:t> </a:t>
                </a:r>
                <a:r>
                  <a:rPr lang="en-US" i="1" dirty="0"/>
                  <a:t>r</a:t>
                </a:r>
                <a:r>
                  <a:rPr lang="en-US" dirty="0"/>
                  <a:t>(</a:t>
                </a:r>
                <a:r>
                  <a:rPr lang="en-US" i="1" dirty="0"/>
                  <a:t>x</a:t>
                </a:r>
                <a:r>
                  <a:rPr lang="en-US" dirty="0"/>
                  <a:t>) ≤  </a:t>
                </a:r>
                <a:r>
                  <a:rPr lang="en-US" i="1" dirty="0"/>
                  <a:t>r</a:t>
                </a:r>
                <a:r>
                  <a:rPr lang="en-US" dirty="0"/>
                  <a:t>(</a:t>
                </a:r>
                <a:r>
                  <a:rPr lang="en-US" i="1" dirty="0"/>
                  <a:t>p</a:t>
                </a:r>
                <a:r>
                  <a:rPr lang="en-US" dirty="0"/>
                  <a:t>)  </a:t>
                </a:r>
                <a:r>
                  <a:rPr lang="ru-RU" dirty="0">
                    <a:sym typeface="Symbol"/>
                  </a:rPr>
                  <a:t></a:t>
                </a:r>
                <a:r>
                  <a:rPr lang="ru-RU" i="1" dirty="0"/>
                  <a:t> </a:t>
                </a:r>
                <a:r>
                  <a:rPr lang="en-US" i="1" dirty="0" err="1"/>
                  <a:t>T</a:t>
                </a:r>
                <a:r>
                  <a:rPr lang="en-US" i="1" baseline="-25000" dirty="0" err="1"/>
                  <a:t>amort</a:t>
                </a:r>
                <a:r>
                  <a:rPr lang="en-US" dirty="0"/>
                  <a:t>  ≤ 2 + </a:t>
                </a:r>
                <a:r>
                  <a:rPr lang="en-US" i="1" dirty="0"/>
                  <a:t>r′</a:t>
                </a:r>
                <a:r>
                  <a:rPr lang="en-US" dirty="0"/>
                  <a:t> (</a:t>
                </a:r>
                <a:r>
                  <a:rPr lang="en-US" i="1" dirty="0"/>
                  <a:t>p</a:t>
                </a:r>
                <a:r>
                  <a:rPr lang="en-US" dirty="0"/>
                  <a:t>) + </a:t>
                </a:r>
                <a:r>
                  <a:rPr lang="en-US" i="1" dirty="0"/>
                  <a:t>r′</a:t>
                </a:r>
                <a:r>
                  <a:rPr lang="en-US" dirty="0"/>
                  <a:t> (</a:t>
                </a:r>
                <a:r>
                  <a:rPr lang="en-US" i="1" dirty="0"/>
                  <a:t>g</a:t>
                </a:r>
                <a:r>
                  <a:rPr lang="en-US" dirty="0"/>
                  <a:t>) – 2</a:t>
                </a:r>
                <a:r>
                  <a:rPr lang="en-US" i="1" dirty="0"/>
                  <a:t>r</a:t>
                </a:r>
                <a:r>
                  <a:rPr lang="en-US" dirty="0"/>
                  <a:t>(</a:t>
                </a:r>
                <a:r>
                  <a:rPr lang="en-US" i="1" dirty="0"/>
                  <a:t>x</a:t>
                </a:r>
                <a:r>
                  <a:rPr lang="en-US" dirty="0"/>
                  <a:t>)  </a:t>
                </a:r>
                <a:endParaRPr lang="ru-RU" dirty="0"/>
              </a:p>
              <a:p>
                <a:r>
                  <a:rPr lang="en-US" i="1" dirty="0"/>
                  <a:t>r′</a:t>
                </a:r>
                <a:r>
                  <a:rPr lang="en-US" dirty="0"/>
                  <a:t> (</a:t>
                </a:r>
                <a:r>
                  <a:rPr lang="en-US" i="1" dirty="0"/>
                  <a:t>p</a:t>
                </a:r>
                <a:r>
                  <a:rPr lang="en-US" dirty="0"/>
                  <a:t>) ≤  </a:t>
                </a:r>
                <a:r>
                  <a:rPr lang="en-US" i="1" dirty="0"/>
                  <a:t>r′</a:t>
                </a:r>
                <a:r>
                  <a:rPr lang="en-US" dirty="0"/>
                  <a:t> (</a:t>
                </a:r>
                <a:r>
                  <a:rPr lang="en-US" i="1" dirty="0"/>
                  <a:t>x</a:t>
                </a:r>
                <a:r>
                  <a:rPr lang="en-US" dirty="0"/>
                  <a:t>)  </a:t>
                </a:r>
                <a:r>
                  <a:rPr lang="ru-RU" dirty="0">
                    <a:sym typeface="Symbol"/>
                  </a:rPr>
                  <a:t></a:t>
                </a:r>
                <a:r>
                  <a:rPr lang="ru-RU" i="1" dirty="0"/>
                  <a:t> </a:t>
                </a:r>
                <a:r>
                  <a:rPr lang="en-US" i="1" dirty="0" err="1"/>
                  <a:t>T</a:t>
                </a:r>
                <a:r>
                  <a:rPr lang="en-US" i="1" baseline="-25000" dirty="0" err="1"/>
                  <a:t>amort</a:t>
                </a:r>
                <a:r>
                  <a:rPr lang="en-US" dirty="0"/>
                  <a:t>  ≤ 2 + </a:t>
                </a:r>
                <a:r>
                  <a:rPr lang="en-US" i="1" dirty="0"/>
                  <a:t>r′</a:t>
                </a:r>
                <a:r>
                  <a:rPr lang="en-US" dirty="0"/>
                  <a:t> (</a:t>
                </a:r>
                <a:r>
                  <a:rPr lang="en-US" i="1" dirty="0"/>
                  <a:t>x</a:t>
                </a:r>
                <a:r>
                  <a:rPr lang="en-US" dirty="0"/>
                  <a:t>) + </a:t>
                </a:r>
                <a:r>
                  <a:rPr lang="en-US" i="1" dirty="0"/>
                  <a:t>r′</a:t>
                </a:r>
                <a:r>
                  <a:rPr lang="en-US" dirty="0"/>
                  <a:t> (</a:t>
                </a:r>
                <a:r>
                  <a:rPr lang="en-US" i="1" dirty="0"/>
                  <a:t>g</a:t>
                </a:r>
                <a:r>
                  <a:rPr lang="en-US" dirty="0"/>
                  <a:t>) – 2</a:t>
                </a:r>
                <a:r>
                  <a:rPr lang="en-US" i="1" dirty="0"/>
                  <a:t>r</a:t>
                </a:r>
                <a:r>
                  <a:rPr lang="en-US" dirty="0"/>
                  <a:t>(</a:t>
                </a:r>
                <a:r>
                  <a:rPr lang="en-US" i="1" dirty="0"/>
                  <a:t>x</a:t>
                </a:r>
                <a:r>
                  <a:rPr lang="en-US" dirty="0"/>
                  <a:t>)  </a:t>
                </a:r>
                <a:endParaRPr lang="ru-RU" dirty="0"/>
              </a:p>
              <a:p>
                <a:r>
                  <a:rPr lang="ru-RU" dirty="0"/>
                  <a:t>Докажем, что  эта сумма не превосходит </a:t>
                </a:r>
                <a:r>
                  <a:rPr lang="ru-RU" i="1" dirty="0"/>
                  <a:t>3</a:t>
                </a:r>
                <a:r>
                  <a:rPr lang="ru-RU" dirty="0"/>
                  <a:t>(</a:t>
                </a:r>
                <a:r>
                  <a:rPr lang="en-US" i="1" dirty="0"/>
                  <a:t>r</a:t>
                </a:r>
                <a:r>
                  <a:rPr lang="ru-RU" i="1" dirty="0"/>
                  <a:t>′</a:t>
                </a:r>
                <a:r>
                  <a:rPr lang="ru-RU" dirty="0"/>
                  <a:t> (</a:t>
                </a:r>
                <a:r>
                  <a:rPr lang="en-US" i="1" dirty="0"/>
                  <a:t>x</a:t>
                </a:r>
                <a:r>
                  <a:rPr lang="ru-RU" dirty="0"/>
                  <a:t>) </a:t>
                </a:r>
                <a:r>
                  <a:rPr lang="ru-RU" i="1" dirty="0"/>
                  <a:t>– </a:t>
                </a:r>
                <a:r>
                  <a:rPr lang="en-US" i="1" dirty="0"/>
                  <a:t>r</a:t>
                </a:r>
                <a:r>
                  <a:rPr lang="ru-RU" dirty="0"/>
                  <a:t>(</a:t>
                </a:r>
                <a:r>
                  <a:rPr lang="en-US" i="1" dirty="0"/>
                  <a:t>x</a:t>
                </a:r>
                <a:r>
                  <a:rPr lang="ru-RU" dirty="0"/>
                  <a:t>))</a:t>
                </a:r>
                <a:r>
                  <a:rPr lang="ru-RU" i="1" dirty="0"/>
                  <a:t>,</a:t>
                </a:r>
                <a:r>
                  <a:rPr lang="ru-RU" dirty="0"/>
                  <a:t>  т</a:t>
                </a:r>
                <a:r>
                  <a:rPr lang="en-US" dirty="0"/>
                  <a:t>.</a:t>
                </a:r>
                <a:r>
                  <a:rPr lang="ru-RU" dirty="0"/>
                  <a:t>е</a:t>
                </a:r>
                <a:r>
                  <a:rPr lang="en-US" dirty="0"/>
                  <a:t>., </a:t>
                </a:r>
                <a:r>
                  <a:rPr lang="ru-RU" dirty="0"/>
                  <a:t>что</a:t>
                </a:r>
                <a:r>
                  <a:rPr lang="en-US" dirty="0"/>
                  <a:t> </a:t>
                </a:r>
                <a:r>
                  <a:rPr lang="en-US" i="1" dirty="0"/>
                  <a:t>r</a:t>
                </a:r>
                <a:r>
                  <a:rPr lang="en-US" dirty="0"/>
                  <a:t>(</a:t>
                </a:r>
                <a:r>
                  <a:rPr lang="en-US" i="1" dirty="0"/>
                  <a:t>x</a:t>
                </a:r>
                <a:r>
                  <a:rPr lang="en-US" dirty="0"/>
                  <a:t>) + </a:t>
                </a:r>
                <a:r>
                  <a:rPr lang="en-US" i="1" dirty="0"/>
                  <a:t>r′</a:t>
                </a:r>
                <a:r>
                  <a:rPr lang="en-US" dirty="0"/>
                  <a:t> (</a:t>
                </a:r>
                <a:r>
                  <a:rPr lang="en-US" i="1" dirty="0"/>
                  <a:t>g</a:t>
                </a:r>
                <a:r>
                  <a:rPr lang="en-US" dirty="0"/>
                  <a:t>) – 2</a:t>
                </a:r>
                <a:r>
                  <a:rPr lang="en-US" i="1" dirty="0"/>
                  <a:t>r′</a:t>
                </a:r>
                <a:r>
                  <a:rPr lang="en-US" dirty="0"/>
                  <a:t> (</a:t>
                </a:r>
                <a:r>
                  <a:rPr lang="en-US" i="1" dirty="0"/>
                  <a:t>x</a:t>
                </a:r>
                <a:r>
                  <a:rPr lang="en-US" dirty="0"/>
                  <a:t>) ≤  – 2. </a:t>
                </a:r>
                <a:endParaRPr lang="ru-RU" dirty="0"/>
              </a:p>
              <a:p>
                <a:r>
                  <a:rPr lang="en-US" dirty="0"/>
                  <a:t>(</a:t>
                </a:r>
                <a:r>
                  <a:rPr lang="en-US" i="1" dirty="0"/>
                  <a:t>r</a:t>
                </a:r>
                <a:r>
                  <a:rPr lang="en-US" dirty="0"/>
                  <a:t>(</a:t>
                </a:r>
                <a:r>
                  <a:rPr lang="en-US" i="1" dirty="0"/>
                  <a:t>x</a:t>
                </a:r>
                <a:r>
                  <a:rPr lang="en-US" dirty="0"/>
                  <a:t>) – </a:t>
                </a:r>
                <a:r>
                  <a:rPr lang="en-US" i="1" dirty="0"/>
                  <a:t>r′</a:t>
                </a:r>
                <a:r>
                  <a:rPr lang="en-US" dirty="0"/>
                  <a:t>(</a:t>
                </a:r>
                <a:r>
                  <a:rPr lang="en-US" i="1" dirty="0"/>
                  <a:t>x</a:t>
                </a:r>
                <a:r>
                  <a:rPr lang="en-US" dirty="0"/>
                  <a:t>)) + (</a:t>
                </a:r>
                <a:r>
                  <a:rPr lang="en-US" i="1" dirty="0"/>
                  <a:t>r′</a:t>
                </a:r>
                <a:r>
                  <a:rPr lang="en-US" dirty="0"/>
                  <a:t> (</a:t>
                </a:r>
                <a:r>
                  <a:rPr lang="en-US" i="1" dirty="0"/>
                  <a:t>g</a:t>
                </a:r>
                <a:r>
                  <a:rPr lang="en-US" dirty="0"/>
                  <a:t>) – </a:t>
                </a:r>
                <a:r>
                  <a:rPr lang="en-US" i="1" dirty="0"/>
                  <a:t>r′</a:t>
                </a:r>
                <a:r>
                  <a:rPr lang="en-US" dirty="0"/>
                  <a:t> (</a:t>
                </a:r>
                <a:r>
                  <a:rPr lang="en-US" i="1" dirty="0"/>
                  <a:t>x</a:t>
                </a:r>
                <a:r>
                  <a:rPr lang="en-US" dirty="0"/>
                  <a:t>))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ru-RU" dirty="0"/>
              </a:p>
              <a:p>
                <a:r>
                  <a:rPr lang="en-US" dirty="0"/>
                  <a:t> </a:t>
                </a:r>
                <a:r>
                  <a:rPr lang="ru-RU" dirty="0"/>
                  <a:t>Из рисунка видно, что </a:t>
                </a:r>
                <a:r>
                  <a:rPr lang="en-US" dirty="0"/>
                  <a:t>w</a:t>
                </a:r>
                <a:r>
                  <a:rPr lang="ru-RU" i="1" dirty="0"/>
                  <a:t>′</a:t>
                </a:r>
                <a:r>
                  <a:rPr lang="ru-RU" dirty="0"/>
                  <a:t> (</a:t>
                </a:r>
                <a:r>
                  <a:rPr lang="en-US" dirty="0"/>
                  <a:t>g</a:t>
                </a:r>
                <a:r>
                  <a:rPr lang="ru-RU" dirty="0"/>
                  <a:t>) + </a:t>
                </a:r>
                <a:r>
                  <a:rPr lang="en-US" dirty="0"/>
                  <a:t>w</a:t>
                </a:r>
                <a:r>
                  <a:rPr lang="ru-RU" dirty="0"/>
                  <a:t>(</a:t>
                </a:r>
                <a:r>
                  <a:rPr lang="en-US" dirty="0"/>
                  <a:t>x</a:t>
                </a:r>
                <a:r>
                  <a:rPr lang="ru-RU" dirty="0"/>
                  <a:t>) ≤ </a:t>
                </a:r>
                <a:r>
                  <a:rPr lang="en-US" dirty="0"/>
                  <a:t>w</a:t>
                </a:r>
                <a:r>
                  <a:rPr lang="ru-RU" i="1" dirty="0"/>
                  <a:t>′</a:t>
                </a:r>
                <a:r>
                  <a:rPr lang="ru-RU" dirty="0"/>
                  <a:t>(</a:t>
                </a:r>
                <a:r>
                  <a:rPr lang="en-US" dirty="0"/>
                  <a:t>x</a:t>
                </a:r>
                <a:r>
                  <a:rPr lang="ru-RU" dirty="0"/>
                  <a:t>), значит, сумма выражений под логарифмами не превосходит единицы. </a:t>
                </a:r>
              </a:p>
              <a:p>
                <a:r>
                  <a:rPr lang="en-US" dirty="0"/>
                  <a:t>log</a:t>
                </a:r>
                <a:r>
                  <a:rPr lang="ru-RU" baseline="-25000" dirty="0"/>
                  <a:t>2</a:t>
                </a:r>
                <a:r>
                  <a:rPr lang="en-US" i="1" dirty="0"/>
                  <a:t>a</a:t>
                </a:r>
                <a:r>
                  <a:rPr lang="ru-RU" dirty="0"/>
                  <a:t> + </a:t>
                </a:r>
                <a:r>
                  <a:rPr lang="en-US" dirty="0"/>
                  <a:t>log</a:t>
                </a:r>
                <a:r>
                  <a:rPr lang="ru-RU" baseline="-25000" dirty="0"/>
                  <a:t>2</a:t>
                </a:r>
                <a:r>
                  <a:rPr lang="en-US" i="1" dirty="0"/>
                  <a:t>b</a:t>
                </a:r>
                <a:r>
                  <a:rPr lang="ru-RU" dirty="0"/>
                  <a:t> = </a:t>
                </a:r>
                <a:r>
                  <a:rPr lang="en-US" dirty="0"/>
                  <a:t>log</a:t>
                </a:r>
                <a:r>
                  <a:rPr lang="ru-RU" baseline="-25000" dirty="0"/>
                  <a:t>2</a:t>
                </a:r>
                <a:r>
                  <a:rPr lang="en-US" i="1" dirty="0" err="1"/>
                  <a:t>ab</a:t>
                </a:r>
                <a:r>
                  <a:rPr lang="ru-RU" dirty="0"/>
                  <a:t>, </a:t>
                </a:r>
                <a:r>
                  <a:rPr lang="en-US" i="1" dirty="0"/>
                  <a:t>a</a:t>
                </a:r>
                <a:r>
                  <a:rPr lang="ru-RU" dirty="0"/>
                  <a:t>+</a:t>
                </a:r>
                <a:r>
                  <a:rPr lang="en-US" i="1" dirty="0"/>
                  <a:t>b</a:t>
                </a:r>
                <a:r>
                  <a:rPr lang="en-US" dirty="0"/>
                  <a:t> </a:t>
                </a:r>
                <a:r>
                  <a:rPr lang="ru-RU" dirty="0"/>
                  <a:t>≤ 1, логарифм — функция возрастающая </a:t>
                </a:r>
                <a:r>
                  <a:rPr lang="ru-RU" dirty="0">
                    <a:sym typeface="Symbol"/>
                  </a:rPr>
                  <a:t></a:t>
                </a:r>
                <a:r>
                  <a:rPr lang="ru-RU" dirty="0"/>
                  <a:t> </a:t>
                </a:r>
                <a:r>
                  <a:rPr lang="en-US" i="1" dirty="0" err="1"/>
                  <a:t>ab</a:t>
                </a:r>
                <a:r>
                  <a:rPr lang="en-US" dirty="0"/>
                  <a:t> </a:t>
                </a:r>
                <a:r>
                  <a:rPr lang="ru-RU" dirty="0"/>
                  <a:t>≤ ¼ </a:t>
                </a:r>
                <a:r>
                  <a:rPr lang="ru-RU" dirty="0">
                    <a:sym typeface="Symbol"/>
                  </a:rPr>
                  <a:t></a:t>
                </a:r>
                <a:endParaRPr lang="ru-RU" dirty="0"/>
              </a:p>
              <a:p>
                <a:pPr algn="ctr"/>
                <a:r>
                  <a:rPr lang="en-US" dirty="0"/>
                  <a:t>log</a:t>
                </a:r>
                <a:r>
                  <a:rPr lang="en-US" baseline="-25000" dirty="0"/>
                  <a:t>2</a:t>
                </a:r>
                <a:r>
                  <a:rPr lang="en-US" dirty="0"/>
                  <a:t>ab ≤ –2</a:t>
                </a:r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255" y="3573016"/>
                <a:ext cx="8892480" cy="3313664"/>
              </a:xfrm>
              <a:prstGeom prst="rect">
                <a:avLst/>
              </a:prstGeom>
              <a:blipFill rotWithShape="1">
                <a:blip r:embed="rId3" cstate="print"/>
                <a:stretch>
                  <a:fillRect l="-617" t="-12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1095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360040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/>
              <a:t>Доказательство леммы - окончание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3198292"/>
                <a:ext cx="9036496" cy="3659708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ru-RU" b="1" dirty="0" err="1"/>
                  <a:t>Zig-zag</a:t>
                </a:r>
                <a:r>
                  <a:rPr lang="ru-RU" dirty="0"/>
                  <a:t>. Выполнено два поворота </a:t>
                </a:r>
                <a:r>
                  <a:rPr lang="ru-RU" dirty="0">
                    <a:sym typeface="Symbol"/>
                  </a:rPr>
                  <a:t></a:t>
                </a:r>
                <a:r>
                  <a:rPr lang="en-US" i="1" dirty="0" err="1"/>
                  <a:t>T</a:t>
                </a:r>
                <a:r>
                  <a:rPr lang="en-US" i="1" baseline="-25000" dirty="0" err="1"/>
                  <a:t>amort</a:t>
                </a:r>
                <a:r>
                  <a:rPr lang="en-US" dirty="0"/>
                  <a:t> = 2 + </a:t>
                </a:r>
                <a:r>
                  <a:rPr lang="en-US" i="1" dirty="0"/>
                  <a:t>r′</a:t>
                </a:r>
                <a:r>
                  <a:rPr lang="en-US" dirty="0"/>
                  <a:t> (</a:t>
                </a:r>
                <a:r>
                  <a:rPr lang="en-US" i="1" dirty="0"/>
                  <a:t>x</a:t>
                </a:r>
                <a:r>
                  <a:rPr lang="en-US" dirty="0"/>
                  <a:t>) + </a:t>
                </a:r>
                <a:r>
                  <a:rPr lang="en-US" i="1" dirty="0"/>
                  <a:t>r′</a:t>
                </a:r>
                <a:r>
                  <a:rPr lang="en-US" dirty="0"/>
                  <a:t> (</a:t>
                </a:r>
                <a:r>
                  <a:rPr lang="en-US" i="1" dirty="0"/>
                  <a:t>p</a:t>
                </a:r>
                <a:r>
                  <a:rPr lang="en-US" dirty="0"/>
                  <a:t>) + </a:t>
                </a:r>
                <a:r>
                  <a:rPr lang="en-US" i="1" dirty="0"/>
                  <a:t>r′</a:t>
                </a:r>
                <a:r>
                  <a:rPr lang="en-US" dirty="0"/>
                  <a:t> (</a:t>
                </a:r>
                <a:r>
                  <a:rPr lang="en-US" i="1" dirty="0"/>
                  <a:t>g</a:t>
                </a:r>
                <a:r>
                  <a:rPr lang="en-US" dirty="0"/>
                  <a:t>) – </a:t>
                </a:r>
                <a:r>
                  <a:rPr lang="en-US" i="1" dirty="0"/>
                  <a:t>r</a:t>
                </a:r>
                <a:r>
                  <a:rPr lang="en-US" dirty="0"/>
                  <a:t>(</a:t>
                </a:r>
                <a:r>
                  <a:rPr lang="en-US" i="1" dirty="0"/>
                  <a:t>x</a:t>
                </a:r>
                <a:r>
                  <a:rPr lang="en-US" dirty="0"/>
                  <a:t>) – </a:t>
                </a:r>
                <a:r>
                  <a:rPr lang="en-US" i="1" dirty="0"/>
                  <a:t>r</a:t>
                </a:r>
                <a:r>
                  <a:rPr lang="en-US" dirty="0"/>
                  <a:t>(</a:t>
                </a:r>
                <a:r>
                  <a:rPr lang="en-US" i="1" dirty="0"/>
                  <a:t>p</a:t>
                </a:r>
                <a:r>
                  <a:rPr lang="en-US" dirty="0"/>
                  <a:t>) – </a:t>
                </a:r>
                <a:r>
                  <a:rPr lang="en-US" i="1" dirty="0"/>
                  <a:t>r</a:t>
                </a:r>
                <a:r>
                  <a:rPr lang="en-US" dirty="0"/>
                  <a:t>(</a:t>
                </a:r>
                <a:r>
                  <a:rPr lang="en-US" i="1" dirty="0"/>
                  <a:t>g</a:t>
                </a:r>
                <a:r>
                  <a:rPr lang="en-US" dirty="0"/>
                  <a:t>) </a:t>
                </a:r>
                <a:endParaRPr lang="ru-RU" dirty="0"/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  <a:r>
                  <a:rPr lang="en-US" i="1" dirty="0"/>
                  <a:t>r′</a:t>
                </a:r>
                <a:r>
                  <a:rPr lang="en-US" dirty="0"/>
                  <a:t> (</a:t>
                </a:r>
                <a:r>
                  <a:rPr lang="en-US" i="1" dirty="0"/>
                  <a:t>x</a:t>
                </a:r>
                <a:r>
                  <a:rPr lang="en-US" dirty="0"/>
                  <a:t>)  = </a:t>
                </a:r>
                <a:r>
                  <a:rPr lang="en-US" i="1" dirty="0"/>
                  <a:t>r</a:t>
                </a:r>
                <a:r>
                  <a:rPr lang="en-US" dirty="0"/>
                  <a:t>(</a:t>
                </a:r>
                <a:r>
                  <a:rPr lang="en-US" i="1" dirty="0"/>
                  <a:t>g</a:t>
                </a:r>
                <a:r>
                  <a:rPr lang="en-US" dirty="0"/>
                  <a:t>) </a:t>
                </a:r>
                <a:r>
                  <a:rPr lang="ru-RU" dirty="0">
                    <a:sym typeface="Symbol"/>
                  </a:rPr>
                  <a:t></a:t>
                </a:r>
                <a:r>
                  <a:rPr lang="ru-RU" i="1" dirty="0"/>
                  <a:t> </a:t>
                </a:r>
                <a:r>
                  <a:rPr lang="en-US" i="1" dirty="0" err="1"/>
                  <a:t>T</a:t>
                </a:r>
                <a:r>
                  <a:rPr lang="en-US" i="1" baseline="-25000" dirty="0" err="1"/>
                  <a:t>amort</a:t>
                </a:r>
                <a:r>
                  <a:rPr lang="en-US" dirty="0"/>
                  <a:t> = 2 + </a:t>
                </a:r>
                <a:r>
                  <a:rPr lang="en-US" i="1" dirty="0"/>
                  <a:t>r’</a:t>
                </a:r>
                <a:r>
                  <a:rPr lang="en-US" dirty="0"/>
                  <a:t>(</a:t>
                </a:r>
                <a:r>
                  <a:rPr lang="en-US" i="1" dirty="0"/>
                  <a:t>p</a:t>
                </a:r>
                <a:r>
                  <a:rPr lang="en-US" dirty="0"/>
                  <a:t>) + </a:t>
                </a:r>
                <a:r>
                  <a:rPr lang="en-US" i="1" dirty="0"/>
                  <a:t>r′</a:t>
                </a:r>
                <a:r>
                  <a:rPr lang="en-US" dirty="0"/>
                  <a:t> (</a:t>
                </a:r>
                <a:r>
                  <a:rPr lang="en-US" i="1" dirty="0"/>
                  <a:t>g</a:t>
                </a:r>
                <a:r>
                  <a:rPr lang="en-US" dirty="0"/>
                  <a:t>) – </a:t>
                </a:r>
                <a:r>
                  <a:rPr lang="en-US" i="1" dirty="0"/>
                  <a:t>r</a:t>
                </a:r>
                <a:r>
                  <a:rPr lang="en-US" dirty="0"/>
                  <a:t>(</a:t>
                </a:r>
                <a:r>
                  <a:rPr lang="en-US" i="1" dirty="0"/>
                  <a:t>x</a:t>
                </a:r>
                <a:r>
                  <a:rPr lang="en-US" dirty="0"/>
                  <a:t>) – </a:t>
                </a:r>
                <a:r>
                  <a:rPr lang="en-US" i="1" dirty="0"/>
                  <a:t>r</a:t>
                </a:r>
                <a:r>
                  <a:rPr lang="en-US" dirty="0"/>
                  <a:t>(</a:t>
                </a:r>
                <a:r>
                  <a:rPr lang="en-US" i="1" dirty="0"/>
                  <a:t>p</a:t>
                </a:r>
                <a:r>
                  <a:rPr lang="en-US" dirty="0"/>
                  <a:t>) </a:t>
                </a:r>
                <a:endParaRPr lang="ru-RU" dirty="0"/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  <a:r>
                  <a:rPr lang="en-US" i="1" dirty="0"/>
                  <a:t>r</a:t>
                </a:r>
                <a:r>
                  <a:rPr lang="en-US" dirty="0"/>
                  <a:t>(</a:t>
                </a:r>
                <a:r>
                  <a:rPr lang="en-US" i="1" dirty="0"/>
                  <a:t>x</a:t>
                </a:r>
                <a:r>
                  <a:rPr lang="en-US" dirty="0"/>
                  <a:t>) ≤  </a:t>
                </a:r>
                <a:r>
                  <a:rPr lang="en-US" i="1" dirty="0"/>
                  <a:t>r</a:t>
                </a:r>
                <a:r>
                  <a:rPr lang="en-US" dirty="0"/>
                  <a:t>(</a:t>
                </a:r>
                <a:r>
                  <a:rPr lang="en-US" i="1" dirty="0"/>
                  <a:t>p</a:t>
                </a:r>
                <a:r>
                  <a:rPr lang="en-US" dirty="0"/>
                  <a:t>)  </a:t>
                </a:r>
                <a:r>
                  <a:rPr lang="ru-RU" dirty="0">
                    <a:sym typeface="Symbol"/>
                  </a:rPr>
                  <a:t></a:t>
                </a:r>
                <a:r>
                  <a:rPr lang="ru-RU" i="1" dirty="0"/>
                  <a:t> </a:t>
                </a:r>
                <a:r>
                  <a:rPr lang="en-US" i="1" dirty="0" err="1"/>
                  <a:t>T</a:t>
                </a:r>
                <a:r>
                  <a:rPr lang="en-US" i="1" baseline="-25000" dirty="0" err="1"/>
                  <a:t>amort</a:t>
                </a:r>
                <a:r>
                  <a:rPr lang="en-US" dirty="0"/>
                  <a:t>  ≤ 2 + </a:t>
                </a:r>
                <a:r>
                  <a:rPr lang="en-US" i="1" dirty="0"/>
                  <a:t>r′</a:t>
                </a:r>
                <a:r>
                  <a:rPr lang="en-US" dirty="0"/>
                  <a:t> (</a:t>
                </a:r>
                <a:r>
                  <a:rPr lang="en-US" i="1" dirty="0"/>
                  <a:t>p</a:t>
                </a:r>
                <a:r>
                  <a:rPr lang="en-US" dirty="0"/>
                  <a:t>) + </a:t>
                </a:r>
                <a:r>
                  <a:rPr lang="en-US" i="1" dirty="0"/>
                  <a:t>r′</a:t>
                </a:r>
                <a:r>
                  <a:rPr lang="en-US" dirty="0"/>
                  <a:t> (</a:t>
                </a:r>
                <a:r>
                  <a:rPr lang="en-US" i="1" dirty="0"/>
                  <a:t>g</a:t>
                </a:r>
                <a:r>
                  <a:rPr lang="en-US" dirty="0"/>
                  <a:t>) – 2</a:t>
                </a:r>
                <a:r>
                  <a:rPr lang="en-US" i="1" dirty="0"/>
                  <a:t>r</a:t>
                </a:r>
                <a:r>
                  <a:rPr lang="en-US" dirty="0"/>
                  <a:t>(</a:t>
                </a:r>
                <a:r>
                  <a:rPr lang="en-US" i="1" dirty="0"/>
                  <a:t>x</a:t>
                </a:r>
                <a:r>
                  <a:rPr lang="en-US" dirty="0"/>
                  <a:t>)  ≤  2( </a:t>
                </a:r>
                <a:r>
                  <a:rPr lang="en-US" i="1" dirty="0"/>
                  <a:t>r′</a:t>
                </a:r>
                <a:r>
                  <a:rPr lang="en-US" dirty="0"/>
                  <a:t> (</a:t>
                </a:r>
                <a:r>
                  <a:rPr lang="en-US" i="1" dirty="0"/>
                  <a:t>x</a:t>
                </a:r>
                <a:r>
                  <a:rPr lang="en-US" dirty="0"/>
                  <a:t>) – </a:t>
                </a:r>
                <a:r>
                  <a:rPr lang="en-US" i="1" dirty="0"/>
                  <a:t>r</a:t>
                </a:r>
                <a:r>
                  <a:rPr lang="en-US" dirty="0"/>
                  <a:t>(</a:t>
                </a:r>
                <a:r>
                  <a:rPr lang="en-US" i="1" dirty="0"/>
                  <a:t>x</a:t>
                </a:r>
                <a:r>
                  <a:rPr lang="en-US" dirty="0"/>
                  <a:t>)),</a:t>
                </a:r>
                <a:r>
                  <a:rPr lang="ru-RU" dirty="0"/>
                  <a:t> </a:t>
                </a:r>
                <a:r>
                  <a:rPr lang="en-US" dirty="0"/>
                  <a:t> –</a:t>
                </a:r>
                <a:r>
                  <a:rPr lang="ru-RU" dirty="0"/>
                  <a:t> </a:t>
                </a:r>
                <a:r>
                  <a:rPr lang="ru-RU" dirty="0">
                    <a:solidFill>
                      <a:srgbClr val="FF0000"/>
                    </a:solidFill>
                  </a:rPr>
                  <a:t>надо доказать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:r>
                  <a:rPr lang="ru-RU" dirty="0"/>
                  <a:t>т</a:t>
                </a:r>
                <a:r>
                  <a:rPr lang="en-US" dirty="0"/>
                  <a:t>.</a:t>
                </a:r>
                <a:r>
                  <a:rPr lang="ru-RU" dirty="0"/>
                  <a:t>е</a:t>
                </a:r>
                <a:r>
                  <a:rPr lang="en-US" dirty="0"/>
                  <a:t>.  </a:t>
                </a:r>
                <a:r>
                  <a:rPr lang="en-US" i="1" dirty="0"/>
                  <a:t>r′</a:t>
                </a:r>
                <a:r>
                  <a:rPr lang="en-US" dirty="0"/>
                  <a:t> (</a:t>
                </a:r>
                <a:r>
                  <a:rPr lang="en-US" i="1" dirty="0"/>
                  <a:t>p</a:t>
                </a:r>
                <a:r>
                  <a:rPr lang="en-US" dirty="0"/>
                  <a:t>) + </a:t>
                </a:r>
                <a:r>
                  <a:rPr lang="en-US" i="1" dirty="0"/>
                  <a:t>r′</a:t>
                </a:r>
                <a:r>
                  <a:rPr lang="en-US" dirty="0"/>
                  <a:t> (</a:t>
                </a:r>
                <a:r>
                  <a:rPr lang="en-US" i="1" dirty="0"/>
                  <a:t>g</a:t>
                </a:r>
                <a:r>
                  <a:rPr lang="en-US" dirty="0"/>
                  <a:t>) – 2</a:t>
                </a:r>
                <a:r>
                  <a:rPr lang="en-US" i="1" dirty="0"/>
                  <a:t>r′</a:t>
                </a:r>
                <a:r>
                  <a:rPr lang="en-US" dirty="0"/>
                  <a:t> (</a:t>
                </a:r>
                <a:r>
                  <a:rPr lang="en-US" i="1" dirty="0"/>
                  <a:t>x</a:t>
                </a:r>
                <a:r>
                  <a:rPr lang="en-US" dirty="0"/>
                  <a:t>) ≤  – 2.</a:t>
                </a:r>
                <a:endParaRPr lang="ru-RU" dirty="0"/>
              </a:p>
              <a:p>
                <a:pPr marL="0" indent="0">
                  <a:buNone/>
                </a:pPr>
                <a:r>
                  <a:rPr lang="en-US" i="1" dirty="0"/>
                  <a:t>(r</a:t>
                </a:r>
                <a:r>
                  <a:rPr lang="en-US" dirty="0"/>
                  <a:t>(</a:t>
                </a:r>
                <a:r>
                  <a:rPr lang="en-US" i="1" dirty="0"/>
                  <a:t>p</a:t>
                </a:r>
                <a:r>
                  <a:rPr lang="en-US" dirty="0"/>
                  <a:t>) + </a:t>
                </a:r>
                <a:r>
                  <a:rPr lang="en-US" i="1" dirty="0"/>
                  <a:t>r′</a:t>
                </a:r>
                <a:r>
                  <a:rPr lang="en-US" dirty="0"/>
                  <a:t>(</a:t>
                </a:r>
                <a:r>
                  <a:rPr lang="en-US" i="1" dirty="0"/>
                  <a:t>g</a:t>
                </a:r>
                <a:r>
                  <a:rPr lang="en-US" dirty="0"/>
                  <a:t>)) – 2</a:t>
                </a:r>
                <a:r>
                  <a:rPr lang="en-US" i="1" dirty="0"/>
                  <a:t>r′</a:t>
                </a:r>
                <a:r>
                  <a:rPr lang="en-US" dirty="0"/>
                  <a:t> (</a:t>
                </a:r>
                <a:r>
                  <a:rPr lang="en-US" i="1" dirty="0"/>
                  <a:t>x</a:t>
                </a:r>
                <a:r>
                  <a:rPr lang="en-US" dirty="0"/>
                  <a:t>))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–2</a:t>
                </a:r>
                <a:endParaRPr lang="ru-RU" dirty="0"/>
              </a:p>
              <a:p>
                <a:pPr marL="0" indent="0">
                  <a:buNone/>
                </a:pPr>
                <a:endParaRPr lang="ru-RU" i="1" dirty="0"/>
              </a:p>
              <a:p>
                <a:pPr marL="0" indent="0">
                  <a:buNone/>
                </a:pPr>
                <a:r>
                  <a:rPr lang="en-US" i="1" dirty="0" err="1"/>
                  <a:t>T</a:t>
                </a:r>
                <a:r>
                  <a:rPr lang="en-US" i="1" baseline="-25000" dirty="0" err="1"/>
                  <a:t>amort</a:t>
                </a:r>
                <a:r>
                  <a:rPr lang="en-US" dirty="0"/>
                  <a:t>  ≤   2( </a:t>
                </a:r>
                <a:r>
                  <a:rPr lang="en-US" i="1" dirty="0"/>
                  <a:t>r′</a:t>
                </a:r>
                <a:r>
                  <a:rPr lang="en-US" dirty="0"/>
                  <a:t> (</a:t>
                </a:r>
                <a:r>
                  <a:rPr lang="en-US" i="1" dirty="0"/>
                  <a:t>x</a:t>
                </a:r>
                <a:r>
                  <a:rPr lang="en-US" dirty="0"/>
                  <a:t>) – </a:t>
                </a:r>
                <a:r>
                  <a:rPr lang="en-US" i="1" dirty="0"/>
                  <a:t>r</a:t>
                </a:r>
                <a:r>
                  <a:rPr lang="en-US" dirty="0"/>
                  <a:t>(</a:t>
                </a:r>
                <a:r>
                  <a:rPr lang="en-US" i="1" dirty="0"/>
                  <a:t>x</a:t>
                </a:r>
                <a:r>
                  <a:rPr lang="en-US" dirty="0"/>
                  <a:t>)) ≤ 3 (</a:t>
                </a:r>
                <a:r>
                  <a:rPr lang="en-US" i="1" dirty="0"/>
                  <a:t>r′</a:t>
                </a:r>
                <a:r>
                  <a:rPr lang="en-US" dirty="0"/>
                  <a:t> (</a:t>
                </a:r>
                <a:r>
                  <a:rPr lang="en-US" i="1" dirty="0"/>
                  <a:t>x</a:t>
                </a:r>
                <a:r>
                  <a:rPr lang="en-US" dirty="0"/>
                  <a:t>) – </a:t>
                </a:r>
                <a:r>
                  <a:rPr lang="en-US" i="1" dirty="0"/>
                  <a:t>r</a:t>
                </a:r>
                <a:r>
                  <a:rPr lang="en-US" dirty="0"/>
                  <a:t>(</a:t>
                </a:r>
                <a:r>
                  <a:rPr lang="en-US" i="1" dirty="0"/>
                  <a:t>x</a:t>
                </a:r>
                <a:r>
                  <a:rPr lang="en-US" dirty="0"/>
                  <a:t>))</a:t>
                </a:r>
                <a:endParaRPr lang="ru-RU" dirty="0"/>
              </a:p>
              <a:p>
                <a:pPr marL="0" indent="0">
                  <a:buNone/>
                </a:pPr>
                <a:endParaRPr lang="ru-RU" i="1" dirty="0"/>
              </a:p>
              <a:p>
                <a:pPr marL="0" indent="0">
                  <a:buNone/>
                </a:pPr>
                <a:r>
                  <a:rPr lang="ru-RU" i="1" dirty="0"/>
                  <a:t>	</a:t>
                </a:r>
                <a:r>
                  <a:rPr lang="en-US" i="1" dirty="0" err="1"/>
                  <a:t>T</a:t>
                </a:r>
                <a:r>
                  <a:rPr lang="en-US" i="1" baseline="-25000" dirty="0" err="1"/>
                  <a:t>splay</a:t>
                </a:r>
                <a:r>
                  <a:rPr lang="en-US" dirty="0"/>
                  <a:t>  ≤   3 </a:t>
                </a:r>
                <a:r>
                  <a:rPr lang="en-US" i="1" dirty="0"/>
                  <a:t>r</a:t>
                </a:r>
                <a:r>
                  <a:rPr lang="en-US" dirty="0"/>
                  <a:t>(</a:t>
                </a:r>
                <a:r>
                  <a:rPr lang="en-US" i="1" dirty="0"/>
                  <a:t>t</a:t>
                </a:r>
                <a:r>
                  <a:rPr lang="en-US" dirty="0"/>
                  <a:t>) – 3</a:t>
                </a:r>
                <a:r>
                  <a:rPr lang="en-US" i="1" dirty="0"/>
                  <a:t>r</a:t>
                </a:r>
                <a:r>
                  <a:rPr lang="en-US" dirty="0"/>
                  <a:t>(</a:t>
                </a:r>
                <a:r>
                  <a:rPr lang="en-US" i="1" dirty="0"/>
                  <a:t>x</a:t>
                </a:r>
                <a:r>
                  <a:rPr lang="en-US" dirty="0"/>
                  <a:t>) + 1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i="1" dirty="0"/>
                  <a:t>	</a:t>
                </a:r>
                <a:r>
                  <a:rPr lang="en-US" i="1" dirty="0" err="1"/>
                  <a:t>T</a:t>
                </a:r>
                <a:r>
                  <a:rPr lang="en-US" i="1" baseline="-25000" dirty="0" err="1"/>
                  <a:t>splay</a:t>
                </a:r>
                <a:r>
                  <a:rPr lang="en-US" dirty="0"/>
                  <a:t>  ≤   3 log</a:t>
                </a:r>
                <a:r>
                  <a:rPr lang="en-US" baseline="-25000" dirty="0"/>
                  <a:t>2</a:t>
                </a:r>
                <a:r>
                  <a:rPr lang="en-US" i="1" dirty="0"/>
                  <a:t>N</a:t>
                </a:r>
                <a:r>
                  <a:rPr lang="en-US" dirty="0"/>
                  <a:t> – 3 log</a:t>
                </a:r>
                <a:r>
                  <a:rPr lang="en-US" baseline="-25000" dirty="0"/>
                  <a:t>2</a:t>
                </a:r>
                <a:r>
                  <a:rPr lang="en-US" i="1" dirty="0"/>
                  <a:t>w</a:t>
                </a:r>
                <a:r>
                  <a:rPr lang="en-US" dirty="0"/>
                  <a:t>(</a:t>
                </a:r>
                <a:r>
                  <a:rPr lang="en-US" i="1" dirty="0"/>
                  <a:t>x</a:t>
                </a:r>
                <a:r>
                  <a:rPr lang="en-US" dirty="0"/>
                  <a:t>) + 1 = O(log</a:t>
                </a:r>
                <a:r>
                  <a:rPr lang="en-US" baseline="-25000" dirty="0"/>
                  <a:t>2</a:t>
                </a:r>
                <a:r>
                  <a:rPr lang="en-US" i="1" dirty="0"/>
                  <a:t>N</a:t>
                </a:r>
                <a:r>
                  <a:rPr lang="en-US" dirty="0"/>
                  <a:t>)</a:t>
                </a: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3198292"/>
                <a:ext cx="9036496" cy="3659708"/>
              </a:xfrm>
              <a:blipFill rotWithShape="1">
                <a:blip r:embed="rId2" cstate="print"/>
                <a:stretch>
                  <a:fillRect l="-742" t="-2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 descr="zigzag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7544" y="620688"/>
            <a:ext cx="8064896" cy="256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015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1756</TotalTime>
  <Words>3593</Words>
  <Application>Microsoft Office PowerPoint</Application>
  <PresentationFormat>Экран (4:3)</PresentationFormat>
  <Paragraphs>484</Paragraphs>
  <Slides>47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47</vt:i4>
      </vt:variant>
    </vt:vector>
  </HeadingPairs>
  <TitlesOfParts>
    <vt:vector size="53" baseType="lpstr">
      <vt:lpstr>Arial</vt:lpstr>
      <vt:lpstr>Calibri</vt:lpstr>
      <vt:lpstr>Cambria Math</vt:lpstr>
      <vt:lpstr>Courier New</vt:lpstr>
      <vt:lpstr>Times New Roman</vt:lpstr>
      <vt:lpstr>Тема Office</vt:lpstr>
      <vt:lpstr>Алгоритмы и структуры данных</vt:lpstr>
      <vt:lpstr>Бинарные деревья</vt:lpstr>
      <vt:lpstr>Обходы деревьев в глубину</vt:lpstr>
      <vt:lpstr>Обходы деревьев в глубину. Пример 1.</vt:lpstr>
      <vt:lpstr>Обходы деревьев в глубину. Пример 2</vt:lpstr>
      <vt:lpstr>Реализация обхода</vt:lpstr>
      <vt:lpstr>Обход дерева в ширину</vt:lpstr>
      <vt:lpstr>Обход дерева в ширину. Пример</vt:lpstr>
      <vt:lpstr>Представления деревьев</vt:lpstr>
      <vt:lpstr>Скобочные представления деревьев</vt:lpstr>
      <vt:lpstr>Представление дерева списком прямых предков</vt:lpstr>
      <vt:lpstr>Дерево двоичного поиска</vt:lpstr>
      <vt:lpstr>Дерево двоичного поиска. Пример</vt:lpstr>
      <vt:lpstr>Алгоритм просмотра дерева двоичного поиска</vt:lpstr>
      <vt:lpstr>Пример построения дерева двоичного поиска</vt:lpstr>
      <vt:lpstr>Операции нахождения минимума и максимума</vt:lpstr>
      <vt:lpstr>Операция поиска следующего </vt:lpstr>
      <vt:lpstr>Операция удаления элемента из дерева поиска</vt:lpstr>
      <vt:lpstr>Пример удаления элемента из дерева поиска</vt:lpstr>
      <vt:lpstr>Пример удаления элемента из дерева поиска (окончание)</vt:lpstr>
      <vt:lpstr>Теорема (Т. Кормен и др.)</vt:lpstr>
      <vt:lpstr>Сбалансированные деревья</vt:lpstr>
      <vt:lpstr>Вставка элемента в сбалансированное дерево</vt:lpstr>
      <vt:lpstr>Вставка в левое поддерево</vt:lpstr>
      <vt:lpstr>Вставка в правое поддерево</vt:lpstr>
      <vt:lpstr>Пример построения АВЛ-дерева</vt:lpstr>
      <vt:lpstr>Красно-чёрное дерево (Red-Black-Tree, RB-Tree)</vt:lpstr>
      <vt:lpstr> Пример  </vt:lpstr>
      <vt:lpstr>Свойства красно-чёрного дерева </vt:lpstr>
      <vt:lpstr>Повороты</vt:lpstr>
      <vt:lpstr>Операция вставки</vt:lpstr>
      <vt:lpstr>Красный предок, красный «дядя» – случай 1 </vt:lpstr>
      <vt:lpstr>Красный предок, черный «дядя» - случаи 2 и 3</vt:lpstr>
      <vt:lpstr>Пример</vt:lpstr>
      <vt:lpstr>Пример, окончание</vt:lpstr>
      <vt:lpstr>Удаление узла</vt:lpstr>
      <vt:lpstr>Сравнение с АВЛ-деревом</vt:lpstr>
      <vt:lpstr>Поиск, вставка, удаление </vt:lpstr>
      <vt:lpstr>Splay деревья</vt:lpstr>
      <vt:lpstr>Splay(Tree, x)</vt:lpstr>
      <vt:lpstr>Splay(Tree, x)</vt:lpstr>
      <vt:lpstr>Splay(Tree, x)</vt:lpstr>
      <vt:lpstr>Операции</vt:lpstr>
      <vt:lpstr>Анализ Splay</vt:lpstr>
      <vt:lpstr>Доказательство леммы</vt:lpstr>
      <vt:lpstr>Доказательство леммы - Zig-zig. </vt:lpstr>
      <vt:lpstr>Доказательство леммы - окончание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Алгоритмы и структуры данных поиска</dc:title>
  <dc:creator>nest</dc:creator>
  <cp:lastModifiedBy>Татьяна Нестеренко</cp:lastModifiedBy>
  <cp:revision>41</cp:revision>
  <dcterms:created xsi:type="dcterms:W3CDTF">2013-09-26T16:43:52Z</dcterms:created>
  <dcterms:modified xsi:type="dcterms:W3CDTF">2021-03-31T16:27:12Z</dcterms:modified>
</cp:coreProperties>
</file>