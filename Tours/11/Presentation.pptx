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320" r:id="rId2"/>
    <p:sldId id="297" r:id="rId3"/>
    <p:sldId id="298" r:id="rId4"/>
    <p:sldId id="299" r:id="rId5"/>
    <p:sldId id="315" r:id="rId6"/>
    <p:sldId id="300" r:id="rId7"/>
    <p:sldId id="258" r:id="rId8"/>
    <p:sldId id="301" r:id="rId9"/>
    <p:sldId id="319" r:id="rId10"/>
    <p:sldId id="302" r:id="rId11"/>
    <p:sldId id="303" r:id="rId12"/>
    <p:sldId id="316" r:id="rId13"/>
    <p:sldId id="304" r:id="rId14"/>
    <p:sldId id="305" r:id="rId15"/>
    <p:sldId id="306" r:id="rId16"/>
    <p:sldId id="307" r:id="rId17"/>
    <p:sldId id="308" r:id="rId18"/>
    <p:sldId id="321" r:id="rId19"/>
    <p:sldId id="309" r:id="rId20"/>
    <p:sldId id="257" r:id="rId21"/>
    <p:sldId id="268" r:id="rId22"/>
    <p:sldId id="310" r:id="rId23"/>
    <p:sldId id="266" r:id="rId24"/>
    <p:sldId id="267" r:id="rId25"/>
    <p:sldId id="271" r:id="rId26"/>
    <p:sldId id="273" r:id="rId27"/>
    <p:sldId id="269" r:id="rId28"/>
    <p:sldId id="272" r:id="rId29"/>
    <p:sldId id="274" r:id="rId30"/>
    <p:sldId id="322" r:id="rId31"/>
    <p:sldId id="323" r:id="rId32"/>
    <p:sldId id="270" r:id="rId33"/>
    <p:sldId id="259" r:id="rId34"/>
    <p:sldId id="260" r:id="rId35"/>
    <p:sldId id="261" r:id="rId36"/>
    <p:sldId id="262" r:id="rId37"/>
    <p:sldId id="263" r:id="rId38"/>
    <p:sldId id="264" r:id="rId39"/>
    <p:sldId id="311" r:id="rId40"/>
    <p:sldId id="313" r:id="rId41"/>
    <p:sldId id="314" r:id="rId42"/>
    <p:sldId id="265" r:id="rId4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64" autoAdjust="0"/>
  </p:normalViewPr>
  <p:slideViewPr>
    <p:cSldViewPr>
      <p:cViewPr varScale="1">
        <p:scale>
          <a:sx n="71" d="100"/>
          <a:sy n="71" d="100"/>
        </p:scale>
        <p:origin x="165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DFCCA-3574-46E7-90FD-FA768488D8EA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63C6-0EB1-48A6-9D96-9EF508017F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1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063C6-0EB1-48A6-9D96-9EF508017F7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84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4063C6-0EB1-48A6-9D96-9EF508017F7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26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4063C6-0EB1-48A6-9D96-9EF508017F7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63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4063C6-0EB1-48A6-9D96-9EF508017F7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97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0660-3E82-41CE-8FAE-B2488B3AED1C}" type="datetimeFigureOut">
              <a:rPr lang="ru-RU" smtClean="0"/>
              <a:pPr/>
              <a:t>08.12.2021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481C-1312-4549-BEDC-6EDF27530C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0660-3E82-41CE-8FAE-B2488B3AED1C}" type="datetimeFigureOut">
              <a:rPr lang="ru-RU" smtClean="0"/>
              <a:pPr/>
              <a:t>08.12.2021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481C-1312-4549-BEDC-6EDF27530C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0660-3E82-41CE-8FAE-B2488B3AED1C}" type="datetimeFigureOut">
              <a:rPr lang="ru-RU" smtClean="0"/>
              <a:pPr/>
              <a:t>08.12.2021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481C-1312-4549-BEDC-6EDF27530C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0660-3E82-41CE-8FAE-B2488B3AED1C}" type="datetimeFigureOut">
              <a:rPr lang="ru-RU" smtClean="0"/>
              <a:pPr/>
              <a:t>08.12.2021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481C-1312-4549-BEDC-6EDF27530C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0660-3E82-41CE-8FAE-B2488B3AED1C}" type="datetimeFigureOut">
              <a:rPr lang="ru-RU" smtClean="0"/>
              <a:pPr/>
              <a:t>08.12.2021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481C-1312-4549-BEDC-6EDF27530C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0660-3E82-41CE-8FAE-B2488B3AED1C}" type="datetimeFigureOut">
              <a:rPr lang="ru-RU" smtClean="0"/>
              <a:pPr/>
              <a:t>08.12.2021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481C-1312-4549-BEDC-6EDF27530C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0660-3E82-41CE-8FAE-B2488B3AED1C}" type="datetimeFigureOut">
              <a:rPr lang="ru-RU" smtClean="0"/>
              <a:pPr/>
              <a:t>08.12.2021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481C-1312-4549-BEDC-6EDF27530C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0660-3E82-41CE-8FAE-B2488B3AED1C}" type="datetimeFigureOut">
              <a:rPr lang="ru-RU" smtClean="0"/>
              <a:pPr/>
              <a:t>08.12.2021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481C-1312-4549-BEDC-6EDF27530C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0660-3E82-41CE-8FAE-B2488B3AED1C}" type="datetimeFigureOut">
              <a:rPr lang="ru-RU" smtClean="0"/>
              <a:pPr/>
              <a:t>08.12.2021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481C-1312-4549-BEDC-6EDF27530C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0660-3E82-41CE-8FAE-B2488B3AED1C}" type="datetimeFigureOut">
              <a:rPr lang="ru-RU" smtClean="0"/>
              <a:pPr/>
              <a:t>08.12.2021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481C-1312-4549-BEDC-6EDF27530C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D0660-3E82-41CE-8FAE-B2488B3AED1C}" type="datetimeFigureOut">
              <a:rPr lang="ru-RU" smtClean="0"/>
              <a:pPr/>
              <a:t>08.12.2021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481C-1312-4549-BEDC-6EDF27530C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D0660-3E82-41CE-8FAE-B2488B3AED1C}" type="datetimeFigureOut">
              <a:rPr lang="ru-RU" smtClean="0"/>
              <a:pPr/>
              <a:t>08.12.2021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481C-1312-4549-BEDC-6EDF27530CC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943C77D-1A83-4327-84D9-B9C87DDE4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1124745"/>
            <a:ext cx="8568952" cy="2475706"/>
          </a:xfrm>
        </p:spPr>
        <p:txBody>
          <a:bodyPr>
            <a:normAutofit/>
          </a:bodyPr>
          <a:lstStyle/>
          <a:p>
            <a:r>
              <a:rPr lang="ru-RU" sz="3600" dirty="0"/>
              <a:t>Информационная модель Шеннона</a:t>
            </a:r>
            <a:br>
              <a:rPr lang="ru-RU" sz="3600" dirty="0"/>
            </a:br>
            <a:r>
              <a:rPr lang="ru-RU" sz="3600" dirty="0"/>
              <a:t>Кодирование информации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E87645D3-3DC6-4357-AAF0-D8CCF0F9D6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13</a:t>
            </a:r>
          </a:p>
        </p:txBody>
      </p:sp>
    </p:spTree>
    <p:extLst>
      <p:ext uri="{BB962C8B-B14F-4D97-AF65-F5344CB8AC3E}">
        <p14:creationId xmlns:p14="http://schemas.microsoft.com/office/powerpoint/2010/main" val="89795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92696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Информационная модель Шеннона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94928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/>
              <a:t>К. Шеннон в </a:t>
            </a:r>
            <a:r>
              <a:rPr lang="ru-RU" dirty="0">
                <a:solidFill>
                  <a:srgbClr val="FF0000"/>
                </a:solidFill>
              </a:rPr>
              <a:t>1936</a:t>
            </a:r>
            <a:r>
              <a:rPr lang="ru-RU" dirty="0"/>
              <a:t> году предложил </a:t>
            </a:r>
            <a:r>
              <a:rPr lang="ru-RU" dirty="0">
                <a:solidFill>
                  <a:srgbClr val="FF0000"/>
                </a:solidFill>
              </a:rPr>
              <a:t>модель передачи информации,</a:t>
            </a:r>
            <a:r>
              <a:rPr lang="ru-RU" dirty="0"/>
              <a:t> в которой имеется источник (кодер) и приёмник (декодер). </a:t>
            </a:r>
          </a:p>
          <a:p>
            <a:pPr>
              <a:buNone/>
            </a:pPr>
            <a:r>
              <a:rPr lang="ru-RU" dirty="0"/>
              <a:t>Источник и приёмник связаны между собой каналом, по которому передаются сообщения. </a:t>
            </a:r>
          </a:p>
          <a:p>
            <a:pPr>
              <a:buNone/>
            </a:pPr>
            <a:r>
              <a:rPr lang="ru-RU" dirty="0"/>
              <a:t>Канал не искажает и не теряет сообщения.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Пусть в области источника происходит наблюдение за некоторой случайной величиной. </a:t>
            </a:r>
          </a:p>
          <a:p>
            <a:pPr>
              <a:buNone/>
            </a:pPr>
            <a:r>
              <a:rPr lang="ru-RU" dirty="0"/>
              <a:t>Приёмник может иметь </a:t>
            </a:r>
            <a:r>
              <a:rPr lang="ru-RU" i="1" dirty="0">
                <a:solidFill>
                  <a:srgbClr val="0070C0"/>
                </a:solidFill>
              </a:rPr>
              <a:t>априорное</a:t>
            </a:r>
            <a:r>
              <a:rPr lang="ru-RU" i="1" dirty="0"/>
              <a:t> </a:t>
            </a:r>
            <a:r>
              <a:rPr lang="ru-RU" dirty="0"/>
              <a:t>представление о множестве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lang="ru-RU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/>
              <a:t>возможных исходов (если ничего не известно заранее, то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/>
              <a:t>– </a:t>
            </a:r>
            <a:r>
              <a:rPr lang="ru-RU" dirty="0"/>
              <a:t>всё пространство всевозможных исходов</a:t>
            </a:r>
            <a:r>
              <a:rPr lang="ru-RU" b="1" dirty="0"/>
              <a:t>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r>
              <a:rPr lang="ru-RU" dirty="0"/>
              <a:t>). 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Источник передаёт приёмнику сообщение о произошедшем наблюдении, после чего множество предполагаемых</a:t>
            </a:r>
            <a:r>
              <a:rPr lang="ru-RU" b="1" dirty="0"/>
              <a:t> </a:t>
            </a:r>
            <a:r>
              <a:rPr lang="ru-RU" dirty="0"/>
              <a:t>возможных исходах приёмника сужается до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 </a:t>
            </a:r>
            <a:r>
              <a:rPr lang="ru-RU" dirty="0"/>
              <a:t>(возможно, до одного наблюдаемого исхода). </a:t>
            </a: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</a:t>
            </a:r>
            <a:r>
              <a:rPr lang="ru-RU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/>
              <a:t>– </a:t>
            </a:r>
            <a:r>
              <a:rPr lang="ru-RU" i="1" dirty="0">
                <a:solidFill>
                  <a:srgbClr val="0070C0"/>
                </a:solidFill>
              </a:rPr>
              <a:t>апостериорное</a:t>
            </a:r>
            <a:r>
              <a:rPr lang="ru-RU" dirty="0"/>
              <a:t> представление.</a:t>
            </a:r>
          </a:p>
        </p:txBody>
      </p:sp>
    </p:spTree>
    <p:extLst>
      <p:ext uri="{BB962C8B-B14F-4D97-AF65-F5344CB8AC3E}">
        <p14:creationId xmlns:p14="http://schemas.microsoft.com/office/powerpoint/2010/main" val="2764604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8680"/>
          </a:xfrm>
        </p:spPr>
        <p:txBody>
          <a:bodyPr>
            <a:noAutofit/>
          </a:bodyPr>
          <a:lstStyle/>
          <a:p>
            <a:r>
              <a:rPr lang="ru-RU" sz="3200" b="1" i="1" dirty="0"/>
              <a:t>Количество информации</a:t>
            </a:r>
            <a:endParaRPr lang="en-US" sz="32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620688"/>
                <a:ext cx="9144000" cy="6237312"/>
              </a:xfrm>
            </p:spPr>
            <p:txBody>
              <a:bodyPr tIns="36000"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sz="3000" dirty="0"/>
                  <a:t>Определим </a:t>
                </a:r>
                <a:r>
                  <a:rPr lang="ru-RU" sz="3000" dirty="0">
                    <a:solidFill>
                      <a:srgbClr val="FF0000"/>
                    </a:solidFill>
                  </a:rPr>
                  <a:t>количество информации</a:t>
                </a:r>
                <a:r>
                  <a:rPr lang="ru-RU" sz="3000" dirty="0"/>
                  <a:t>, содержащейся в сообщении, изменившим представление приёмника о событии с </a:t>
                </a:r>
                <a:r>
                  <a:rPr lang="en-US" sz="3000" b="1" dirty="0"/>
                  <a:t>S</a:t>
                </a:r>
                <a:r>
                  <a:rPr lang="ru-RU" sz="3000" b="1" baseline="-25000" dirty="0"/>
                  <a:t>до </a:t>
                </a:r>
                <a:r>
                  <a:rPr lang="en-US" sz="3000" b="1" baseline="-25000" dirty="0"/>
                  <a:t> </a:t>
                </a:r>
                <a:r>
                  <a:rPr lang="ru-RU" sz="3000" dirty="0"/>
                  <a:t>до</a:t>
                </a:r>
                <a:r>
                  <a:rPr lang="en-US" sz="3000" dirty="0"/>
                  <a:t> </a:t>
                </a:r>
                <a:r>
                  <a:rPr lang="ru-RU" sz="3000" dirty="0"/>
                  <a:t> </a:t>
                </a:r>
                <a:r>
                  <a:rPr lang="en-US" sz="3000" b="1" dirty="0"/>
                  <a:t>S</a:t>
                </a:r>
                <a:r>
                  <a:rPr lang="ru-RU" sz="3000" b="1" baseline="-25000" dirty="0"/>
                  <a:t>после</a:t>
                </a:r>
                <a:r>
                  <a:rPr lang="en-US" sz="3000" dirty="0"/>
                  <a:t>, </a:t>
                </a:r>
                <a:r>
                  <a:rPr lang="ru-RU" sz="3000" dirty="0"/>
                  <a:t>предполагая, что </a:t>
                </a:r>
                <a:r>
                  <a:rPr lang="en-US" sz="3000" b="1" dirty="0"/>
                  <a:t>S</a:t>
                </a:r>
                <a:r>
                  <a:rPr lang="ru-RU" sz="3000" b="1" baseline="-25000" dirty="0"/>
                  <a:t>после</a:t>
                </a:r>
                <a:r>
                  <a:rPr lang="en-US" sz="3000" b="1" baseline="-25000" dirty="0"/>
                  <a:t> </a:t>
                </a:r>
                <a14:m>
                  <m:oMath xmlns:m="http://schemas.openxmlformats.org/officeDocument/2006/math">
                    <m:r>
                      <a:rPr lang="en-US" sz="3000" b="1" dirty="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3000" b="1" dirty="0"/>
                  <a:t> S</a:t>
                </a:r>
                <a:r>
                  <a:rPr lang="ru-RU" sz="3000" b="1" baseline="-25000" dirty="0"/>
                  <a:t>до</a:t>
                </a:r>
                <a:r>
                  <a:rPr lang="en-US" sz="3000" dirty="0"/>
                  <a:t>,</a:t>
                </a:r>
                <a:r>
                  <a:rPr lang="ru-RU" sz="3000" dirty="0"/>
                  <a:t> по формуле:</a:t>
                </a:r>
              </a:p>
              <a:p>
                <a:pPr marL="0" indent="0" algn="ctr">
                  <a:buNone/>
                </a:pPr>
                <a:r>
                  <a:rPr lang="en-US" sz="3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I(S) = - log</a:t>
                </a:r>
                <a:r>
                  <a:rPr lang="en-US" sz="1700" baseline="-25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30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ru-RU" sz="21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после</m:t>
                        </m:r>
                        <m:r>
                          <a:rPr lang="en-US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30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ru-RU" sz="21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до</m:t>
                        </m:r>
                        <m:r>
                          <a:rPr lang="en-US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1700" baseline="-25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ru-RU" sz="3000" i="1" dirty="0"/>
              </a:p>
              <a:p>
                <a:pPr marL="0" indent="0">
                  <a:buNone/>
                </a:pPr>
                <a:r>
                  <a:rPr lang="ru-RU" sz="3000" i="1" dirty="0"/>
                  <a:t>Единицей измерения информации является </a:t>
                </a:r>
                <a:r>
                  <a:rPr lang="ru-RU" sz="3000" i="1" dirty="0">
                    <a:solidFill>
                      <a:srgbClr val="FF0000"/>
                    </a:solidFill>
                  </a:rPr>
                  <a:t>бит</a:t>
                </a:r>
                <a:r>
                  <a:rPr lang="ru-RU" sz="3000" i="1" dirty="0"/>
                  <a:t>.</a:t>
                </a:r>
              </a:p>
              <a:p>
                <a:pPr marL="0" indent="0">
                  <a:buNone/>
                </a:pPr>
                <a:endParaRPr lang="ru-RU" sz="3000" i="1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400" b="1" i="1" u="sng" dirty="0"/>
                  <a:t>Пример.</a:t>
                </a:r>
                <a:r>
                  <a:rPr lang="ru-RU" sz="2400" dirty="0"/>
                  <a:t> В семье должен родиться ребёнок. Пространство элементарных исходов данной случайной величины состоит из двух исходов: </a:t>
                </a:r>
                <a:r>
                  <a:rPr lang="en-US" sz="2400" dirty="0"/>
                  <a:t>{</a:t>
                </a:r>
                <a:r>
                  <a:rPr lang="ru-RU" sz="2400" dirty="0"/>
                  <a:t>мальчик, девочка</a:t>
                </a:r>
                <a:r>
                  <a:rPr lang="en-US" sz="2400" dirty="0"/>
                  <a:t>}</a:t>
                </a:r>
                <a:r>
                  <a:rPr lang="ru-RU" sz="2400" dirty="0"/>
                  <a:t>. Отсутствие априорной информации у приёмника (родителей) о поле малыша означает, что </a:t>
                </a:r>
                <a:r>
                  <a:rPr lang="en-US" sz="2400" b="1" dirty="0">
                    <a:solidFill>
                      <a:prstClr val="black"/>
                    </a:solidFill>
                  </a:rPr>
                  <a:t>S</a:t>
                </a:r>
                <a:r>
                  <a:rPr lang="ru-RU" sz="1800" b="1" baseline="-25000" dirty="0">
                    <a:solidFill>
                      <a:prstClr val="black"/>
                    </a:solidFill>
                  </a:rPr>
                  <a:t>до</a:t>
                </a:r>
                <a:r>
                  <a:rPr lang="ru-RU" sz="2400" dirty="0">
                    <a:solidFill>
                      <a:prstClr val="black"/>
                    </a:solidFill>
                  </a:rPr>
                  <a:t>совпадает с этим пространством. Сообщение источника (врача) </a:t>
                </a:r>
                <a:r>
                  <a:rPr lang="en-US" sz="2400" b="1" i="1" dirty="0">
                    <a:solidFill>
                      <a:prstClr val="black"/>
                    </a:solidFill>
                  </a:rPr>
                  <a:t>“</a:t>
                </a:r>
                <a:r>
                  <a:rPr lang="ru-RU" sz="2400" b="1" i="1" dirty="0">
                    <a:solidFill>
                      <a:prstClr val="black"/>
                    </a:solidFill>
                  </a:rPr>
                  <a:t>У вас родился мальчик</a:t>
                </a:r>
                <a:r>
                  <a:rPr lang="en-US" sz="2400" b="1" i="1" dirty="0">
                    <a:solidFill>
                      <a:prstClr val="black"/>
                    </a:solidFill>
                  </a:rPr>
                  <a:t>”</a:t>
                </a:r>
                <a:r>
                  <a:rPr lang="ru-RU" sz="2400" dirty="0">
                    <a:solidFill>
                      <a:prstClr val="black"/>
                    </a:solidFill>
                  </a:rPr>
                  <a:t>сужает множество предположений до множества </a:t>
                </a:r>
                <a:r>
                  <a:rPr lang="en-US" sz="2400" b="1" dirty="0">
                    <a:solidFill>
                      <a:prstClr val="black"/>
                    </a:solidFill>
                  </a:rPr>
                  <a:t>S</a:t>
                </a:r>
                <a:r>
                  <a:rPr lang="ru-RU" sz="1800" b="1" baseline="-25000" dirty="0">
                    <a:solidFill>
                      <a:prstClr val="black"/>
                    </a:solidFill>
                  </a:rPr>
                  <a:t>после</a:t>
                </a:r>
                <a:r>
                  <a:rPr lang="ru-RU" sz="2400" dirty="0">
                    <a:solidFill>
                      <a:prstClr val="black"/>
                    </a:solidFill>
                  </a:rPr>
                  <a:t>из единственного исхода </a:t>
                </a:r>
                <a:r>
                  <a:rPr lang="en-US" sz="2000" b="1" i="1" dirty="0">
                    <a:solidFill>
                      <a:prstClr val="black"/>
                    </a:solidFill>
                  </a:rPr>
                  <a:t>“</a:t>
                </a:r>
                <a:r>
                  <a:rPr lang="ru-RU" sz="2400" b="1" i="1" dirty="0">
                    <a:solidFill>
                      <a:prstClr val="black"/>
                    </a:solidFill>
                  </a:rPr>
                  <a:t>мальчик</a:t>
                </a:r>
                <a:r>
                  <a:rPr lang="en-US" sz="2000" b="1" i="1" dirty="0">
                    <a:solidFill>
                      <a:prstClr val="black"/>
                    </a:solidFill>
                  </a:rPr>
                  <a:t>”</a:t>
                </a:r>
                <a:r>
                  <a:rPr lang="ru-RU" sz="2000" b="1" i="1" dirty="0">
                    <a:solidFill>
                      <a:prstClr val="black"/>
                    </a:solidFill>
                  </a:rPr>
                  <a:t>. </a:t>
                </a:r>
                <a:r>
                  <a:rPr lang="ru-RU" sz="2400" dirty="0">
                    <a:solidFill>
                      <a:prstClr val="black"/>
                    </a:solidFill>
                  </a:rPr>
                  <a:t>Вычислим количество полученной информации:</a:t>
                </a:r>
              </a:p>
              <a:p>
                <a:pPr marL="0" lvl="0" indent="0" algn="ctr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I = - log</a:t>
                </a:r>
                <a:r>
                  <a:rPr lang="en-US" sz="1800" dirty="0">
                    <a:solidFill>
                      <a:srgbClr val="0070C0"/>
                    </a:solidFill>
                  </a:rPr>
                  <a:t>2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0070C0"/>
                            </a:solidFill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ru-RU" sz="2100" dirty="0">
                            <a:solidFill>
                              <a:srgbClr val="0070C0"/>
                            </a:solidFill>
                          </a:rPr>
                          <m:t>после</m:t>
                        </m:r>
                        <m:r>
                          <a:rPr lang="en-US" b="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0070C0"/>
                            </a:solidFill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ru-RU" sz="2100" dirty="0">
                            <a:solidFill>
                              <a:srgbClr val="0070C0"/>
                            </a:solidFill>
                          </a:rPr>
                          <m:t>до</m:t>
                        </m:r>
                        <m:r>
                          <a:rPr lang="en-US" b="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= - log</a:t>
                </a:r>
                <a:r>
                  <a:rPr lang="en-US" sz="1800" dirty="0">
                    <a:solidFill>
                      <a:srgbClr val="0070C0"/>
                    </a:solidFill>
                  </a:rPr>
                  <a:t>2 </a:t>
                </a:r>
                <a14:m>
                  <m:oMath xmlns:m="http://schemas.openxmlformats.org/officeDocument/2006/math">
                    <m:r>
                      <a:rPr lang="el-GR" sz="2800" b="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sz="2800" dirty="0" smtClean="0">
                            <a:solidFill>
                              <a:srgbClr val="0070C0"/>
                            </a:solidFill>
                          </a:rPr>
                          <m:t>μ</m:t>
                        </m:r>
                        <m:r>
                          <a:rPr lang="en-US" b="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0070C0"/>
                            </a:solidFill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ru-RU" sz="2100" dirty="0">
                            <a:solidFill>
                              <a:srgbClr val="0070C0"/>
                            </a:solidFill>
                          </a:rPr>
                          <m:t>после</m:t>
                        </m:r>
                        <m:r>
                          <a:rPr lang="en-US" b="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sz="2800" dirty="0" smtClean="0">
                            <a:solidFill>
                              <a:srgbClr val="0070C0"/>
                            </a:solidFill>
                          </a:rPr>
                          <m:t>μ</m:t>
                        </m:r>
                        <m:r>
                          <a:rPr lang="en-US" b="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0070C0"/>
                            </a:solidFill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ru-RU" sz="2100" dirty="0">
                            <a:solidFill>
                              <a:srgbClr val="0070C0"/>
                            </a:solidFill>
                          </a:rPr>
                          <m:t>до</m:t>
                        </m:r>
                        <m:r>
                          <a:rPr lang="en-US" b="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= - log</a:t>
                </a:r>
                <a:r>
                  <a:rPr lang="en-US" sz="1800" dirty="0">
                    <a:solidFill>
                      <a:srgbClr val="0070C0"/>
                    </a:solidFill>
                  </a:rPr>
                  <a:t>2 </a:t>
                </a:r>
                <a14:m>
                  <m:oMath xmlns:m="http://schemas.openxmlformats.org/officeDocument/2006/math">
                    <m:r>
                      <a:rPr lang="el-GR" sz="2800" b="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dirty="0">
                    <a:solidFill>
                      <a:srgbClr val="0070C0"/>
                    </a:solidFill>
                  </a:rPr>
                  <a:t> = 1 (бит)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ru-RU" sz="2400" b="1" dirty="0">
                  <a:solidFill>
                    <a:prstClr val="black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2400" u="sng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20688"/>
                <a:ext cx="9144000" cy="6237312"/>
              </a:xfrm>
              <a:blipFill>
                <a:blip r:embed="rId2"/>
                <a:stretch>
                  <a:fillRect l="-1333" t="-2346" r="-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070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Autofit/>
          </a:bodyPr>
          <a:lstStyle/>
          <a:p>
            <a:r>
              <a:rPr lang="ru-RU" sz="3200" b="1" i="1" dirty="0">
                <a:solidFill>
                  <a:srgbClr val="FF0000"/>
                </a:solidFill>
              </a:rPr>
              <a:t>Теорема об аддитивности информации</a:t>
            </a:r>
            <a:endParaRPr lang="en-US" sz="3200" b="1" i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i="1" u="sng" dirty="0"/>
              <a:t>Теорема. </a:t>
            </a:r>
            <a:r>
              <a:rPr lang="ru-RU" sz="2400" i="1" dirty="0"/>
              <a:t>Количество информации, переносимое сообщением о событии, равно сумме количеств информации, переносимых сообщениями, последовательно уточняющими это событие.</a:t>
            </a:r>
            <a:endParaRPr lang="en-US" sz="2400" i="1" dirty="0"/>
          </a:p>
          <a:p>
            <a:pPr marL="0" indent="0">
              <a:buNone/>
            </a:pPr>
            <a:endParaRPr lang="ru-RU" sz="2400" i="1" dirty="0"/>
          </a:p>
          <a:p>
            <a:pPr marL="0" indent="0">
              <a:buNone/>
            </a:pPr>
            <a:r>
              <a:rPr lang="ru-RU" sz="2400" u="sng" dirty="0"/>
              <a:t>Существенные свойства информации: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400" i="1" dirty="0">
                <a:solidFill>
                  <a:prstClr val="black"/>
                </a:solidFill>
              </a:rPr>
              <a:t>Количество информации зависит от предварительного знания приёмника о событии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400" i="1" dirty="0"/>
              <a:t>Количество информации зависит не от события, а от сообщения о нём</a:t>
            </a:r>
          </a:p>
        </p:txBody>
      </p:sp>
    </p:spTree>
    <p:extLst>
      <p:ext uri="{BB962C8B-B14F-4D97-AF65-F5344CB8AC3E}">
        <p14:creationId xmlns:p14="http://schemas.microsoft.com/office/powerpoint/2010/main" val="1758401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3600" b="1" i="1" u="sng" dirty="0">
                <a:solidFill>
                  <a:prstClr val="black"/>
                </a:solidFill>
              </a:rPr>
              <a:t>Пример</a:t>
            </a:r>
            <a:r>
              <a:rPr lang="ru-RU" dirty="0">
                <a:solidFill>
                  <a:prstClr val="black"/>
                </a:solidFill>
              </a:rPr>
              <a:t>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20688"/>
                <a:ext cx="8229600" cy="5904656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ru-RU" dirty="0">
                    <a:solidFill>
                      <a:prstClr val="black"/>
                    </a:solidFill>
                  </a:rPr>
                  <a:t>Из колоды вытягивается карта. </a:t>
                </a:r>
              </a:p>
              <a:p>
                <a:pPr marL="0" indent="0">
                  <a:buNone/>
                </a:pPr>
                <a:r>
                  <a:rPr lang="ru-RU" dirty="0">
                    <a:solidFill>
                      <a:prstClr val="black"/>
                    </a:solidFill>
                  </a:rPr>
                  <a:t>Пространство элементарных исходов </a:t>
                </a:r>
                <a:r>
                  <a:rPr lang="el-GR" sz="3600" b="1" dirty="0">
                    <a:solidFill>
                      <a:prstClr val="black"/>
                    </a:solidFill>
                  </a:rPr>
                  <a:t>Ω</a:t>
                </a:r>
                <a:r>
                  <a:rPr lang="ru-RU" sz="3600" b="1" dirty="0">
                    <a:solidFill>
                      <a:prstClr val="black"/>
                    </a:solidFill>
                  </a:rPr>
                  <a:t> - </a:t>
                </a:r>
                <a:r>
                  <a:rPr lang="ru-RU" dirty="0">
                    <a:solidFill>
                      <a:prstClr val="black"/>
                    </a:solidFill>
                  </a:rPr>
                  <a:t>все 52 карты полной колоды. </a:t>
                </a:r>
                <a:endParaRPr lang="ru-RU" sz="4000" b="1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4000" b="1" dirty="0">
                        <a:solidFill>
                          <a:prstClr val="black"/>
                        </a:solidFill>
                      </a:rPr>
                      <m:t>S</m:t>
                    </m:r>
                    <m:r>
                      <m:rPr>
                        <m:nor/>
                      </m:rPr>
                      <a:rPr lang="ru-RU" sz="2800" b="1" dirty="0">
                        <a:solidFill>
                          <a:prstClr val="black"/>
                        </a:solidFill>
                      </a:rPr>
                      <m:t>до</m:t>
                    </m:r>
                  </m:oMath>
                </a14:m>
                <a:r>
                  <a:rPr lang="ru-RU" sz="1800" b="1" dirty="0"/>
                  <a:t>_1 </a:t>
                </a:r>
                <a:r>
                  <a:rPr lang="ru-RU" dirty="0"/>
                  <a:t> совпадает с </a:t>
                </a:r>
                <a:r>
                  <a:rPr lang="el-GR" sz="3600" b="1" dirty="0">
                    <a:solidFill>
                      <a:prstClr val="black"/>
                    </a:solidFill>
                  </a:rPr>
                  <a:t>Ω</a:t>
                </a:r>
                <a:r>
                  <a:rPr lang="ru-RU" sz="3600" b="1" dirty="0">
                    <a:solidFill>
                      <a:prstClr val="black"/>
                    </a:solidFill>
                  </a:rPr>
                  <a:t> . </a:t>
                </a:r>
                <a:endParaRPr lang="ru-RU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ru-RU" dirty="0">
                    <a:solidFill>
                      <a:prstClr val="black"/>
                    </a:solidFill>
                  </a:rPr>
                  <a:t>Первое сообщение </a:t>
                </a:r>
                <a:r>
                  <a:rPr lang="en-US" dirty="0">
                    <a:solidFill>
                      <a:prstClr val="black"/>
                    </a:solidFill>
                  </a:rPr>
                  <a:t>“</a:t>
                </a:r>
                <a:r>
                  <a:rPr lang="ru-RU" i="1" dirty="0">
                    <a:solidFill>
                      <a:srgbClr val="C00000"/>
                    </a:solidFill>
                  </a:rPr>
                  <a:t>выпала трефа</a:t>
                </a:r>
                <a:r>
                  <a:rPr lang="en-US" dirty="0">
                    <a:solidFill>
                      <a:prstClr val="black"/>
                    </a:solidFill>
                  </a:rPr>
                  <a:t>” </a:t>
                </a:r>
                <a:r>
                  <a:rPr lang="ru-RU" dirty="0">
                    <a:solidFill>
                      <a:prstClr val="black"/>
                    </a:solidFill>
                  </a:rPr>
                  <a:t>сужает  его до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solidFill>
                          <a:prstClr val="black"/>
                        </a:solidFill>
                      </a:rPr>
                      <m:t>S</m:t>
                    </m:r>
                    <m:r>
                      <m:rPr>
                        <m:nor/>
                      </m:rPr>
                      <a:rPr lang="ru-RU" sz="2000" b="1" dirty="0">
                        <a:solidFill>
                          <a:prstClr val="black"/>
                        </a:solidFill>
                      </a:rPr>
                      <m:t>после_1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(</a:t>
                </a:r>
                <a:r>
                  <a:rPr lang="ru-RU" dirty="0"/>
                  <a:t>до 13 возможных исходов). </a:t>
                </a:r>
              </a:p>
              <a:p>
                <a:pPr marL="0" indent="0">
                  <a:buNone/>
                </a:pPr>
                <a:r>
                  <a:rPr lang="ru-RU" dirty="0"/>
                  <a:t>Второе </a:t>
                </a:r>
                <a:r>
                  <a:rPr lang="ru-RU" dirty="0">
                    <a:solidFill>
                      <a:prstClr val="black"/>
                    </a:solidFill>
                  </a:rPr>
                  <a:t>сообщение </a:t>
                </a:r>
                <a:r>
                  <a:rPr lang="en-US" dirty="0">
                    <a:solidFill>
                      <a:prstClr val="black"/>
                    </a:solidFill>
                  </a:rPr>
                  <a:t>“</a:t>
                </a:r>
                <a:r>
                  <a:rPr lang="ru-RU" i="1" dirty="0">
                    <a:solidFill>
                      <a:srgbClr val="C00000"/>
                    </a:solidFill>
                  </a:rPr>
                  <a:t>выпала картинка</a:t>
                </a:r>
                <a:r>
                  <a:rPr lang="en-US" dirty="0">
                    <a:solidFill>
                      <a:prstClr val="black"/>
                    </a:solidFill>
                  </a:rPr>
                  <a:t>” </a:t>
                </a:r>
                <a:r>
                  <a:rPr lang="ru-RU" dirty="0">
                    <a:solidFill>
                      <a:prstClr val="black"/>
                    </a:solidFill>
                  </a:rPr>
                  <a:t>сужает  его до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600" b="1" dirty="0">
                        <a:solidFill>
                          <a:prstClr val="black"/>
                        </a:solidFill>
                      </a:rPr>
                      <m:t>S</m:t>
                    </m:r>
                    <m:r>
                      <m:rPr>
                        <m:nor/>
                      </m:rPr>
                      <a:rPr lang="ru-RU" sz="2400" b="1" dirty="0">
                        <a:solidFill>
                          <a:prstClr val="black"/>
                        </a:solidFill>
                      </a:rPr>
                      <m:t>после_</m:t>
                    </m:r>
                  </m:oMath>
                </a14:m>
                <a:r>
                  <a:rPr lang="ru-RU" sz="2000" b="1" dirty="0"/>
                  <a:t>2</a:t>
                </a:r>
                <a:endParaRPr lang="en-US" sz="2000" b="1" dirty="0"/>
              </a:p>
              <a:p>
                <a:pPr marL="0" indent="0">
                  <a:buNone/>
                </a:pPr>
                <a:r>
                  <a:rPr lang="en-US" dirty="0"/>
                  <a:t>					</a:t>
                </a:r>
                <a:r>
                  <a:rPr lang="ru-RU" dirty="0"/>
                  <a:t>(до 4 возможных исходов). </a:t>
                </a:r>
              </a:p>
              <a:p>
                <a:pPr marL="0" indent="0">
                  <a:buNone/>
                </a:pPr>
                <a:r>
                  <a:rPr lang="ru-RU" dirty="0"/>
                  <a:t>Третье </a:t>
                </a:r>
                <a:r>
                  <a:rPr lang="ru-RU" dirty="0">
                    <a:solidFill>
                      <a:prstClr val="black"/>
                    </a:solidFill>
                  </a:rPr>
                  <a:t>сообщение </a:t>
                </a:r>
                <a:r>
                  <a:rPr lang="en-US" dirty="0">
                    <a:solidFill>
                      <a:prstClr val="black"/>
                    </a:solidFill>
                  </a:rPr>
                  <a:t>“</a:t>
                </a:r>
                <a:r>
                  <a:rPr lang="ru-RU" i="1" dirty="0">
                    <a:solidFill>
                      <a:srgbClr val="C00000"/>
                    </a:solidFill>
                  </a:rPr>
                  <a:t>выпала дама треф</a:t>
                </a:r>
                <a:r>
                  <a:rPr lang="en-US" dirty="0">
                    <a:solidFill>
                      <a:prstClr val="black"/>
                    </a:solidFill>
                  </a:rPr>
                  <a:t>” </a:t>
                </a:r>
                <a:r>
                  <a:rPr lang="ru-RU" dirty="0">
                    <a:solidFill>
                      <a:prstClr val="black"/>
                    </a:solidFill>
                  </a:rPr>
                  <a:t>сужает  его до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600" b="1" dirty="0">
                        <a:solidFill>
                          <a:prstClr val="black"/>
                        </a:solidFill>
                      </a:rPr>
                      <m:t>S</m:t>
                    </m:r>
                    <m:r>
                      <m:rPr>
                        <m:nor/>
                      </m:rPr>
                      <a:rPr lang="ru-RU" sz="2400" b="1" dirty="0">
                        <a:solidFill>
                          <a:prstClr val="black"/>
                        </a:solidFill>
                      </a:rPr>
                      <m:t>после_</m:t>
                    </m:r>
                  </m:oMath>
                </a14:m>
                <a:r>
                  <a:rPr lang="ru-RU" sz="2400" b="1" dirty="0">
                    <a:solidFill>
                      <a:prstClr val="black"/>
                    </a:solidFill>
                  </a:rPr>
                  <a:t>3</a:t>
                </a:r>
                <a:endParaRPr lang="en-US" sz="2400" b="1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prstClr val="black"/>
                    </a:solidFill>
                  </a:rPr>
                  <a:t>				</a:t>
                </a:r>
                <a:r>
                  <a:rPr lang="ru-RU" dirty="0">
                    <a:solidFill>
                      <a:prstClr val="black"/>
                    </a:solidFill>
                  </a:rPr>
                  <a:t>(до единственного возможного исхода). </a:t>
                </a:r>
              </a:p>
              <a:p>
                <a:pPr marL="0" indent="0">
                  <a:buNone/>
                </a:pPr>
                <a:r>
                  <a:rPr lang="ru-RU" i="1" dirty="0">
                    <a:solidFill>
                      <a:prstClr val="black"/>
                    </a:solidFill>
                  </a:rPr>
                  <a:t>Количество информации</a:t>
                </a:r>
                <a:r>
                  <a:rPr lang="ru-RU" dirty="0">
                    <a:solidFill>
                      <a:prstClr val="black"/>
                    </a:solidFill>
                  </a:rPr>
                  <a:t>, содержащееся в первом сообщении, очевидно, равно </a:t>
                </a:r>
                <a:r>
                  <a:rPr lang="ru-RU" dirty="0">
                    <a:solidFill>
                      <a:srgbClr val="0070C0"/>
                    </a:solidFill>
                  </a:rPr>
                  <a:t>– </a:t>
                </a:r>
                <a:r>
                  <a:rPr lang="en-US" dirty="0">
                    <a:solidFill>
                      <a:srgbClr val="0070C0"/>
                    </a:solidFill>
                  </a:rPr>
                  <a:t>log</a:t>
                </a:r>
                <a:r>
                  <a:rPr lang="en-US" sz="1800" dirty="0">
                    <a:solidFill>
                      <a:srgbClr val="0070C0"/>
                    </a:solidFill>
                  </a:rPr>
                  <a:t>2</a:t>
                </a:r>
                <a:r>
                  <a:rPr lang="en-US" dirty="0">
                    <a:solidFill>
                      <a:srgbClr val="0070C0"/>
                    </a:solidFill>
                  </a:rPr>
                  <a:t>(13/52) = 2 </a:t>
                </a:r>
                <a:r>
                  <a:rPr lang="ru-RU" dirty="0">
                    <a:solidFill>
                      <a:srgbClr val="0070C0"/>
                    </a:solidFill>
                  </a:rPr>
                  <a:t>битам</a:t>
                </a:r>
                <a:r>
                  <a:rPr lang="ru-RU" dirty="0">
                    <a:solidFill>
                      <a:prstClr val="black"/>
                    </a:solidFill>
                  </a:rPr>
                  <a:t>, </a:t>
                </a:r>
              </a:p>
              <a:p>
                <a:pPr marL="0" indent="0">
                  <a:buNone/>
                </a:pPr>
                <a:r>
                  <a:rPr lang="ru-RU" dirty="0">
                    <a:solidFill>
                      <a:prstClr val="black"/>
                    </a:solidFill>
                  </a:rPr>
                  <a:t>во втором </a:t>
                </a:r>
                <a:r>
                  <a:rPr lang="ru-RU" dirty="0">
                    <a:solidFill>
                      <a:srgbClr val="0070C0"/>
                    </a:solidFill>
                  </a:rPr>
                  <a:t>– </a:t>
                </a:r>
                <a:r>
                  <a:rPr lang="en-US" dirty="0">
                    <a:solidFill>
                      <a:srgbClr val="0070C0"/>
                    </a:solidFill>
                  </a:rPr>
                  <a:t>log</a:t>
                </a:r>
                <a:r>
                  <a:rPr lang="en-US" sz="2000" dirty="0">
                    <a:solidFill>
                      <a:srgbClr val="0070C0"/>
                    </a:solidFill>
                  </a:rPr>
                  <a:t>2</a:t>
                </a:r>
                <a:r>
                  <a:rPr lang="en-US" dirty="0">
                    <a:solidFill>
                      <a:srgbClr val="0070C0"/>
                    </a:solidFill>
                  </a:rPr>
                  <a:t>(</a:t>
                </a:r>
                <a:r>
                  <a:rPr lang="ru-RU" dirty="0">
                    <a:solidFill>
                      <a:srgbClr val="0070C0"/>
                    </a:solidFill>
                  </a:rPr>
                  <a:t>4</a:t>
                </a:r>
                <a:r>
                  <a:rPr lang="en-US" dirty="0">
                    <a:solidFill>
                      <a:srgbClr val="0070C0"/>
                    </a:solidFill>
                  </a:rPr>
                  <a:t>/</a:t>
                </a:r>
                <a:r>
                  <a:rPr lang="ru-RU" dirty="0">
                    <a:solidFill>
                      <a:srgbClr val="0070C0"/>
                    </a:solidFill>
                  </a:rPr>
                  <a:t>13</a:t>
                </a:r>
                <a:r>
                  <a:rPr lang="en-US" dirty="0">
                    <a:solidFill>
                      <a:srgbClr val="0070C0"/>
                    </a:solidFill>
                  </a:rPr>
                  <a:t>) = </a:t>
                </a:r>
                <a:r>
                  <a:rPr lang="ru-RU" dirty="0">
                    <a:solidFill>
                      <a:srgbClr val="0070C0"/>
                    </a:solidFill>
                  </a:rPr>
                  <a:t>1.5 битам</a:t>
                </a:r>
                <a:r>
                  <a:rPr lang="ru-RU" dirty="0">
                    <a:solidFill>
                      <a:prstClr val="black"/>
                    </a:solidFill>
                  </a:rPr>
                  <a:t>, </a:t>
                </a:r>
              </a:p>
              <a:p>
                <a:pPr marL="0" indent="0">
                  <a:buNone/>
                </a:pPr>
                <a:r>
                  <a:rPr lang="ru-RU" dirty="0">
                    <a:solidFill>
                      <a:prstClr val="black"/>
                    </a:solidFill>
                  </a:rPr>
                  <a:t>в третьем  </a:t>
                </a:r>
                <a:r>
                  <a:rPr lang="ru-RU" dirty="0">
                    <a:solidFill>
                      <a:srgbClr val="0070C0"/>
                    </a:solidFill>
                  </a:rPr>
                  <a:t>– </a:t>
                </a:r>
                <a:r>
                  <a:rPr lang="en-US" dirty="0">
                    <a:solidFill>
                      <a:srgbClr val="0070C0"/>
                    </a:solidFill>
                  </a:rPr>
                  <a:t>log</a:t>
                </a:r>
                <a:r>
                  <a:rPr lang="en-US" sz="1800" dirty="0">
                    <a:solidFill>
                      <a:srgbClr val="0070C0"/>
                    </a:solidFill>
                  </a:rPr>
                  <a:t>2</a:t>
                </a:r>
                <a:r>
                  <a:rPr lang="en-US" dirty="0">
                    <a:solidFill>
                      <a:srgbClr val="0070C0"/>
                    </a:solidFill>
                  </a:rPr>
                  <a:t>(</a:t>
                </a:r>
                <a:r>
                  <a:rPr lang="ru-RU" dirty="0">
                    <a:solidFill>
                      <a:srgbClr val="0070C0"/>
                    </a:solidFill>
                  </a:rPr>
                  <a:t>1</a:t>
                </a:r>
                <a:r>
                  <a:rPr lang="en-US" dirty="0">
                    <a:solidFill>
                      <a:srgbClr val="0070C0"/>
                    </a:solidFill>
                  </a:rPr>
                  <a:t>/</a:t>
                </a:r>
                <a:r>
                  <a:rPr lang="ru-RU" dirty="0">
                    <a:solidFill>
                      <a:srgbClr val="0070C0"/>
                    </a:solidFill>
                  </a:rPr>
                  <a:t>4</a:t>
                </a:r>
                <a:r>
                  <a:rPr lang="en-US" dirty="0">
                    <a:solidFill>
                      <a:srgbClr val="0070C0"/>
                    </a:solidFill>
                  </a:rPr>
                  <a:t>) = 2 </a:t>
                </a:r>
                <a:r>
                  <a:rPr lang="ru-RU" dirty="0">
                    <a:solidFill>
                      <a:srgbClr val="0070C0"/>
                    </a:solidFill>
                  </a:rPr>
                  <a:t>битам</a:t>
                </a:r>
                <a:r>
                  <a:rPr lang="ru-RU" b="1" dirty="0">
                    <a:solidFill>
                      <a:prstClr val="black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ru-RU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ru-RU" dirty="0">
                    <a:solidFill>
                      <a:prstClr val="black"/>
                    </a:solidFill>
                  </a:rPr>
                  <a:t>При этом, суммарное количество полученной информации равно </a:t>
                </a:r>
                <a:r>
                  <a:rPr lang="ru-RU" dirty="0">
                    <a:solidFill>
                      <a:srgbClr val="0070C0"/>
                    </a:solidFill>
                  </a:rPr>
                  <a:t>5.5 бит</a:t>
                </a:r>
                <a:r>
                  <a:rPr lang="ru-RU" dirty="0">
                    <a:solidFill>
                      <a:prstClr val="black"/>
                    </a:solidFill>
                  </a:rPr>
                  <a:t>, что совпадает с количеством информации, которое несло бы единственное сообщение </a:t>
                </a:r>
                <a:r>
                  <a:rPr lang="en-US" dirty="0">
                    <a:solidFill>
                      <a:prstClr val="black"/>
                    </a:solidFill>
                  </a:rPr>
                  <a:t>“</a:t>
                </a:r>
                <a:r>
                  <a:rPr lang="ru-RU" i="1" dirty="0">
                    <a:solidFill>
                      <a:srgbClr val="C00000"/>
                    </a:solidFill>
                  </a:rPr>
                  <a:t>выпала дама треф</a:t>
                </a:r>
                <a:r>
                  <a:rPr lang="en-US" dirty="0">
                    <a:solidFill>
                      <a:prstClr val="black"/>
                    </a:solidFill>
                  </a:rPr>
                  <a:t>” </a:t>
                </a:r>
                <a:r>
                  <a:rPr lang="ru-RU" dirty="0">
                    <a:solidFill>
                      <a:prstClr val="black"/>
                    </a:solidFill>
                  </a:rPr>
                  <a:t>= </a:t>
                </a:r>
                <a:r>
                  <a:rPr lang="ru-RU" dirty="0">
                    <a:solidFill>
                      <a:srgbClr val="0070C0"/>
                    </a:solidFill>
                  </a:rPr>
                  <a:t>– </a:t>
                </a:r>
                <a:r>
                  <a:rPr lang="en-US" dirty="0">
                    <a:solidFill>
                      <a:srgbClr val="0070C0"/>
                    </a:solidFill>
                  </a:rPr>
                  <a:t>log</a:t>
                </a:r>
                <a:r>
                  <a:rPr lang="en-US" sz="1800" dirty="0">
                    <a:solidFill>
                      <a:srgbClr val="0070C0"/>
                    </a:solidFill>
                  </a:rPr>
                  <a:t>2</a:t>
                </a:r>
                <a:r>
                  <a:rPr lang="en-US" dirty="0">
                    <a:solidFill>
                      <a:srgbClr val="0070C0"/>
                    </a:solidFill>
                  </a:rPr>
                  <a:t>(1/52) = </a:t>
                </a:r>
                <a:r>
                  <a:rPr lang="ru-RU" dirty="0">
                    <a:solidFill>
                      <a:srgbClr val="0070C0"/>
                    </a:solidFill>
                  </a:rPr>
                  <a:t>5.5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ru-RU" dirty="0">
                    <a:solidFill>
                      <a:srgbClr val="0070C0"/>
                    </a:solidFill>
                  </a:rPr>
                  <a:t>бит </a:t>
                </a:r>
                <a:r>
                  <a:rPr lang="ru-RU" b="1" dirty="0">
                    <a:solidFill>
                      <a:prstClr val="black"/>
                    </a:solidFill>
                  </a:rPr>
                  <a:t>.</a:t>
                </a:r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20688"/>
                <a:ext cx="8229600" cy="5904656"/>
              </a:xfrm>
              <a:blipFill>
                <a:blip r:embed="rId2"/>
                <a:stretch>
                  <a:fillRect l="-741" t="-1550" r="-9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79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609"/>
            <a:ext cx="8229600" cy="693305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Формулы Шеннона, Хартли</a:t>
            </a:r>
            <a:endParaRPr lang="en-US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692696"/>
                <a:ext cx="9144000" cy="616530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источник является генератором символов из некоторого множества </a:t>
                </a:r>
                <a:r>
                  <a:rPr lang="en-US" dirty="0"/>
                  <a:t>{x</a:t>
                </a:r>
                <a:r>
                  <a:rPr lang="en-US" sz="1600" dirty="0"/>
                  <a:t>1</a:t>
                </a:r>
                <a:r>
                  <a:rPr lang="en-US" dirty="0"/>
                  <a:t>, x</a:t>
                </a:r>
                <a:r>
                  <a:rPr lang="en-US" sz="1600" dirty="0"/>
                  <a:t>2</a:t>
                </a:r>
                <a:r>
                  <a:rPr lang="en-US" dirty="0"/>
                  <a:t>,  .  .  .  , </a:t>
                </a:r>
                <a:r>
                  <a:rPr lang="en-US" dirty="0" err="1"/>
                  <a:t>x</a:t>
                </a:r>
                <a:r>
                  <a:rPr lang="en-US" sz="2000" dirty="0" err="1"/>
                  <a:t>n</a:t>
                </a:r>
                <a:r>
                  <a:rPr lang="en-US" dirty="0"/>
                  <a:t>} </a:t>
                </a:r>
                <a:r>
                  <a:rPr lang="ru-RU" dirty="0"/>
                  <a:t>– из </a:t>
                </a:r>
                <a:r>
                  <a:rPr lang="ru-RU" i="1" dirty="0">
                    <a:solidFill>
                      <a:srgbClr val="FF0000"/>
                    </a:solidFill>
                  </a:rPr>
                  <a:t>алфавита</a:t>
                </a:r>
                <a:r>
                  <a:rPr lang="ru-RU" i="1" dirty="0"/>
                  <a:t> </a:t>
                </a:r>
                <a:r>
                  <a:rPr lang="ru-RU" dirty="0"/>
                  <a:t>источника.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ru-RU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x</a:t>
                </a:r>
                <a:r>
                  <a:rPr lang="en-US" sz="2000" baseline="-25000" dirty="0"/>
                  <a:t>i</a:t>
                </a:r>
                <a:r>
                  <a:rPr lang="ru-RU" sz="2000" dirty="0"/>
                  <a:t> – </a:t>
                </a:r>
                <a:r>
                  <a:rPr lang="ru-RU" dirty="0"/>
                  <a:t>некоторое элементарное событие выдачи в канал источником того или иного символа</a:t>
                </a:r>
                <a:r>
                  <a:rPr lang="en-US" dirty="0"/>
                  <a:t>.</a:t>
                </a:r>
                <a:endParaRPr lang="ru-RU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dirty="0"/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dirty="0"/>
                  <a:t>Если </a:t>
                </a:r>
                <a:r>
                  <a:rPr lang="en-US" dirty="0"/>
                  <a:t>p(</a:t>
                </a:r>
                <a:r>
                  <a:rPr lang="en-US" sz="3100" dirty="0">
                    <a:solidFill>
                      <a:prstClr val="black"/>
                    </a:solidFill>
                  </a:rPr>
                  <a:t>x</a:t>
                </a:r>
                <a:r>
                  <a:rPr lang="en-US" sz="3100" baseline="-25000" dirty="0">
                    <a:solidFill>
                      <a:prstClr val="black"/>
                    </a:solidFill>
                  </a:rPr>
                  <a:t>i</a:t>
                </a:r>
                <a:r>
                  <a:rPr lang="en-US" dirty="0"/>
                  <a:t>) – </a:t>
                </a:r>
                <a:r>
                  <a:rPr lang="ru-RU" dirty="0"/>
                  <a:t>это вероятность поступления в канал символа </a:t>
                </a:r>
                <a:r>
                  <a:rPr lang="en-US" sz="3100" dirty="0">
                    <a:solidFill>
                      <a:prstClr val="black"/>
                    </a:solidFill>
                  </a:rPr>
                  <a:t>x</a:t>
                </a:r>
                <a:r>
                  <a:rPr lang="en-US" sz="3100" baseline="-25000" dirty="0">
                    <a:solidFill>
                      <a:prstClr val="black"/>
                    </a:solidFill>
                  </a:rPr>
                  <a:t>i</a:t>
                </a:r>
                <a:r>
                  <a:rPr lang="ru-RU" sz="2000" dirty="0">
                    <a:solidFill>
                      <a:prstClr val="black"/>
                    </a:solidFill>
                  </a:rPr>
                  <a:t>, </a:t>
                </a:r>
                <a:r>
                  <a:rPr lang="ru-RU" dirty="0">
                    <a:solidFill>
                      <a:prstClr val="black"/>
                    </a:solidFill>
                  </a:rPr>
                  <a:t>то, очевидно, что </a:t>
                </a:r>
                <a:endParaRPr lang="ru-RU" b="1" dirty="0">
                  <a:solidFill>
                    <a:prstClr val="black"/>
                  </a:solidFill>
                </a:endParaRPr>
              </a:p>
              <a:p>
                <a:pPr marL="0" indent="0" algn="ctr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(</a:t>
                </a:r>
                <a:r>
                  <a:rPr lang="en-US" sz="3100" dirty="0">
                    <a:solidFill>
                      <a:srgbClr val="FF0000"/>
                    </a:solidFill>
                  </a:rPr>
                  <a:t>x</a:t>
                </a:r>
                <a:r>
                  <a:rPr lang="en-US" sz="3100" baseline="-25000" dirty="0">
                    <a:solidFill>
                      <a:srgbClr val="FF0000"/>
                    </a:solidFill>
                  </a:rPr>
                  <a:t>i</a:t>
                </a:r>
                <a:r>
                  <a:rPr lang="en-US" dirty="0">
                    <a:solidFill>
                      <a:srgbClr val="FF0000"/>
                    </a:solidFill>
                  </a:rPr>
                  <a:t>) = 1 </a:t>
                </a:r>
                <a:endParaRPr lang="ru-RU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b="1" dirty="0">
                  <a:solidFill>
                    <a:prstClr val="black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dirty="0">
                    <a:solidFill>
                      <a:prstClr val="black"/>
                    </a:solidFill>
                  </a:rPr>
                  <a:t>Рассмотрим модель, в котором </a:t>
                </a:r>
                <a:r>
                  <a:rPr lang="ru-RU" dirty="0">
                    <a:solidFill>
                      <a:srgbClr val="C00000"/>
                    </a:solidFill>
                  </a:rPr>
                  <a:t>сообщение – цепочка символов</a:t>
                </a:r>
                <a:r>
                  <a:rPr lang="ru-RU" dirty="0">
                    <a:solidFill>
                      <a:prstClr val="black"/>
                    </a:solidFill>
                  </a:rPr>
                  <a:t> из алфавита источника.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l-GR" b="1" dirty="0">
                    <a:solidFill>
                      <a:prstClr val="black"/>
                    </a:solidFill>
                  </a:rPr>
                  <a:t>Ω</a:t>
                </a:r>
                <a:r>
                  <a:rPr lang="ru-RU" b="1" dirty="0">
                    <a:solidFill>
                      <a:prstClr val="black"/>
                    </a:solidFill>
                  </a:rPr>
                  <a:t> </a:t>
                </a:r>
                <a:r>
                  <a:rPr lang="ru-RU" dirty="0">
                    <a:solidFill>
                      <a:prstClr val="black"/>
                    </a:solidFill>
                  </a:rPr>
                  <a:t>- это множество всех цепочек символов произвольной длины.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dirty="0">
                    <a:solidFill>
                      <a:prstClr val="black"/>
                    </a:solidFill>
                  </a:rPr>
                  <a:t>В полученном от источника сообщении можно подсчитать </a:t>
                </a:r>
                <a:r>
                  <a:rPr lang="ru-RU" dirty="0">
                    <a:solidFill>
                      <a:srgbClr val="C00000"/>
                    </a:solidFill>
                  </a:rPr>
                  <a:t>экспериментальную частоту встречаемости </a:t>
                </a:r>
                <a:r>
                  <a:rPr lang="ru-RU" dirty="0">
                    <a:solidFill>
                      <a:prstClr val="black"/>
                    </a:solidFill>
                  </a:rPr>
                  <a:t>в нём каждого символа:</a:t>
                </a:r>
              </a:p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ru-R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Ѵ</a:t>
                </a: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31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3100" baseline="-25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ru-R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ru-RU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0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0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ni</m:t>
                        </m:r>
                        <m:r>
                          <m:rPr>
                            <m:nor/>
                          </m:rPr>
                          <a:rPr lang="en-US" sz="3000" baseline="-25000" dirty="0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</m:num>
                      <m:den>
                        <m:r>
                          <a:rPr lang="en-US" sz="3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solidFill>
                      <a:prstClr val="black"/>
                    </a:solidFill>
                  </a:rPr>
                  <a:t>, </a:t>
                </a:r>
                <a:r>
                  <a:rPr lang="ru-RU" dirty="0">
                    <a:solidFill>
                      <a:prstClr val="black"/>
                    </a:solidFill>
                  </a:rPr>
                  <a:t>   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dirty="0">
                    <a:solidFill>
                      <a:prstClr val="black"/>
                    </a:solidFill>
                  </a:rPr>
                  <a:t>где </a:t>
                </a:r>
                <a:r>
                  <a:rPr lang="en-US" b="1" i="1" dirty="0">
                    <a:solidFill>
                      <a:prstClr val="black"/>
                    </a:solidFill>
                  </a:rPr>
                  <a:t>N</a:t>
                </a:r>
                <a:r>
                  <a:rPr lang="en-US" dirty="0">
                    <a:solidFill>
                      <a:prstClr val="black"/>
                    </a:solidFill>
                  </a:rPr>
                  <a:t> – </a:t>
                </a:r>
                <a:r>
                  <a:rPr lang="ru-RU" dirty="0">
                    <a:solidFill>
                      <a:prstClr val="black"/>
                    </a:solidFill>
                  </a:rPr>
                  <a:t>общая длина сообщения,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3100" b="1" dirty="0">
                    <a:solidFill>
                      <a:prstClr val="black"/>
                    </a:solidFill>
                  </a:rPr>
                  <a:t>      </a:t>
                </a:r>
                <a:r>
                  <a:rPr lang="en-US" sz="3100" b="1" dirty="0" err="1">
                    <a:solidFill>
                      <a:prstClr val="black"/>
                    </a:solidFill>
                  </a:rPr>
                  <a:t>n</a:t>
                </a:r>
                <a:r>
                  <a:rPr lang="en-US" sz="3100" b="1" baseline="-25000" dirty="0" err="1">
                    <a:solidFill>
                      <a:prstClr val="black"/>
                    </a:solidFill>
                  </a:rPr>
                  <a:t>i</a:t>
                </a:r>
                <a:r>
                  <a:rPr lang="ru-RU" sz="3100" b="1" baseline="-250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dirty="0">
                    <a:solidFill>
                      <a:prstClr val="black"/>
                    </a:solidFill>
                  </a:rPr>
                  <a:t>–</a:t>
                </a:r>
                <a:r>
                  <a:rPr lang="ru-RU" sz="3100" dirty="0">
                    <a:solidFill>
                      <a:prstClr val="black"/>
                    </a:solidFill>
                  </a:rPr>
                  <a:t> </a:t>
                </a:r>
                <a:r>
                  <a:rPr lang="ru-RU" sz="2800" dirty="0">
                    <a:solidFill>
                      <a:prstClr val="black"/>
                    </a:solidFill>
                  </a:rPr>
                  <a:t>число повторений в нём символа </a:t>
                </a:r>
                <a:r>
                  <a:rPr lang="en-US" sz="3100" b="1" dirty="0">
                    <a:solidFill>
                      <a:prstClr val="black"/>
                    </a:solidFill>
                  </a:rPr>
                  <a:t>x</a:t>
                </a:r>
                <a:r>
                  <a:rPr lang="en-US" sz="3100" b="1" baseline="-25000" dirty="0">
                    <a:solidFill>
                      <a:prstClr val="black"/>
                    </a:solidFill>
                  </a:rPr>
                  <a:t>i</a:t>
                </a:r>
                <a:endParaRPr lang="ru-RU" sz="3100" b="1" baseline="-25000" dirty="0">
                  <a:solidFill>
                    <a:prstClr val="black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ru-RU" sz="3100" dirty="0">
                  <a:solidFill>
                    <a:prstClr val="black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3100" dirty="0">
                    <a:solidFill>
                      <a:prstClr val="black"/>
                    </a:solidFill>
                  </a:rPr>
                  <a:t>Очевидно, что анализируя разные сообщения, мы будем получать разные частоты символов.</a:t>
                </a:r>
                <a:endParaRPr lang="en-US" sz="3100" dirty="0">
                  <a:solidFill>
                    <a:prstClr val="black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2696"/>
                <a:ext cx="9144000" cy="6165304"/>
              </a:xfrm>
              <a:blipFill>
                <a:blip r:embed="rId2"/>
                <a:stretch>
                  <a:fillRect l="-867" t="-1682" r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1512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" y="16619"/>
            <a:ext cx="9144001" cy="748085"/>
          </a:xfrm>
        </p:spPr>
        <p:txBody>
          <a:bodyPr>
            <a:normAutofit/>
          </a:bodyPr>
          <a:lstStyle/>
          <a:p>
            <a:r>
              <a:rPr lang="ru-RU" sz="3600" i="1" dirty="0"/>
              <a:t>Частота употребления букв русского языка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1" y="1340768"/>
            <a:ext cx="8496945" cy="4104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rmAutofit fontScale="90000"/>
          </a:bodyPr>
          <a:lstStyle/>
          <a:p>
            <a:r>
              <a:rPr lang="ru-RU" sz="4000" b="1" i="1" dirty="0">
                <a:solidFill>
                  <a:prstClr val="black"/>
                </a:solidFill>
              </a:rPr>
              <a:t>Формула Хартли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620689"/>
                <a:ext cx="9144000" cy="604867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>
                    <a:solidFill>
                      <a:srgbClr val="444444"/>
                    </a:solidFill>
                  </a:rPr>
                  <a:t>Рассмотрим случай, когда все символы из алфавита в сообщении равновероятны.</a:t>
                </a: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rgbClr val="00B050"/>
                    </a:solidFill>
                  </a:rPr>
                  <a:t>1928 год</a:t>
                </a:r>
                <a:r>
                  <a:rPr lang="ru-RU" sz="2400" dirty="0">
                    <a:solidFill>
                      <a:srgbClr val="444444"/>
                    </a:solidFill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400" dirty="0">
                    <a:solidFill>
                      <a:srgbClr val="444444"/>
                    </a:solidFill>
                  </a:rPr>
                  <a:t>Американский инженер </a:t>
                </a:r>
                <a:r>
                  <a:rPr lang="ru-RU" sz="2400" b="1" dirty="0">
                    <a:solidFill>
                      <a:srgbClr val="444444"/>
                    </a:solidFill>
                  </a:rPr>
                  <a:t>Хартли</a:t>
                </a:r>
                <a:r>
                  <a:rPr lang="ru-RU" sz="2400" dirty="0">
                    <a:solidFill>
                      <a:srgbClr val="444444"/>
                    </a:solidFill>
                  </a:rPr>
                  <a:t> процесс получения информации рассматривает как выбор одного сообщения из конечного заданного множества </a:t>
                </a:r>
                <a:r>
                  <a:rPr lang="ru-RU" sz="2400" i="1" dirty="0">
                    <a:solidFill>
                      <a:srgbClr val="FF0000"/>
                    </a:solidFill>
                  </a:rPr>
                  <a:t>равновероятных событий</a:t>
                </a:r>
                <a:r>
                  <a:rPr lang="en-US" sz="2400" b="1" i="1" dirty="0">
                    <a:solidFill>
                      <a:srgbClr val="444444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400" dirty="0">
                    <a:solidFill>
                      <a:srgbClr val="FF0000"/>
                    </a:solidFill>
                  </a:rPr>
                  <a:t>Формула Хартли </a:t>
                </a:r>
                <a:r>
                  <a:rPr lang="ru-RU" sz="2400" dirty="0">
                    <a:solidFill>
                      <a:prstClr val="black"/>
                    </a:solidFill>
                  </a:rPr>
                  <a:t>определения </a:t>
                </a:r>
                <a:r>
                  <a:rPr lang="ru-RU" sz="2400" dirty="0">
                    <a:solidFill>
                      <a:srgbClr val="FF0000"/>
                    </a:solidFill>
                  </a:rPr>
                  <a:t>количества информации</a:t>
                </a:r>
                <a:r>
                  <a:rPr lang="ru-RU" sz="2400" dirty="0">
                    <a:solidFill>
                      <a:srgbClr val="444444"/>
                    </a:solidFill>
                  </a:rPr>
                  <a:t>:</a:t>
                </a:r>
                <a:endParaRPr lang="ru-RU" sz="2400" b="1" i="1" dirty="0">
                  <a:solidFill>
                    <a:srgbClr val="444444"/>
                  </a:solidFill>
                </a:endParaRPr>
              </a:p>
              <a:p>
                <a:pPr marL="0" indent="0" algn="ctr">
                  <a:buNone/>
                </a:pPr>
                <a:r>
                  <a:rPr lang="ru-RU" sz="3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</a:t>
                </a:r>
                <a:r>
                  <a:rPr lang="en-US" sz="3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- </a:t>
                </a:r>
                <a:r>
                  <a:rPr lang="ru-RU" sz="3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log</a:t>
                </a:r>
                <a:r>
                  <a:rPr lang="ru-RU" sz="3000" baseline="-25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3000" b="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ru-RU" sz="3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 log</a:t>
                </a:r>
                <a:r>
                  <a:rPr lang="ru-RU" sz="3000" baseline="-25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30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000" b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3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ru-RU" sz="3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log</a:t>
                </a:r>
                <a:r>
                  <a:rPr lang="ru-RU" sz="3000" baseline="-250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3000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endParaRPr lang="ru-RU" sz="3000" i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dirty="0">
                    <a:solidFill>
                      <a:srgbClr val="444444"/>
                    </a:solidFill>
                  </a:rPr>
                  <a:t>где</a:t>
                </a:r>
                <a:r>
                  <a:rPr lang="ru-RU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 </a:t>
                </a:r>
                <a:r>
                  <a:rPr lang="ru-RU" sz="2400" dirty="0">
                    <a:solidFill>
                      <a:srgbClr val="444444"/>
                    </a:solidFill>
                    <a:sym typeface="Symbol"/>
                  </a:rPr>
                  <a:t></a:t>
                </a:r>
                <a:r>
                  <a:rPr lang="ru-RU" sz="2400" dirty="0">
                    <a:solidFill>
                      <a:srgbClr val="444444"/>
                    </a:solidFill>
                  </a:rPr>
                  <a:t> количество информации, 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444444"/>
                    </a:solidFill>
                  </a:rPr>
                  <a:t>      </a:t>
                </a:r>
                <a:r>
                  <a:rPr lang="en-US" sz="2400" i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ru-RU" sz="2400" dirty="0">
                    <a:solidFill>
                      <a:srgbClr val="444444"/>
                    </a:solidFill>
                  </a:rPr>
                  <a:t> </a:t>
                </a:r>
                <a:r>
                  <a:rPr lang="ru-RU" sz="2400" dirty="0">
                    <a:solidFill>
                      <a:srgbClr val="444444"/>
                    </a:solidFill>
                    <a:sym typeface="Symbol"/>
                  </a:rPr>
                  <a:t></a:t>
                </a:r>
                <a:r>
                  <a:rPr lang="ru-RU" sz="2400" dirty="0">
                    <a:solidFill>
                      <a:srgbClr val="444444"/>
                    </a:solidFill>
                  </a:rPr>
                  <a:t> количество </a:t>
                </a:r>
                <a:r>
                  <a:rPr lang="ru-RU" sz="2400" i="1" dirty="0">
                    <a:solidFill>
                      <a:srgbClr val="0070C0"/>
                    </a:solidFill>
                  </a:rPr>
                  <a:t>равновероятных событий</a:t>
                </a:r>
                <a:r>
                  <a:rPr lang="ru-RU" sz="2400" dirty="0">
                    <a:solidFill>
                      <a:srgbClr val="444444"/>
                    </a:solidFill>
                  </a:rPr>
                  <a:t>.  </a:t>
                </a:r>
                <a:r>
                  <a:rPr lang="ru-RU" sz="2400" dirty="0">
                    <a:solidFill>
                      <a:srgbClr val="444444"/>
                    </a:solidFill>
                    <a:latin typeface="Open Sans"/>
                  </a:rPr>
                  <a:t> </a:t>
                </a:r>
                <a:endParaRPr lang="en-US" sz="2400" dirty="0">
                  <a:solidFill>
                    <a:srgbClr val="444444"/>
                  </a:solidFill>
                  <a:latin typeface="Open Sans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b="1" i="1" smtClean="0">
                        <a:solidFill>
                          <a:prstClr val="black"/>
                        </a:solidFill>
                        <a:latin typeface="Cambria Math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>
                    <a:solidFill>
                      <a:srgbClr val="444444"/>
                    </a:solidFill>
                    <a:sym typeface="Symbol"/>
                  </a:rPr>
                  <a:t></a:t>
                </a:r>
                <a:r>
                  <a:rPr lang="en-US" sz="2400" dirty="0"/>
                  <a:t> </a:t>
                </a:r>
                <a:r>
                  <a:rPr lang="ru-RU" sz="2400" dirty="0">
                    <a:solidFill>
                      <a:prstClr val="black"/>
                    </a:solidFill>
                  </a:rPr>
                  <a:t>вероятность одного события</a:t>
                </a:r>
              </a:p>
              <a:p>
                <a:pPr marL="0" indent="0">
                  <a:buNone/>
                </a:pPr>
                <a:endParaRPr lang="ru-RU" sz="2400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20689"/>
                <a:ext cx="9144000" cy="6048672"/>
              </a:xfrm>
              <a:blipFill>
                <a:blip r:embed="rId2"/>
                <a:stretch>
                  <a:fillRect l="-1000" t="-8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5109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33A92-490F-4D73-A62C-DEA901C46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ru-RU" dirty="0"/>
              <a:t>Формула Шеннона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D63FB5F-6A15-4340-88FD-717EAF293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908720"/>
                <a:ext cx="8640960" cy="521744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sz="3200" b="1" dirty="0">
                    <a:solidFill>
                      <a:srgbClr val="00B050"/>
                    </a:solidFill>
                  </a:rPr>
                  <a:t>1948 год</a:t>
                </a:r>
                <a:r>
                  <a:rPr lang="ru-RU" sz="3200" dirty="0"/>
                  <a:t> </a:t>
                </a:r>
              </a:p>
              <a:p>
                <a:pPr marL="0" indent="0">
                  <a:buNone/>
                </a:pPr>
                <a:r>
                  <a:rPr lang="ru-RU" sz="2600" dirty="0"/>
                  <a:t>Американский ученый </a:t>
                </a:r>
                <a:r>
                  <a:rPr lang="ru-RU" sz="2600" b="1" dirty="0"/>
                  <a:t>Клод Шеннон </a:t>
                </a:r>
                <a:r>
                  <a:rPr lang="ru-RU" sz="2600" dirty="0"/>
                  <a:t>предложил другую формулу определения количества информации, учитывая возможную </a:t>
                </a:r>
                <a:r>
                  <a:rPr lang="ru-RU" sz="2600" i="1" dirty="0">
                    <a:solidFill>
                      <a:srgbClr val="FF0000"/>
                    </a:solidFill>
                  </a:rPr>
                  <a:t>неодинаковую вероятность событий </a:t>
                </a:r>
                <a:r>
                  <a:rPr lang="ru-RU" sz="2600" dirty="0"/>
                  <a:t>в наборе:</a:t>
                </a:r>
                <a:endParaRPr lang="en-US" sz="2600" dirty="0"/>
              </a:p>
              <a:p>
                <a:pPr marL="0" indent="0">
                  <a:buNone/>
                </a:pPr>
                <a:endParaRPr lang="ru-RU" sz="3200" dirty="0"/>
              </a:p>
              <a:p>
                <a:pPr marL="0" indent="0" algn="ctr">
                  <a:buNone/>
                </a:pPr>
                <a:r>
                  <a:rPr lang="en-US" sz="3500" dirty="0">
                    <a:solidFill>
                      <a:srgbClr val="FF0000"/>
                    </a:solidFill>
                  </a:rPr>
                  <a:t>I = </a:t>
                </a:r>
                <a:r>
                  <a:rPr lang="en-US" sz="3500" dirty="0">
                    <a:solidFill>
                      <a:srgbClr val="FF0000"/>
                    </a:solidFill>
                    <a:sym typeface="Symbol"/>
                  </a:rPr>
                  <a:t></a:t>
                </a:r>
                <a:r>
                  <a:rPr lang="en-US" sz="35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3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35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5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35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35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</m:oMath>
                </a14:m>
                <a:r>
                  <a:rPr lang="en-US" sz="3500" dirty="0">
                    <a:solidFill>
                      <a:srgbClr val="FF0000"/>
                    </a:solidFill>
                  </a:rPr>
                  <a:t>(x</a:t>
                </a:r>
                <a:r>
                  <a:rPr lang="en-US" sz="3500" baseline="-25000" dirty="0">
                    <a:solidFill>
                      <a:srgbClr val="FF0000"/>
                    </a:solidFill>
                  </a:rPr>
                  <a:t>i</a:t>
                </a:r>
                <a:r>
                  <a:rPr lang="en-US" sz="3500" dirty="0">
                    <a:solidFill>
                      <a:srgbClr val="FF0000"/>
                    </a:solidFill>
                  </a:rPr>
                  <a:t>)</a:t>
                </a:r>
                <a:r>
                  <a:rPr lang="ru-RU" sz="3500" dirty="0">
                    <a:solidFill>
                      <a:srgbClr val="FF0000"/>
                    </a:solidFill>
                  </a:rPr>
                  <a:t> </a:t>
                </a:r>
                <a:r>
                  <a:rPr lang="ru-RU" sz="3500" dirty="0">
                    <a:solidFill>
                      <a:srgbClr val="FF0000"/>
                    </a:solidFill>
                    <a:sym typeface="Symbol"/>
                  </a:rPr>
                  <a:t></a:t>
                </a:r>
                <a:r>
                  <a:rPr lang="en-US" sz="3500" dirty="0">
                    <a:solidFill>
                      <a:srgbClr val="FF0000"/>
                    </a:solidFill>
                  </a:rPr>
                  <a:t> log</a:t>
                </a:r>
                <a:r>
                  <a:rPr lang="en-US" sz="3500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sz="3500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35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en-US" sz="3500" dirty="0">
                        <a:solidFill>
                          <a:srgbClr val="FF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3500" dirty="0">
                        <a:solidFill>
                          <a:srgbClr val="FF0000"/>
                        </a:solidFill>
                      </a:rPr>
                      <m:t>xi</m:t>
                    </m:r>
                    <m:r>
                      <m:rPr>
                        <m:nor/>
                      </m:rPr>
                      <a:rPr lang="en-US" sz="3500" dirty="0">
                        <a:solidFill>
                          <a:srgbClr val="FF0000"/>
                        </a:solidFill>
                      </a:rPr>
                      <m:t>)</m:t>
                    </m:r>
                  </m:oMath>
                </a14:m>
                <a:r>
                  <a:rPr lang="en-US" sz="3500" dirty="0">
                    <a:solidFill>
                      <a:srgbClr val="FF0000"/>
                    </a:solidFill>
                  </a:rPr>
                  <a:t>) </a:t>
                </a:r>
                <a:r>
                  <a:rPr lang="ru-RU" sz="3500" dirty="0"/>
                  <a:t> </a:t>
                </a:r>
                <a:endParaRPr lang="en-US" sz="3500" dirty="0"/>
              </a:p>
              <a:p>
                <a:pPr marL="0" indent="0">
                  <a:buNone/>
                </a:pPr>
                <a:endParaRPr lang="ru-RU" sz="2800" b="1" dirty="0"/>
              </a:p>
              <a:p>
                <a:pPr marL="0" indent="0">
                  <a:buNone/>
                </a:pPr>
                <a:r>
                  <a:rPr lang="ru-RU" sz="2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ru-RU" sz="2600" b="1" dirty="0"/>
                  <a:t> </a:t>
                </a:r>
                <a:r>
                  <a:rPr lang="ru-RU" sz="2600" dirty="0">
                    <a:solidFill>
                      <a:srgbClr val="444444"/>
                    </a:solidFill>
                    <a:sym typeface="Symbol"/>
                  </a:rPr>
                  <a:t></a:t>
                </a:r>
                <a:r>
                  <a:rPr lang="en-US" sz="2600" dirty="0"/>
                  <a:t> </a:t>
                </a:r>
                <a:r>
                  <a:rPr lang="ru-RU" sz="2600" dirty="0"/>
                  <a:t>количество информации, </a:t>
                </a:r>
                <a:endParaRPr lang="en-US" sz="2600" dirty="0"/>
              </a:p>
              <a:p>
                <a:pPr marL="0" indent="0">
                  <a:buNone/>
                </a:pPr>
                <a:r>
                  <a:rPr lang="en-US" sz="2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ru-RU" sz="2600" dirty="0"/>
                  <a:t> </a:t>
                </a:r>
                <a:r>
                  <a:rPr lang="ru-RU" sz="2600" dirty="0">
                    <a:solidFill>
                      <a:srgbClr val="444444"/>
                    </a:solidFill>
                    <a:sym typeface="Symbol"/>
                  </a:rPr>
                  <a:t></a:t>
                </a:r>
                <a:r>
                  <a:rPr lang="en-US" sz="2600" dirty="0"/>
                  <a:t> </a:t>
                </a:r>
                <a:r>
                  <a:rPr lang="ru-RU" sz="2600" dirty="0"/>
                  <a:t>количество возможных событий, </a:t>
                </a:r>
                <a:endParaRPr lang="en-US" sz="2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en-US" sz="26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nor/>
                      </m:rPr>
                      <a:rPr lang="en-US" sz="2600" b="0" i="0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sz="2600" baseline="-250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</m:t>
                    </m:r>
                    <m:r>
                      <m:rPr>
                        <m:nor/>
                      </m:rPr>
                      <a:rPr lang="en-US" sz="26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ru-RU" sz="2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2600" dirty="0"/>
                  <a:t>– вероятности отдельных событий появления символа</a:t>
                </a:r>
                <a:r>
                  <a:rPr lang="ru-RU" sz="26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6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sz="2600" baseline="-250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</m:t>
                    </m:r>
                  </m:oMath>
                </a14:m>
                <a:r>
                  <a:rPr lang="ru-RU" sz="2600" dirty="0"/>
                  <a:t>. 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D63FB5F-6A15-4340-88FD-717EAF293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908720"/>
                <a:ext cx="8640960" cy="5217443"/>
              </a:xfrm>
              <a:blipFill>
                <a:blip r:embed="rId2"/>
                <a:stretch>
                  <a:fillRect l="-1622" t="-14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588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2454"/>
            <a:ext cx="8229600" cy="464218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548680"/>
                <a:ext cx="9144000" cy="619268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2200" dirty="0">
                    <a:solidFill>
                      <a:srgbClr val="FF0000"/>
                    </a:solidFill>
                  </a:rPr>
                  <a:t>Формула Хартли </a:t>
                </a:r>
                <a:r>
                  <a:rPr lang="ru-RU" sz="2200" dirty="0">
                    <a:solidFill>
                      <a:prstClr val="black"/>
                    </a:solidFill>
                  </a:rPr>
                  <a:t>определения количества информации для равновероятных событий</a:t>
                </a:r>
                <a:r>
                  <a:rPr lang="ru-RU" sz="2200" dirty="0">
                    <a:solidFill>
                      <a:srgbClr val="444444"/>
                    </a:solidFill>
                  </a:rPr>
                  <a:t>:				</a:t>
                </a:r>
                <a:r>
                  <a:rPr lang="ru-RU" sz="2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</a:t>
                </a:r>
                <a:r>
                  <a:rPr lang="en-US" sz="2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ru-RU" sz="2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log</a:t>
                </a:r>
                <a:r>
                  <a:rPr lang="ru-RU" sz="2600" baseline="-25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endParaRPr lang="ru-RU" sz="2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dirty="0">
                    <a:solidFill>
                      <a:srgbClr val="FF0000"/>
                    </a:solidFill>
                  </a:rPr>
                  <a:t>Формула Шеннона:</a:t>
                </a:r>
              </a:p>
              <a:p>
                <a:pPr marL="0" indent="0" algn="ctr">
                  <a:buNone/>
                </a:pPr>
                <a:r>
                  <a:rPr lang="en-US" sz="2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=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</m:oMath>
                </a14:m>
                <a:r>
                  <a:rPr lang="en-US" sz="2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(x</a:t>
                </a:r>
                <a:r>
                  <a:rPr lang="en-US" sz="2600" baseline="-25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log</a:t>
                </a:r>
                <a:r>
                  <a:rPr lang="en-US" sz="2600" baseline="-25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6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en-US" sz="26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nor/>
                      </m:rPr>
                      <a:rPr lang="en-US" sz="26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xi</m:t>
                    </m:r>
                    <m:r>
                      <m:rPr>
                        <m:nor/>
                      </m:rPr>
                      <a:rPr lang="en-US" sz="26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US" sz="2600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200" b="1" i="1" dirty="0">
                    <a:solidFill>
                      <a:srgbClr val="444444"/>
                    </a:solidFill>
                  </a:rPr>
                  <a:t>Задача: </a:t>
                </a:r>
                <a:r>
                  <a:rPr lang="ru-RU" sz="2400" dirty="0">
                    <a:solidFill>
                      <a:srgbClr val="444444"/>
                    </a:solidFill>
                  </a:rPr>
                  <a:t>Какое количество информации требуется, чтобы угадать одно число из 100? </a:t>
                </a:r>
              </a:p>
              <a:p>
                <a:pPr marL="0" indent="0">
                  <a:buNone/>
                </a:pPr>
                <a:r>
                  <a:rPr lang="ru-RU" sz="2200" b="1" i="1" dirty="0">
                    <a:solidFill>
                      <a:srgbClr val="444444"/>
                    </a:solidFill>
                  </a:rPr>
                  <a:t>Решение:</a:t>
                </a:r>
                <a:r>
                  <a:rPr lang="ru-RU" sz="2800" b="1" i="1" dirty="0">
                    <a:solidFill>
                      <a:srgbClr val="444444"/>
                    </a:solidFill>
                  </a:rPr>
                  <a:t>	</a:t>
                </a:r>
                <a:r>
                  <a:rPr lang="ru-RU" sz="2400" dirty="0">
                    <a:solidFill>
                      <a:srgbClr val="444444"/>
                    </a:solidFill>
                  </a:rPr>
                  <a:t> </a:t>
                </a:r>
                <a:r>
                  <a:rPr lang="ru-RU" sz="2600" dirty="0">
                    <a:solidFill>
                      <a:srgbClr val="0070C0"/>
                    </a:solidFill>
                  </a:rPr>
                  <a:t>I = log</a:t>
                </a:r>
                <a:r>
                  <a:rPr lang="ru-RU" sz="2600" baseline="-25000" dirty="0">
                    <a:solidFill>
                      <a:srgbClr val="0070C0"/>
                    </a:solidFill>
                  </a:rPr>
                  <a:t>2</a:t>
                </a:r>
                <a:r>
                  <a:rPr lang="ru-RU" sz="2600" dirty="0">
                    <a:solidFill>
                      <a:srgbClr val="0070C0"/>
                    </a:solidFill>
                  </a:rPr>
                  <a:t>100 =6,644 бит</a:t>
                </a:r>
                <a:r>
                  <a:rPr lang="ru-RU" sz="2800" dirty="0">
                    <a:solidFill>
                      <a:srgbClr val="444444"/>
                    </a:solidFill>
                    <a:latin typeface="Open Sans"/>
                  </a:rPr>
                  <a:t> </a:t>
                </a:r>
                <a:endParaRPr lang="ru-RU" sz="2800" b="1" i="1" dirty="0"/>
              </a:p>
              <a:p>
                <a:pPr marL="0" indent="0">
                  <a:buNone/>
                </a:pPr>
                <a:r>
                  <a:rPr lang="ru-RU" sz="2200" b="1" i="1" dirty="0"/>
                  <a:t>Задача.</a:t>
                </a:r>
                <a:r>
                  <a:rPr lang="ru-RU" sz="2200" dirty="0"/>
                  <a:t> </a:t>
                </a:r>
                <a:r>
                  <a:rPr lang="ru-RU" sz="2400" dirty="0"/>
                  <a:t>Пусть имеется строка текста, содержащая 1000 букв. Буквы встречаются в тексте: </a:t>
                </a:r>
              </a:p>
              <a:p>
                <a:pPr marL="0" indent="0">
                  <a:buNone/>
                </a:pPr>
                <a:r>
                  <a:rPr lang="ru-RU" sz="2400" dirty="0"/>
                  <a:t>«о» - 90 раз </a:t>
                </a:r>
              </a:p>
              <a:p>
                <a:pPr marL="0" indent="0">
                  <a:buNone/>
                </a:pPr>
                <a:r>
                  <a:rPr lang="ru-RU" sz="2400" dirty="0"/>
                  <a:t>«р» - 40 раз </a:t>
                </a:r>
              </a:p>
              <a:p>
                <a:pPr marL="0" indent="0">
                  <a:buNone/>
                </a:pPr>
                <a:r>
                  <a:rPr lang="ru-RU" sz="2400" dirty="0"/>
                  <a:t>«Ф» - 2 раза </a:t>
                </a:r>
              </a:p>
              <a:p>
                <a:pPr marL="0" indent="0">
                  <a:buNone/>
                </a:pPr>
                <a:r>
                  <a:rPr lang="ru-RU" sz="2400" dirty="0"/>
                  <a:t>«а» - 200 раз. </a:t>
                </a:r>
              </a:p>
              <a:p>
                <a:pPr marL="0" indent="0">
                  <a:buNone/>
                </a:pPr>
                <a:r>
                  <a:rPr lang="ru-RU" sz="2400" dirty="0"/>
                  <a:t>Какое количество информации несет буква в строке? 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ru-RU" sz="2200" b="1" i="1" dirty="0"/>
                  <a:t>Решение:</a:t>
                </a:r>
              </a:p>
              <a:p>
                <a:pPr marL="0" indent="0">
                  <a:buNone/>
                </a:pPr>
                <a:r>
                  <a:rPr lang="en-US" sz="2600" dirty="0"/>
                  <a:t>I</a:t>
                </a:r>
                <a:r>
                  <a:rPr lang="ru-RU" sz="2600" dirty="0"/>
                  <a:t> </a:t>
                </a:r>
                <a:r>
                  <a:rPr lang="en-US" sz="2600" dirty="0"/>
                  <a:t>=</a:t>
                </a:r>
                <a:r>
                  <a:rPr lang="ru-RU" sz="2600" dirty="0"/>
                  <a:t> </a:t>
                </a:r>
                <a:r>
                  <a:rPr lang="en-US" sz="2200" dirty="0"/>
                  <a:t>-</a:t>
                </a:r>
                <a:r>
                  <a:rPr lang="ru-RU" sz="2200" dirty="0"/>
                  <a:t> </a:t>
                </a:r>
                <a:r>
                  <a:rPr lang="en-US" sz="2200" dirty="0"/>
                  <a:t>(0,09</a:t>
                </a:r>
                <a:r>
                  <a:rPr lang="en-US" sz="2200" dirty="0">
                    <a:sym typeface="Symbol"/>
                  </a:rPr>
                  <a:t></a:t>
                </a:r>
                <a:r>
                  <a:rPr lang="en-US" sz="2200" dirty="0"/>
                  <a:t>log</a:t>
                </a:r>
                <a:r>
                  <a:rPr lang="en-US" sz="2200" baseline="-25000" dirty="0"/>
                  <a:t>2</a:t>
                </a:r>
                <a:r>
                  <a:rPr lang="en-US" sz="2200" dirty="0"/>
                  <a:t>0,09 </a:t>
                </a:r>
                <a:r>
                  <a:rPr lang="ru-RU" sz="2200" dirty="0"/>
                  <a:t> </a:t>
                </a:r>
                <a:r>
                  <a:rPr lang="en-US" sz="2200" dirty="0"/>
                  <a:t>+ </a:t>
                </a:r>
                <a:r>
                  <a:rPr lang="ru-RU" sz="2200" dirty="0"/>
                  <a:t> </a:t>
                </a:r>
                <a:r>
                  <a:rPr lang="en-US" sz="2200" dirty="0"/>
                  <a:t>0,04</a:t>
                </a:r>
                <a:r>
                  <a:rPr lang="en-US" sz="2200" dirty="0">
                    <a:sym typeface="Symbol"/>
                  </a:rPr>
                  <a:t>  </a:t>
                </a:r>
                <a:r>
                  <a:rPr lang="en-US" sz="2200" dirty="0"/>
                  <a:t>log</a:t>
                </a:r>
                <a:r>
                  <a:rPr lang="en-US" sz="2200" baseline="-25000" dirty="0"/>
                  <a:t>2</a:t>
                </a:r>
                <a:r>
                  <a:rPr lang="en-US" sz="2200" dirty="0"/>
                  <a:t>0,04</a:t>
                </a:r>
                <a:r>
                  <a:rPr lang="ru-RU" sz="2200" dirty="0"/>
                  <a:t> </a:t>
                </a:r>
                <a:r>
                  <a:rPr lang="en-US" sz="2200" dirty="0"/>
                  <a:t> + 0,002</a:t>
                </a:r>
                <a:r>
                  <a:rPr lang="en-US" sz="2200" dirty="0">
                    <a:sym typeface="Symbol"/>
                  </a:rPr>
                  <a:t> </a:t>
                </a:r>
                <a:r>
                  <a:rPr lang="en-US" sz="2200" dirty="0"/>
                  <a:t> log</a:t>
                </a:r>
                <a:r>
                  <a:rPr lang="en-US" sz="2200" baseline="-25000" dirty="0"/>
                  <a:t>2</a:t>
                </a:r>
                <a:r>
                  <a:rPr lang="en-US" sz="2200" dirty="0">
                    <a:solidFill>
                      <a:prstClr val="black"/>
                    </a:solidFill>
                  </a:rPr>
                  <a:t>0,002</a:t>
                </a:r>
                <a:r>
                  <a:rPr lang="ru-RU" sz="2200" dirty="0">
                    <a:solidFill>
                      <a:prstClr val="black"/>
                    </a:solidFill>
                  </a:rPr>
                  <a:t> </a:t>
                </a:r>
                <a:r>
                  <a:rPr lang="ru-RU" sz="2200" dirty="0"/>
                  <a:t> +  </a:t>
                </a:r>
                <a:r>
                  <a:rPr lang="en-US" sz="2200" dirty="0"/>
                  <a:t>0,2</a:t>
                </a:r>
                <a:r>
                  <a:rPr lang="en-US" sz="2200" dirty="0">
                    <a:sym typeface="Symbol"/>
                  </a:rPr>
                  <a:t> </a:t>
                </a:r>
                <a:r>
                  <a:rPr lang="en-US" sz="2200" dirty="0"/>
                  <a:t> log</a:t>
                </a:r>
                <a:r>
                  <a:rPr lang="en-US" sz="2200" baseline="-25000" dirty="0"/>
                  <a:t>2</a:t>
                </a:r>
                <a:r>
                  <a:rPr lang="en-US" sz="2200" dirty="0"/>
                  <a:t>0,2) </a:t>
                </a:r>
                <a:r>
                  <a:rPr lang="en-US" sz="2400" dirty="0"/>
                  <a:t>= 0,295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548680"/>
                <a:ext cx="9144000" cy="6192688"/>
              </a:xfrm>
              <a:blipFill>
                <a:blip r:embed="rId3"/>
                <a:stretch>
                  <a:fillRect l="-1000" t="-9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982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3429"/>
            <a:ext cx="8229600" cy="798133"/>
          </a:xfrm>
        </p:spPr>
        <p:txBody>
          <a:bodyPr/>
          <a:lstStyle/>
          <a:p>
            <a:r>
              <a:rPr lang="ru-RU" b="1" i="1" dirty="0"/>
              <a:t>Понятие кода</a:t>
            </a:r>
            <a:endParaRPr lang="en-US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832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Функция кодирования –  это отображение </a:t>
            </a:r>
          </a:p>
          <a:p>
            <a:pPr marL="0" indent="0" algn="ctr">
              <a:buNone/>
            </a:pPr>
            <a:r>
              <a:rPr lang="en-US" dirty="0"/>
              <a:t>F : </a:t>
            </a:r>
            <a:r>
              <a:rPr lang="ru-RU" dirty="0"/>
              <a:t>Алф</a:t>
            </a:r>
            <a:r>
              <a:rPr lang="ru-RU" baseline="-25000" dirty="0"/>
              <a:t>1</a:t>
            </a:r>
            <a:r>
              <a:rPr lang="ru-RU" dirty="0"/>
              <a:t> </a:t>
            </a:r>
            <a:r>
              <a:rPr lang="en-US" dirty="0">
                <a:solidFill>
                  <a:prstClr val="black"/>
                </a:solidFill>
              </a:rPr>
              <a:t>→</a:t>
            </a:r>
            <a:r>
              <a:rPr lang="en-US" dirty="0"/>
              <a:t> </a:t>
            </a:r>
            <a:r>
              <a:rPr lang="ru-RU" dirty="0" err="1">
                <a:solidFill>
                  <a:prstClr val="black"/>
                </a:solidFill>
              </a:rPr>
              <a:t>Алф</a:t>
            </a:r>
            <a:r>
              <a:rPr lang="en-US" baseline="-25000" dirty="0">
                <a:solidFill>
                  <a:prstClr val="black"/>
                </a:solidFill>
              </a:rPr>
              <a:t>2</a:t>
            </a:r>
            <a:r>
              <a:rPr lang="ru-RU" dirty="0">
                <a:solidFill>
                  <a:prstClr val="black"/>
                </a:solidFill>
              </a:rPr>
              <a:t>,  </a:t>
            </a:r>
          </a:p>
          <a:p>
            <a:pPr marL="0" indent="0">
              <a:buNone/>
            </a:pPr>
            <a:r>
              <a:rPr lang="ru-RU" sz="2400" dirty="0">
                <a:solidFill>
                  <a:prstClr val="black"/>
                </a:solidFill>
              </a:rPr>
              <a:t>которое некоторой цепочке символов из алфавита Алф</a:t>
            </a:r>
            <a:r>
              <a:rPr lang="ru-RU" sz="2400" baseline="-25000" dirty="0">
                <a:solidFill>
                  <a:prstClr val="black"/>
                </a:solidFill>
              </a:rPr>
              <a:t>1</a:t>
            </a:r>
            <a:r>
              <a:rPr lang="ru-RU" sz="2400" dirty="0">
                <a:solidFill>
                  <a:prstClr val="black"/>
                </a:solidFill>
              </a:rPr>
              <a:t> сопоставляет некоторую цепочку символов из алфавита Алф</a:t>
            </a:r>
            <a:r>
              <a:rPr lang="ru-RU" sz="2400" baseline="-25000" dirty="0">
                <a:solidFill>
                  <a:prstClr val="black"/>
                </a:solidFill>
              </a:rPr>
              <a:t>2</a:t>
            </a:r>
            <a:r>
              <a:rPr lang="ru-RU" sz="2400" dirty="0">
                <a:solidFill>
                  <a:prstClr val="black"/>
                </a:solidFill>
              </a:rPr>
              <a:t>. </a:t>
            </a:r>
          </a:p>
          <a:p>
            <a:pPr marL="0" indent="0">
              <a:buNone/>
            </a:pPr>
            <a:r>
              <a:rPr lang="ru-RU" dirty="0">
                <a:solidFill>
                  <a:prstClr val="black"/>
                </a:solidFill>
              </a:rPr>
              <a:t>Последняя называется </a:t>
            </a:r>
            <a:r>
              <a:rPr lang="ru-RU" dirty="0">
                <a:solidFill>
                  <a:srgbClr val="FF0000"/>
                </a:solidFill>
              </a:rPr>
              <a:t>кодом исходной цепочки</a:t>
            </a:r>
            <a:r>
              <a:rPr lang="ru-RU" dirty="0">
                <a:solidFill>
                  <a:prstClr val="black"/>
                </a:solidFill>
              </a:rPr>
              <a:t>.</a:t>
            </a:r>
          </a:p>
          <a:p>
            <a:pPr marL="0" indent="0">
              <a:buNone/>
            </a:pPr>
            <a:r>
              <a:rPr lang="ru-RU" i="1" u="sng" dirty="0">
                <a:solidFill>
                  <a:prstClr val="black"/>
                </a:solidFill>
              </a:rPr>
              <a:t>Можно выделить 4 типа кодирования: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>
                <a:solidFill>
                  <a:srgbClr val="0070C0"/>
                </a:solidFill>
              </a:rPr>
              <a:t>Символ </a:t>
            </a:r>
            <a:r>
              <a:rPr lang="en-US" b="1" dirty="0">
                <a:solidFill>
                  <a:srgbClr val="0070C0"/>
                </a:solidFill>
              </a:rPr>
              <a:t>→</a:t>
            </a:r>
            <a:r>
              <a:rPr lang="ru-RU" b="1" dirty="0">
                <a:solidFill>
                  <a:srgbClr val="0070C0"/>
                </a:solidFill>
              </a:rPr>
              <a:t> символ. 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>
                <a:solidFill>
                  <a:srgbClr val="0070C0"/>
                </a:solidFill>
              </a:rPr>
              <a:t>Символ </a:t>
            </a:r>
            <a:r>
              <a:rPr lang="en-US" b="1" dirty="0">
                <a:solidFill>
                  <a:srgbClr val="0070C0"/>
                </a:solidFill>
              </a:rPr>
              <a:t>→</a:t>
            </a:r>
            <a:r>
              <a:rPr lang="ru-RU" b="1" dirty="0">
                <a:solidFill>
                  <a:srgbClr val="0070C0"/>
                </a:solidFill>
              </a:rPr>
              <a:t> слово. 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>
                <a:solidFill>
                  <a:srgbClr val="0070C0"/>
                </a:solidFill>
              </a:rPr>
              <a:t>Слово </a:t>
            </a:r>
            <a:r>
              <a:rPr lang="en-US" b="1" dirty="0">
                <a:solidFill>
                  <a:srgbClr val="0070C0"/>
                </a:solidFill>
              </a:rPr>
              <a:t>→</a:t>
            </a:r>
            <a:r>
              <a:rPr lang="ru-RU" b="1" dirty="0">
                <a:solidFill>
                  <a:srgbClr val="0070C0"/>
                </a:solidFill>
              </a:rPr>
              <a:t> символ. </a:t>
            </a:r>
            <a:endParaRPr lang="en-US" dirty="0">
              <a:solidFill>
                <a:srgbClr val="0070C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b="1" dirty="0">
                <a:solidFill>
                  <a:srgbClr val="0070C0"/>
                </a:solidFill>
              </a:rPr>
              <a:t>Слово </a:t>
            </a:r>
            <a:r>
              <a:rPr lang="en-US" b="1" dirty="0">
                <a:solidFill>
                  <a:srgbClr val="0070C0"/>
                </a:solidFill>
              </a:rPr>
              <a:t>→</a:t>
            </a:r>
            <a:r>
              <a:rPr lang="ru-RU" b="1" dirty="0">
                <a:solidFill>
                  <a:srgbClr val="0070C0"/>
                </a:solidFill>
              </a:rPr>
              <a:t> слово. 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23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BB5A9-2D3B-4C8F-AD2C-6634EADE2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dirty="0"/>
              <a:t>4 типа кодирования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721304-CE51-46DE-A870-C6968B6E5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8363272" cy="57466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i="1" dirty="0"/>
              <a:t>1. </a:t>
            </a:r>
            <a:r>
              <a:rPr lang="ru-RU" b="1" i="1" dirty="0">
                <a:solidFill>
                  <a:srgbClr val="FF0000"/>
                </a:solidFill>
              </a:rPr>
              <a:t>Символ </a:t>
            </a:r>
            <a:r>
              <a:rPr lang="en-US" b="1" i="1" dirty="0">
                <a:solidFill>
                  <a:srgbClr val="FF0000"/>
                </a:solidFill>
              </a:rPr>
              <a:t>→</a:t>
            </a:r>
            <a:r>
              <a:rPr lang="ru-RU" b="1" i="1" dirty="0">
                <a:solidFill>
                  <a:srgbClr val="FF0000"/>
                </a:solidFill>
              </a:rPr>
              <a:t> символ </a:t>
            </a:r>
          </a:p>
          <a:p>
            <a:pPr marL="0" indent="0">
              <a:buNone/>
            </a:pPr>
            <a:r>
              <a:rPr lang="ru-RU" dirty="0">
                <a:solidFill>
                  <a:prstClr val="black"/>
                </a:solidFill>
              </a:rPr>
              <a:t> Код </a:t>
            </a:r>
            <a:r>
              <a:rPr lang="en-US" dirty="0">
                <a:solidFill>
                  <a:prstClr val="black"/>
                </a:solidFill>
              </a:rPr>
              <a:t>F : </a:t>
            </a:r>
            <a:r>
              <a:rPr lang="ru-RU" dirty="0">
                <a:solidFill>
                  <a:prstClr val="black"/>
                </a:solidFill>
              </a:rPr>
              <a:t>Алф1 </a:t>
            </a:r>
            <a:r>
              <a:rPr lang="en-US" dirty="0">
                <a:solidFill>
                  <a:prstClr val="black"/>
                </a:solidFill>
              </a:rPr>
              <a:t>→ </a:t>
            </a:r>
            <a:r>
              <a:rPr lang="ru-RU" dirty="0" err="1">
                <a:solidFill>
                  <a:prstClr val="black"/>
                </a:solidFill>
              </a:rPr>
              <a:t>Алф</a:t>
            </a:r>
            <a:r>
              <a:rPr lang="en-US" dirty="0">
                <a:solidFill>
                  <a:prstClr val="black"/>
                </a:solidFill>
              </a:rPr>
              <a:t>2</a:t>
            </a:r>
            <a:r>
              <a:rPr lang="ru-RU" dirty="0">
                <a:solidFill>
                  <a:prstClr val="black"/>
                </a:solidFill>
              </a:rPr>
              <a:t>, </a:t>
            </a:r>
          </a:p>
          <a:p>
            <a:pPr marL="0" indent="0">
              <a:buNone/>
            </a:pPr>
            <a:r>
              <a:rPr lang="ru-RU" dirty="0">
                <a:solidFill>
                  <a:prstClr val="black"/>
                </a:solidFill>
              </a:rPr>
              <a:t>причём </a:t>
            </a:r>
            <a:r>
              <a:rPr lang="en-US" dirty="0">
                <a:solidFill>
                  <a:prstClr val="black"/>
                </a:solidFill>
              </a:rPr>
              <a:t>|</a:t>
            </a:r>
            <a:r>
              <a:rPr lang="ru-RU" dirty="0">
                <a:solidFill>
                  <a:prstClr val="black"/>
                </a:solidFill>
              </a:rPr>
              <a:t>Алф1</a:t>
            </a:r>
            <a:r>
              <a:rPr lang="en-US" dirty="0">
                <a:solidFill>
                  <a:prstClr val="black"/>
                </a:solidFill>
              </a:rPr>
              <a:t>|</a:t>
            </a:r>
            <a:r>
              <a:rPr lang="ru-RU" dirty="0">
                <a:solidFill>
                  <a:prstClr val="black"/>
                </a:solidFill>
              </a:rPr>
              <a:t> =</a:t>
            </a:r>
            <a:r>
              <a:rPr lang="en-US" dirty="0">
                <a:solidFill>
                  <a:prstClr val="black"/>
                </a:solidFill>
              </a:rPr>
              <a:t> |</a:t>
            </a:r>
            <a:r>
              <a:rPr lang="ru-RU" dirty="0" err="1">
                <a:solidFill>
                  <a:prstClr val="black"/>
                </a:solidFill>
              </a:rPr>
              <a:t>Алф</a:t>
            </a:r>
            <a:r>
              <a:rPr lang="en-US" dirty="0">
                <a:solidFill>
                  <a:prstClr val="black"/>
                </a:solidFill>
              </a:rPr>
              <a:t>2|</a:t>
            </a:r>
            <a:r>
              <a:rPr lang="en-US" dirty="0">
                <a:sym typeface="Symbol"/>
              </a:rPr>
              <a:t>  </a:t>
            </a:r>
            <a:r>
              <a:rPr lang="en-US" dirty="0">
                <a:solidFill>
                  <a:prstClr val="black"/>
                </a:solidFill>
              </a:rPr>
              <a:t>|S|</a:t>
            </a:r>
            <a:r>
              <a:rPr lang="ru-RU" dirty="0">
                <a:solidFill>
                  <a:prstClr val="black"/>
                </a:solidFill>
              </a:rPr>
              <a:t> количество элементов в множестве </a:t>
            </a:r>
            <a:r>
              <a:rPr lang="en-US" dirty="0">
                <a:solidFill>
                  <a:prstClr val="black"/>
                </a:solidFill>
              </a:rPr>
              <a:t>S</a:t>
            </a:r>
            <a:r>
              <a:rPr lang="ru-RU" dirty="0">
                <a:solidFill>
                  <a:prstClr val="black"/>
                </a:solidFill>
              </a:rPr>
              <a:t>, </a:t>
            </a:r>
          </a:p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</a:rPr>
              <a:t>|</a:t>
            </a:r>
            <a:r>
              <a:rPr lang="ru-RU" dirty="0">
                <a:solidFill>
                  <a:prstClr val="black"/>
                </a:solidFill>
              </a:rPr>
              <a:t>Алф1</a:t>
            </a:r>
            <a:r>
              <a:rPr lang="en-US" dirty="0">
                <a:solidFill>
                  <a:prstClr val="black"/>
                </a:solidFill>
              </a:rPr>
              <a:t>|</a:t>
            </a:r>
            <a:r>
              <a:rPr lang="ru-RU" dirty="0">
                <a:solidFill>
                  <a:prstClr val="black"/>
                </a:solidFill>
              </a:rPr>
              <a:t> - количество символов в алфавите Алф1. </a:t>
            </a:r>
          </a:p>
          <a:p>
            <a:pPr marL="0" indent="0">
              <a:buNone/>
            </a:pPr>
            <a:r>
              <a:rPr lang="ru-RU" dirty="0">
                <a:solidFill>
                  <a:prstClr val="black"/>
                </a:solidFill>
              </a:rPr>
              <a:t>Код </a:t>
            </a:r>
            <a:r>
              <a:rPr lang="en-US" dirty="0">
                <a:solidFill>
                  <a:prstClr val="black"/>
                </a:solidFill>
              </a:rPr>
              <a:t>F </a:t>
            </a:r>
            <a:r>
              <a:rPr lang="ru-RU" dirty="0">
                <a:solidFill>
                  <a:prstClr val="black"/>
                </a:solidFill>
              </a:rPr>
              <a:t>в этом случае заменяет символы алфавита Алф1 символами алфавита Алф2.</a:t>
            </a:r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r>
              <a:rPr lang="ru-RU" b="1" i="1" dirty="0"/>
              <a:t>2. </a:t>
            </a:r>
            <a:r>
              <a:rPr lang="ru-RU" b="1" i="1" dirty="0">
                <a:solidFill>
                  <a:srgbClr val="FF0000"/>
                </a:solidFill>
              </a:rPr>
              <a:t>Символ </a:t>
            </a:r>
            <a:r>
              <a:rPr lang="en-US" b="1" i="1" dirty="0">
                <a:solidFill>
                  <a:srgbClr val="FF0000"/>
                </a:solidFill>
              </a:rPr>
              <a:t>→</a:t>
            </a:r>
            <a:r>
              <a:rPr lang="ru-RU" b="1" i="1" dirty="0">
                <a:solidFill>
                  <a:srgbClr val="FF0000"/>
                </a:solidFill>
              </a:rPr>
              <a:t> слово</a:t>
            </a:r>
          </a:p>
          <a:p>
            <a:pPr marL="0" indent="0">
              <a:buNone/>
            </a:pPr>
            <a:r>
              <a:rPr lang="ru-RU" b="1" i="1" dirty="0">
                <a:solidFill>
                  <a:prstClr val="black"/>
                </a:solidFill>
              </a:rPr>
              <a:t> </a:t>
            </a:r>
            <a:r>
              <a:rPr lang="ru-RU" dirty="0">
                <a:solidFill>
                  <a:prstClr val="black"/>
                </a:solidFill>
              </a:rPr>
              <a:t>Код </a:t>
            </a:r>
            <a:r>
              <a:rPr lang="en-US" dirty="0">
                <a:solidFill>
                  <a:prstClr val="black"/>
                </a:solidFill>
              </a:rPr>
              <a:t>F : </a:t>
            </a:r>
            <a:r>
              <a:rPr lang="ru-RU" dirty="0">
                <a:solidFill>
                  <a:prstClr val="black"/>
                </a:solidFill>
              </a:rPr>
              <a:t>Алф1 </a:t>
            </a:r>
            <a:r>
              <a:rPr lang="en-US" dirty="0">
                <a:solidFill>
                  <a:prstClr val="black"/>
                </a:solidFill>
              </a:rPr>
              <a:t>→ </a:t>
            </a:r>
            <a:r>
              <a:rPr lang="ru-RU" dirty="0" err="1">
                <a:solidFill>
                  <a:prstClr val="black"/>
                </a:solidFill>
              </a:rPr>
              <a:t>Алф</a:t>
            </a:r>
            <a:r>
              <a:rPr lang="en-US" dirty="0">
                <a:solidFill>
                  <a:prstClr val="black"/>
                </a:solidFill>
              </a:rPr>
              <a:t>2</a:t>
            </a:r>
            <a:r>
              <a:rPr lang="ru-RU" dirty="0">
                <a:solidFill>
                  <a:prstClr val="black"/>
                </a:solidFill>
              </a:rPr>
              <a:t>*, причём </a:t>
            </a:r>
            <a:r>
              <a:rPr lang="en-US" dirty="0">
                <a:solidFill>
                  <a:prstClr val="black"/>
                </a:solidFill>
              </a:rPr>
              <a:t>|</a:t>
            </a:r>
            <a:r>
              <a:rPr lang="ru-RU" dirty="0">
                <a:solidFill>
                  <a:prstClr val="black"/>
                </a:solidFill>
              </a:rPr>
              <a:t>Алф1</a:t>
            </a:r>
            <a:r>
              <a:rPr lang="en-US" dirty="0">
                <a:solidFill>
                  <a:prstClr val="black"/>
                </a:solidFill>
              </a:rPr>
              <a:t>|&gt;|</a:t>
            </a:r>
            <a:r>
              <a:rPr lang="ru-RU" dirty="0" err="1">
                <a:solidFill>
                  <a:prstClr val="black"/>
                </a:solidFill>
              </a:rPr>
              <a:t>Алф</a:t>
            </a:r>
            <a:r>
              <a:rPr lang="en-US" dirty="0">
                <a:solidFill>
                  <a:prstClr val="black"/>
                </a:solidFill>
              </a:rPr>
              <a:t>2|. </a:t>
            </a:r>
            <a:endParaRPr lang="ru-RU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ru-RU" dirty="0" err="1">
                <a:solidFill>
                  <a:prstClr val="black"/>
                </a:solidFill>
              </a:rPr>
              <a:t>Алф</a:t>
            </a:r>
            <a:r>
              <a:rPr lang="en-US" dirty="0">
                <a:solidFill>
                  <a:prstClr val="black"/>
                </a:solidFill>
              </a:rPr>
              <a:t>2* </a:t>
            </a:r>
            <a:r>
              <a:rPr lang="ru-RU" dirty="0">
                <a:solidFill>
                  <a:prstClr val="black"/>
                </a:solidFill>
              </a:rPr>
              <a:t>обозначает цепочку (последовательность) символов из алфавита Алф2.</a:t>
            </a:r>
          </a:p>
          <a:p>
            <a:pPr marL="0" indent="0">
              <a:buNone/>
            </a:pPr>
            <a:endParaRPr lang="en-US" b="1" i="1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ru-RU" b="1" i="1" dirty="0">
                <a:solidFill>
                  <a:prstClr val="black"/>
                </a:solidFill>
              </a:rPr>
              <a:t>3. </a:t>
            </a:r>
            <a:r>
              <a:rPr lang="ru-RU" b="1" i="1" dirty="0">
                <a:solidFill>
                  <a:srgbClr val="FF0000"/>
                </a:solidFill>
              </a:rPr>
              <a:t>Слово </a:t>
            </a:r>
            <a:r>
              <a:rPr lang="en-US" b="1" i="1" dirty="0">
                <a:solidFill>
                  <a:srgbClr val="FF0000"/>
                </a:solidFill>
              </a:rPr>
              <a:t>→</a:t>
            </a:r>
            <a:r>
              <a:rPr lang="ru-RU" b="1" i="1" dirty="0">
                <a:solidFill>
                  <a:srgbClr val="FF0000"/>
                </a:solidFill>
              </a:rPr>
              <a:t> символ</a:t>
            </a:r>
            <a:r>
              <a:rPr lang="ru-RU" b="1" i="1" dirty="0">
                <a:solidFill>
                  <a:prstClr val="black"/>
                </a:solidFill>
              </a:rPr>
              <a:t> </a:t>
            </a:r>
          </a:p>
          <a:p>
            <a:pPr marL="0" indent="0">
              <a:buNone/>
            </a:pPr>
            <a:r>
              <a:rPr lang="ru-RU" dirty="0">
                <a:solidFill>
                  <a:prstClr val="black"/>
                </a:solidFill>
              </a:rPr>
              <a:t>Код </a:t>
            </a:r>
            <a:r>
              <a:rPr lang="en-US" dirty="0">
                <a:solidFill>
                  <a:prstClr val="black"/>
                </a:solidFill>
              </a:rPr>
              <a:t>F : </a:t>
            </a:r>
            <a:r>
              <a:rPr lang="ru-RU" dirty="0">
                <a:solidFill>
                  <a:prstClr val="black"/>
                </a:solidFill>
              </a:rPr>
              <a:t>Алф1</a:t>
            </a:r>
            <a:r>
              <a:rPr lang="en-US" dirty="0">
                <a:solidFill>
                  <a:prstClr val="black"/>
                </a:solidFill>
              </a:rPr>
              <a:t>*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→ </a:t>
            </a:r>
            <a:r>
              <a:rPr lang="ru-RU" dirty="0" err="1">
                <a:solidFill>
                  <a:prstClr val="black"/>
                </a:solidFill>
              </a:rPr>
              <a:t>Алф</a:t>
            </a:r>
            <a:r>
              <a:rPr lang="en-US" dirty="0">
                <a:solidFill>
                  <a:prstClr val="black"/>
                </a:solidFill>
              </a:rPr>
              <a:t>2</a:t>
            </a:r>
            <a:r>
              <a:rPr lang="ru-RU" dirty="0">
                <a:solidFill>
                  <a:prstClr val="black"/>
                </a:solidFill>
              </a:rPr>
              <a:t>, причём </a:t>
            </a:r>
            <a:r>
              <a:rPr lang="en-US" dirty="0">
                <a:solidFill>
                  <a:prstClr val="black"/>
                </a:solidFill>
              </a:rPr>
              <a:t>|</a:t>
            </a:r>
            <a:r>
              <a:rPr lang="ru-RU" dirty="0">
                <a:solidFill>
                  <a:prstClr val="black"/>
                </a:solidFill>
              </a:rPr>
              <a:t>Алф1</a:t>
            </a:r>
            <a:r>
              <a:rPr lang="en-US" dirty="0">
                <a:solidFill>
                  <a:prstClr val="black"/>
                </a:solidFill>
              </a:rPr>
              <a:t>|&lt;|</a:t>
            </a:r>
            <a:r>
              <a:rPr lang="ru-RU" dirty="0" err="1">
                <a:solidFill>
                  <a:prstClr val="black"/>
                </a:solidFill>
              </a:rPr>
              <a:t>Алф</a:t>
            </a:r>
            <a:r>
              <a:rPr lang="en-US" dirty="0">
                <a:solidFill>
                  <a:prstClr val="black"/>
                </a:solidFill>
              </a:rPr>
              <a:t>2|. </a:t>
            </a:r>
          </a:p>
          <a:p>
            <a:pPr marL="0" indent="0">
              <a:buNone/>
            </a:pPr>
            <a:endParaRPr lang="en-US" b="1" i="1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en-US" b="1" i="1" dirty="0">
                <a:solidFill>
                  <a:prstClr val="black"/>
                </a:solidFill>
              </a:rPr>
              <a:t>4. </a:t>
            </a:r>
            <a:r>
              <a:rPr lang="ru-RU" b="1" i="1" dirty="0">
                <a:solidFill>
                  <a:srgbClr val="FF0000"/>
                </a:solidFill>
              </a:rPr>
              <a:t>Слово </a:t>
            </a:r>
            <a:r>
              <a:rPr lang="en-US" b="1" i="1" dirty="0">
                <a:solidFill>
                  <a:srgbClr val="FF0000"/>
                </a:solidFill>
              </a:rPr>
              <a:t>→</a:t>
            </a:r>
            <a:r>
              <a:rPr lang="ru-RU" b="1" i="1" dirty="0">
                <a:solidFill>
                  <a:srgbClr val="FF0000"/>
                </a:solidFill>
              </a:rPr>
              <a:t> слово</a:t>
            </a:r>
            <a:r>
              <a:rPr lang="ru-RU" b="1" i="1" dirty="0">
                <a:solidFill>
                  <a:prstClr val="black"/>
                </a:solidFill>
              </a:rPr>
              <a:t> </a:t>
            </a:r>
          </a:p>
          <a:p>
            <a:pPr marL="0" indent="0">
              <a:buNone/>
            </a:pPr>
            <a:r>
              <a:rPr lang="ru-RU" dirty="0">
                <a:solidFill>
                  <a:prstClr val="black"/>
                </a:solidFill>
              </a:rPr>
              <a:t>Код </a:t>
            </a:r>
            <a:r>
              <a:rPr lang="en-US" dirty="0">
                <a:solidFill>
                  <a:prstClr val="black"/>
                </a:solidFill>
              </a:rPr>
              <a:t>F : </a:t>
            </a:r>
            <a:r>
              <a:rPr lang="ru-RU" dirty="0">
                <a:solidFill>
                  <a:prstClr val="black"/>
                </a:solidFill>
              </a:rPr>
              <a:t>Алф1</a:t>
            </a:r>
            <a:r>
              <a:rPr lang="en-US" dirty="0">
                <a:solidFill>
                  <a:prstClr val="black"/>
                </a:solidFill>
              </a:rPr>
              <a:t>*</a:t>
            </a: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→ </a:t>
            </a:r>
            <a:r>
              <a:rPr lang="ru-RU" dirty="0" err="1">
                <a:solidFill>
                  <a:prstClr val="black"/>
                </a:solidFill>
              </a:rPr>
              <a:t>Алф</a:t>
            </a:r>
            <a:r>
              <a:rPr lang="en-US" dirty="0">
                <a:solidFill>
                  <a:prstClr val="black"/>
                </a:solidFill>
              </a:rPr>
              <a:t>2*.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295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Пример</a:t>
            </a:r>
            <a:endParaRPr lang="en-US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ru-RU" dirty="0"/>
              <a:t>Пусть Алф1 = </a:t>
            </a:r>
            <a:r>
              <a:rPr lang="en-US" dirty="0"/>
              <a:t>{a, b, c, d}, </a:t>
            </a:r>
          </a:p>
          <a:p>
            <a:pPr marL="0" lvl="0" indent="0">
              <a:buNone/>
            </a:pPr>
            <a:r>
              <a:rPr lang="en-US" dirty="0">
                <a:solidFill>
                  <a:prstClr val="black"/>
                </a:solidFill>
              </a:rPr>
              <a:t>            </a:t>
            </a:r>
            <a:r>
              <a:rPr lang="ru-RU" dirty="0">
                <a:solidFill>
                  <a:prstClr val="black"/>
                </a:solidFill>
              </a:rPr>
              <a:t>Алф2 = </a:t>
            </a:r>
            <a:r>
              <a:rPr lang="en-US" dirty="0">
                <a:solidFill>
                  <a:prstClr val="black"/>
                </a:solidFill>
              </a:rPr>
              <a:t>{0, 1}. </a:t>
            </a:r>
            <a:endParaRPr lang="ru-RU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Тогда примером кода типа 2. может являться код, который</a:t>
            </a:r>
            <a:endParaRPr lang="en-US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символ </a:t>
            </a:r>
            <a:r>
              <a:rPr lang="ru-RU" b="1" i="1" dirty="0">
                <a:solidFill>
                  <a:prstClr val="black"/>
                </a:solidFill>
              </a:rPr>
              <a:t>а</a:t>
            </a:r>
            <a:r>
              <a:rPr lang="ru-RU" dirty="0">
                <a:solidFill>
                  <a:prstClr val="black"/>
                </a:solidFill>
              </a:rPr>
              <a:t> переводит в символ </a:t>
            </a:r>
            <a:r>
              <a:rPr lang="ru-RU" b="1" dirty="0">
                <a:solidFill>
                  <a:prstClr val="black"/>
                </a:solidFill>
              </a:rPr>
              <a:t>0</a:t>
            </a:r>
            <a:r>
              <a:rPr lang="ru-RU" dirty="0">
                <a:solidFill>
                  <a:prstClr val="black"/>
                </a:solidFill>
              </a:rPr>
              <a:t> (</a:t>
            </a:r>
            <a:r>
              <a:rPr lang="en-US" b="1" i="1" dirty="0">
                <a:solidFill>
                  <a:prstClr val="black"/>
                </a:solidFill>
              </a:rPr>
              <a:t>a </a:t>
            </a:r>
            <a:r>
              <a:rPr lang="en-US" b="1" dirty="0">
                <a:solidFill>
                  <a:prstClr val="black"/>
                </a:solidFill>
              </a:rPr>
              <a:t>→</a:t>
            </a:r>
            <a:r>
              <a:rPr lang="ru-RU" b="1" dirty="0">
                <a:solidFill>
                  <a:prstClr val="black"/>
                </a:solidFill>
              </a:rPr>
              <a:t> </a:t>
            </a:r>
            <a:r>
              <a:rPr lang="en-US" b="1" dirty="0">
                <a:solidFill>
                  <a:prstClr val="black"/>
                </a:solidFill>
              </a:rPr>
              <a:t>0</a:t>
            </a:r>
            <a:r>
              <a:rPr lang="ru-RU" dirty="0">
                <a:solidFill>
                  <a:prstClr val="black"/>
                </a:solidFill>
              </a:rPr>
              <a:t>), </a:t>
            </a:r>
            <a:endParaRPr lang="en-US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символ </a:t>
            </a:r>
            <a:r>
              <a:rPr lang="en-US" b="1" i="1" dirty="0">
                <a:solidFill>
                  <a:prstClr val="black"/>
                </a:solidFill>
              </a:rPr>
              <a:t>b</a:t>
            </a:r>
            <a:r>
              <a:rPr lang="ru-RU" dirty="0">
                <a:solidFill>
                  <a:prstClr val="black"/>
                </a:solidFill>
              </a:rPr>
              <a:t> – в цепочку символов </a:t>
            </a:r>
            <a:r>
              <a:rPr lang="ru-RU" b="1" dirty="0">
                <a:solidFill>
                  <a:prstClr val="black"/>
                </a:solidFill>
              </a:rPr>
              <a:t>01</a:t>
            </a:r>
            <a:r>
              <a:rPr lang="ru-RU" dirty="0">
                <a:solidFill>
                  <a:prstClr val="black"/>
                </a:solidFill>
              </a:rPr>
              <a:t> (</a:t>
            </a:r>
            <a:r>
              <a:rPr lang="en-US" b="1" i="1" dirty="0">
                <a:solidFill>
                  <a:prstClr val="black"/>
                </a:solidFill>
              </a:rPr>
              <a:t>b </a:t>
            </a:r>
            <a:r>
              <a:rPr lang="en-US" b="1" dirty="0">
                <a:solidFill>
                  <a:prstClr val="black"/>
                </a:solidFill>
              </a:rPr>
              <a:t>→</a:t>
            </a:r>
            <a:r>
              <a:rPr lang="ru-RU" b="1" dirty="0">
                <a:solidFill>
                  <a:prstClr val="black"/>
                </a:solidFill>
              </a:rPr>
              <a:t> </a:t>
            </a:r>
            <a:r>
              <a:rPr lang="en-US" b="1" dirty="0">
                <a:solidFill>
                  <a:prstClr val="black"/>
                </a:solidFill>
              </a:rPr>
              <a:t>01</a:t>
            </a:r>
            <a:r>
              <a:rPr lang="ru-RU" dirty="0">
                <a:solidFill>
                  <a:prstClr val="black"/>
                </a:solidFill>
              </a:rPr>
              <a:t>), </a:t>
            </a:r>
            <a:endParaRPr lang="en-US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 </a:t>
            </a:r>
            <a:r>
              <a:rPr lang="en-US" b="1" i="1" dirty="0">
                <a:solidFill>
                  <a:prstClr val="black"/>
                </a:solidFill>
              </a:rPr>
              <a:t>c </a:t>
            </a:r>
            <a:r>
              <a:rPr lang="en-US" b="1" dirty="0">
                <a:solidFill>
                  <a:prstClr val="black"/>
                </a:solidFill>
              </a:rPr>
              <a:t>→ 10</a:t>
            </a:r>
            <a:r>
              <a:rPr lang="ru-RU" dirty="0">
                <a:solidFill>
                  <a:prstClr val="black"/>
                </a:solidFill>
              </a:rPr>
              <a:t>, </a:t>
            </a:r>
            <a:endParaRPr lang="en-US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b="1" i="1" dirty="0">
                <a:solidFill>
                  <a:prstClr val="black"/>
                </a:solidFill>
              </a:rPr>
              <a:t> d</a:t>
            </a:r>
            <a:r>
              <a:rPr lang="en-US" b="1" dirty="0">
                <a:solidFill>
                  <a:prstClr val="black"/>
                </a:solidFill>
              </a:rPr>
              <a:t> → 1. </a:t>
            </a:r>
          </a:p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Допустим, что слово </a:t>
            </a:r>
            <a:r>
              <a:rPr lang="en-US" b="1" dirty="0">
                <a:solidFill>
                  <a:prstClr val="black"/>
                </a:solidFill>
              </a:rPr>
              <a:t>s = 01101010 </a:t>
            </a:r>
            <a:r>
              <a:rPr lang="ru-RU" dirty="0">
                <a:solidFill>
                  <a:prstClr val="black"/>
                </a:solidFill>
              </a:rPr>
              <a:t>было получено в результате кодирования по данному правилу. </a:t>
            </a:r>
          </a:p>
          <a:p>
            <a:pPr marL="0" lvl="0" indent="0">
              <a:buNone/>
            </a:pPr>
            <a:endParaRPr lang="ru-RU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Выполним декодирование (или дешифровку), чтобы узнать, что было закодировано. Для этого нужно найти обратное преобразование </a:t>
            </a:r>
            <a:r>
              <a:rPr lang="ru-RU" sz="2700" dirty="0">
                <a:solidFill>
                  <a:prstClr val="black"/>
                </a:solidFill>
              </a:rPr>
              <a:t>Алф2 </a:t>
            </a:r>
            <a:r>
              <a:rPr lang="en-US" sz="2700" dirty="0">
                <a:solidFill>
                  <a:prstClr val="black"/>
                </a:solidFill>
              </a:rPr>
              <a:t>→ </a:t>
            </a:r>
            <a:r>
              <a:rPr lang="ru-RU" sz="2700" dirty="0">
                <a:solidFill>
                  <a:prstClr val="black"/>
                </a:solidFill>
              </a:rPr>
              <a:t>Алф1. </a:t>
            </a:r>
            <a:r>
              <a:rPr lang="ru-RU" dirty="0">
                <a:solidFill>
                  <a:prstClr val="black"/>
                </a:solidFill>
              </a:rPr>
              <a:t>В результате обнаружили, что слово </a:t>
            </a:r>
            <a:r>
              <a:rPr lang="en-US" b="1" i="1" dirty="0" err="1">
                <a:solidFill>
                  <a:prstClr val="black"/>
                </a:solidFill>
              </a:rPr>
              <a:t>addbba</a:t>
            </a:r>
            <a:r>
              <a:rPr lang="en-US" b="1" i="1" dirty="0">
                <a:solidFill>
                  <a:prstClr val="black"/>
                </a:solidFill>
              </a:rPr>
              <a:t> </a:t>
            </a:r>
            <a:r>
              <a:rPr lang="ru-RU" dirty="0">
                <a:solidFill>
                  <a:prstClr val="black"/>
                </a:solidFill>
              </a:rPr>
              <a:t>и слово </a:t>
            </a:r>
            <a:r>
              <a:rPr lang="en-US" b="1" i="1" dirty="0" err="1">
                <a:solidFill>
                  <a:prstClr val="black"/>
                </a:solidFill>
              </a:rPr>
              <a:t>bccc</a:t>
            </a:r>
            <a:r>
              <a:rPr lang="ru-RU" dirty="0">
                <a:solidFill>
                  <a:prstClr val="black"/>
                </a:solidFill>
              </a:rPr>
              <a:t>  кодируются словом </a:t>
            </a:r>
            <a:r>
              <a:rPr lang="en-US" b="1" dirty="0">
                <a:solidFill>
                  <a:prstClr val="black"/>
                </a:solidFill>
              </a:rPr>
              <a:t>s</a:t>
            </a:r>
            <a:r>
              <a:rPr lang="ru-RU" b="1" dirty="0">
                <a:solidFill>
                  <a:prstClr val="black"/>
                </a:solidFill>
              </a:rPr>
              <a:t>. </a:t>
            </a:r>
          </a:p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Возникла </a:t>
            </a:r>
            <a:r>
              <a:rPr lang="ru-RU" dirty="0">
                <a:solidFill>
                  <a:srgbClr val="FF0000"/>
                </a:solidFill>
              </a:rPr>
              <a:t>проблема неоднозначности декодирования</a:t>
            </a:r>
            <a:r>
              <a:rPr lang="ru-RU" dirty="0">
                <a:solidFill>
                  <a:prstClr val="black"/>
                </a:solidFill>
              </a:rPr>
              <a:t>. </a:t>
            </a:r>
          </a:p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Для успешной дешифровки коды должны допускать только </a:t>
            </a:r>
            <a:r>
              <a:rPr lang="ru-RU" i="1" dirty="0">
                <a:solidFill>
                  <a:prstClr val="black"/>
                </a:solidFill>
              </a:rPr>
              <a:t>однозначное декодирование</a:t>
            </a:r>
            <a:r>
              <a:rPr lang="ru-RU" dirty="0">
                <a:solidFill>
                  <a:prstClr val="black"/>
                </a:solidFill>
              </a:rPr>
              <a:t>, т.е. код должен быть </a:t>
            </a:r>
            <a:r>
              <a:rPr lang="ru-RU" b="1" dirty="0">
                <a:solidFill>
                  <a:srgbClr val="FF0000"/>
                </a:solidFill>
              </a:rPr>
              <a:t>префиксным</a:t>
            </a:r>
            <a:r>
              <a:rPr lang="ru-RU" dirty="0">
                <a:solidFill>
                  <a:srgbClr val="FF0000"/>
                </a:solidFill>
              </a:rPr>
              <a:t>.</a:t>
            </a:r>
          </a:p>
          <a:p>
            <a:pPr marL="0" lvl="0" indent="0">
              <a:buNone/>
            </a:pPr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333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1541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4000" b="1" i="1" dirty="0">
                <a:solidFill>
                  <a:prstClr val="black"/>
                </a:solidFill>
                <a:ea typeface="+mn-ea"/>
                <a:cs typeface="+mn-cs"/>
              </a:rPr>
              <a:t>Префиксный код</a:t>
            </a:r>
            <a:endParaRPr lang="en-US" sz="4000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938496"/>
            <a:ext cx="9144000" cy="5904656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ru-RU" sz="2500" b="1" i="1" dirty="0">
                <a:solidFill>
                  <a:srgbClr val="FF0000"/>
                </a:solidFill>
              </a:rPr>
              <a:t>Код называется префиксным, если никакое кодовое слово не является началом никакого другого кодового слова</a:t>
            </a:r>
            <a:r>
              <a:rPr lang="ru-RU" sz="2500" b="1" i="1" dirty="0">
                <a:solidFill>
                  <a:prstClr val="black"/>
                </a:solidFill>
              </a:rPr>
              <a:t>.</a:t>
            </a:r>
          </a:p>
          <a:p>
            <a:pPr marL="0" lvl="0" indent="0">
              <a:buNone/>
            </a:pPr>
            <a:r>
              <a:rPr lang="ru-RU" sz="2500" dirty="0">
                <a:solidFill>
                  <a:prstClr val="black"/>
                </a:solidFill>
              </a:rPr>
              <a:t>В нашем примере код символа </a:t>
            </a:r>
            <a:r>
              <a:rPr lang="en-US" sz="2500" dirty="0">
                <a:solidFill>
                  <a:prstClr val="black"/>
                </a:solidFill>
              </a:rPr>
              <a:t>a – 0 </a:t>
            </a:r>
            <a:r>
              <a:rPr lang="ru-RU" sz="2500" dirty="0">
                <a:solidFill>
                  <a:prstClr val="black"/>
                </a:solidFill>
              </a:rPr>
              <a:t>является началом кода символа </a:t>
            </a:r>
            <a:r>
              <a:rPr lang="en-US" sz="2500" dirty="0">
                <a:solidFill>
                  <a:prstClr val="black"/>
                </a:solidFill>
              </a:rPr>
              <a:t>b</a:t>
            </a:r>
            <a:r>
              <a:rPr lang="ru-RU" sz="2500" dirty="0">
                <a:solidFill>
                  <a:prstClr val="black"/>
                </a:solidFill>
              </a:rPr>
              <a:t> – 01. Значит наш код – не префиксный. </a:t>
            </a:r>
          </a:p>
          <a:p>
            <a:pPr marL="0" lvl="0" indent="0">
              <a:buNone/>
            </a:pPr>
            <a:r>
              <a:rPr lang="ru-RU" sz="2800" b="1" i="1" u="sng" dirty="0">
                <a:solidFill>
                  <a:prstClr val="black"/>
                </a:solidFill>
              </a:rPr>
              <a:t>Утверждение.</a:t>
            </a:r>
            <a:r>
              <a:rPr lang="ru-RU" sz="2800" b="1" i="1" dirty="0">
                <a:solidFill>
                  <a:prstClr val="black"/>
                </a:solidFill>
              </a:rPr>
              <a:t> </a:t>
            </a:r>
            <a:r>
              <a:rPr lang="ru-RU" sz="2500" b="1" i="1" dirty="0">
                <a:solidFill>
                  <a:srgbClr val="FF0000"/>
                </a:solidFill>
              </a:rPr>
              <a:t>Префиксный код всегда может быть однозначно декодирован.</a:t>
            </a:r>
          </a:p>
          <a:p>
            <a:pPr marL="0" lvl="0" indent="0">
              <a:buNone/>
            </a:pPr>
            <a:r>
              <a:rPr lang="ru-RU" sz="2500" i="1" u="sng" dirty="0">
                <a:solidFill>
                  <a:prstClr val="black"/>
                </a:solidFill>
              </a:rPr>
              <a:t>Пример</a:t>
            </a:r>
            <a:r>
              <a:rPr lang="ru-RU" sz="2500" dirty="0">
                <a:solidFill>
                  <a:prstClr val="black"/>
                </a:solidFill>
              </a:rPr>
              <a:t> Пусть Алф1 = </a:t>
            </a:r>
            <a:r>
              <a:rPr lang="en-US" sz="2500" dirty="0">
                <a:solidFill>
                  <a:prstClr val="black"/>
                </a:solidFill>
              </a:rPr>
              <a:t>{a, b, c, d}, </a:t>
            </a:r>
            <a:r>
              <a:rPr lang="ru-RU" sz="2500" dirty="0" err="1">
                <a:solidFill>
                  <a:prstClr val="black"/>
                </a:solidFill>
              </a:rPr>
              <a:t>Алф</a:t>
            </a:r>
            <a:r>
              <a:rPr lang="en-US" sz="2500" dirty="0">
                <a:solidFill>
                  <a:prstClr val="black"/>
                </a:solidFill>
              </a:rPr>
              <a:t>2</a:t>
            </a:r>
            <a:r>
              <a:rPr lang="ru-RU" sz="2500" dirty="0">
                <a:solidFill>
                  <a:prstClr val="black"/>
                </a:solidFill>
              </a:rPr>
              <a:t> = </a:t>
            </a:r>
            <a:r>
              <a:rPr lang="en-US" sz="2500" dirty="0">
                <a:solidFill>
                  <a:prstClr val="black"/>
                </a:solidFill>
              </a:rPr>
              <a:t>{0, 1}.</a:t>
            </a:r>
            <a:r>
              <a:rPr lang="ru-RU" sz="2500" dirty="0"/>
              <a:t> Рассмотрим код </a:t>
            </a:r>
            <a:r>
              <a:rPr lang="en-US" sz="2500" b="1" dirty="0"/>
              <a:t>F</a:t>
            </a:r>
            <a:r>
              <a:rPr lang="ru-RU" sz="2500" b="1" dirty="0"/>
              <a:t> </a:t>
            </a:r>
            <a:r>
              <a:rPr lang="ru-RU" sz="2500" dirty="0"/>
              <a:t>такой, что </a:t>
            </a:r>
            <a:r>
              <a:rPr lang="en-US" sz="2500" dirty="0">
                <a:solidFill>
                  <a:prstClr val="black"/>
                </a:solidFill>
              </a:rPr>
              <a:t> </a:t>
            </a:r>
            <a:r>
              <a:rPr lang="en-US" sz="2400" b="1" dirty="0">
                <a:solidFill>
                  <a:prstClr val="black"/>
                </a:solidFill>
              </a:rPr>
              <a:t>a</a:t>
            </a:r>
            <a:r>
              <a:rPr lang="en-US" sz="2400" b="1" i="1" dirty="0">
                <a:solidFill>
                  <a:prstClr val="black"/>
                </a:solidFill>
              </a:rPr>
              <a:t> </a:t>
            </a:r>
            <a:r>
              <a:rPr lang="en-US" sz="2400" b="1" dirty="0">
                <a:solidFill>
                  <a:prstClr val="black"/>
                </a:solidFill>
              </a:rPr>
              <a:t>→</a:t>
            </a:r>
            <a:r>
              <a:rPr lang="ru-RU" sz="2400" b="1" dirty="0">
                <a:solidFill>
                  <a:prstClr val="black"/>
                </a:solidFill>
              </a:rPr>
              <a:t> </a:t>
            </a:r>
            <a:r>
              <a:rPr lang="en-US" sz="2400" b="1" dirty="0">
                <a:solidFill>
                  <a:prstClr val="black"/>
                </a:solidFill>
              </a:rPr>
              <a:t>0</a:t>
            </a:r>
            <a:r>
              <a:rPr lang="ru-RU" sz="2400" b="1" dirty="0">
                <a:solidFill>
                  <a:prstClr val="black"/>
                </a:solidFill>
              </a:rPr>
              <a:t>, </a:t>
            </a:r>
          </a:p>
          <a:p>
            <a:pPr marL="0" indent="0">
              <a:buNone/>
            </a:pPr>
            <a:r>
              <a:rPr lang="ru-RU" sz="2400" b="1" dirty="0">
                <a:solidFill>
                  <a:prstClr val="black"/>
                </a:solidFill>
              </a:rPr>
              <a:t>	         </a:t>
            </a:r>
            <a:r>
              <a:rPr lang="en-US" sz="2400" b="1" dirty="0">
                <a:solidFill>
                  <a:prstClr val="black"/>
                </a:solidFill>
              </a:rPr>
              <a:t>b</a:t>
            </a:r>
            <a:r>
              <a:rPr lang="en-US" sz="2400" b="1" i="1" dirty="0">
                <a:solidFill>
                  <a:prstClr val="black"/>
                </a:solidFill>
              </a:rPr>
              <a:t> </a:t>
            </a:r>
            <a:r>
              <a:rPr lang="en-US" sz="2400" b="1" dirty="0">
                <a:solidFill>
                  <a:prstClr val="black"/>
                </a:solidFill>
              </a:rPr>
              <a:t>→</a:t>
            </a:r>
            <a:r>
              <a:rPr lang="ru-RU" sz="2400" b="1" dirty="0">
                <a:solidFill>
                  <a:prstClr val="black"/>
                </a:solidFill>
              </a:rPr>
              <a:t> 1</a:t>
            </a:r>
            <a:r>
              <a:rPr lang="en-US" sz="2400" b="1" dirty="0">
                <a:solidFill>
                  <a:prstClr val="black"/>
                </a:solidFill>
              </a:rPr>
              <a:t>01</a:t>
            </a:r>
            <a:r>
              <a:rPr lang="ru-RU" sz="2400" b="1" dirty="0">
                <a:solidFill>
                  <a:prstClr val="black"/>
                </a:solidFill>
              </a:rPr>
              <a:t>,</a:t>
            </a:r>
            <a:r>
              <a:rPr lang="en-US" sz="2400" b="1" dirty="0">
                <a:solidFill>
                  <a:prstClr val="black"/>
                </a:solidFill>
              </a:rPr>
              <a:t> </a:t>
            </a:r>
            <a:endParaRPr lang="ru-RU" sz="2400" b="1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ru-RU" sz="2400" b="1" dirty="0">
                <a:solidFill>
                  <a:prstClr val="black"/>
                </a:solidFill>
              </a:rPr>
              <a:t>	         </a:t>
            </a:r>
            <a:r>
              <a:rPr lang="en-US" sz="2400" b="1" dirty="0">
                <a:solidFill>
                  <a:prstClr val="black"/>
                </a:solidFill>
              </a:rPr>
              <a:t>c</a:t>
            </a:r>
            <a:r>
              <a:rPr lang="en-US" sz="2400" b="1" i="1" dirty="0">
                <a:solidFill>
                  <a:prstClr val="black"/>
                </a:solidFill>
              </a:rPr>
              <a:t> </a:t>
            </a:r>
            <a:r>
              <a:rPr lang="en-US" sz="2400" b="1" dirty="0">
                <a:solidFill>
                  <a:prstClr val="black"/>
                </a:solidFill>
              </a:rPr>
              <a:t>→ </a:t>
            </a:r>
            <a:r>
              <a:rPr lang="ru-RU" sz="2400" b="1" dirty="0">
                <a:solidFill>
                  <a:prstClr val="black"/>
                </a:solidFill>
              </a:rPr>
              <a:t>1</a:t>
            </a:r>
            <a:r>
              <a:rPr lang="en-US" sz="2400" b="1" dirty="0">
                <a:solidFill>
                  <a:prstClr val="black"/>
                </a:solidFill>
              </a:rPr>
              <a:t>10</a:t>
            </a:r>
            <a:r>
              <a:rPr lang="ru-RU" sz="2400" dirty="0">
                <a:solidFill>
                  <a:prstClr val="black"/>
                </a:solidFill>
              </a:rPr>
              <a:t>, </a:t>
            </a:r>
          </a:p>
          <a:p>
            <a:pPr marL="0" indent="0">
              <a:buNone/>
            </a:pPr>
            <a:r>
              <a:rPr lang="ru-RU" sz="2400" b="1" dirty="0">
                <a:solidFill>
                  <a:prstClr val="black"/>
                </a:solidFill>
              </a:rPr>
              <a:t>	         </a:t>
            </a:r>
            <a:r>
              <a:rPr lang="en-US" sz="2400" b="1" dirty="0">
                <a:solidFill>
                  <a:prstClr val="black"/>
                </a:solidFill>
              </a:rPr>
              <a:t>d → 1</a:t>
            </a:r>
            <a:r>
              <a:rPr lang="ru-RU" sz="2400" b="1" dirty="0">
                <a:solidFill>
                  <a:prstClr val="black"/>
                </a:solidFill>
              </a:rPr>
              <a:t>110</a:t>
            </a:r>
          </a:p>
          <a:p>
            <a:pPr marL="0" indent="0">
              <a:buNone/>
            </a:pPr>
            <a:r>
              <a:rPr lang="ru-RU" sz="2400" dirty="0">
                <a:solidFill>
                  <a:prstClr val="black"/>
                </a:solidFill>
              </a:rPr>
              <a:t>Слово</a:t>
            </a:r>
            <a:r>
              <a:rPr lang="ru-RU" sz="2400" b="1" dirty="0">
                <a:solidFill>
                  <a:prstClr val="black"/>
                </a:solidFill>
              </a:rPr>
              <a:t> </a:t>
            </a:r>
            <a:r>
              <a:rPr lang="en-US" sz="2400" b="1" dirty="0">
                <a:solidFill>
                  <a:prstClr val="black"/>
                </a:solidFill>
              </a:rPr>
              <a:t>s</a:t>
            </a:r>
            <a:r>
              <a:rPr lang="ru-RU" sz="2400" b="1" dirty="0">
                <a:solidFill>
                  <a:prstClr val="black"/>
                </a:solidFill>
              </a:rPr>
              <a:t> = 01101010 </a:t>
            </a:r>
            <a:r>
              <a:rPr lang="ru-RU" sz="2400" dirty="0">
                <a:solidFill>
                  <a:prstClr val="black"/>
                </a:solidFill>
              </a:rPr>
              <a:t>состоит из символов алфавита </a:t>
            </a:r>
            <a:r>
              <a:rPr lang="ru-RU" sz="2400" b="1" dirty="0">
                <a:solidFill>
                  <a:prstClr val="black"/>
                </a:solidFill>
              </a:rPr>
              <a:t>АЛФ2</a:t>
            </a:r>
            <a:r>
              <a:rPr lang="ru-RU" sz="2400" dirty="0">
                <a:solidFill>
                  <a:prstClr val="black"/>
                </a:solidFill>
              </a:rPr>
              <a:t>. Код </a:t>
            </a:r>
            <a:r>
              <a:rPr lang="en-US" sz="2500" b="1" dirty="0">
                <a:solidFill>
                  <a:prstClr val="black"/>
                </a:solidFill>
              </a:rPr>
              <a:t>F</a:t>
            </a:r>
            <a:r>
              <a:rPr lang="ru-RU" sz="2500" b="1" dirty="0">
                <a:solidFill>
                  <a:prstClr val="black"/>
                </a:solidFill>
              </a:rPr>
              <a:t> </a:t>
            </a:r>
            <a:r>
              <a:rPr lang="ru-RU" sz="2500" dirty="0">
                <a:solidFill>
                  <a:prstClr val="black"/>
                </a:solidFill>
              </a:rPr>
              <a:t>является префиксным, поэтому слово </a:t>
            </a:r>
            <a:r>
              <a:rPr lang="en-US" sz="2400" b="1" dirty="0">
                <a:solidFill>
                  <a:prstClr val="black"/>
                </a:solidFill>
              </a:rPr>
              <a:t>s</a:t>
            </a:r>
            <a:r>
              <a:rPr lang="ru-RU" sz="2400" b="1" dirty="0">
                <a:solidFill>
                  <a:prstClr val="black"/>
                </a:solidFill>
              </a:rPr>
              <a:t> </a:t>
            </a:r>
            <a:r>
              <a:rPr lang="ru-RU" sz="2500" dirty="0">
                <a:solidFill>
                  <a:prstClr val="black"/>
                </a:solidFill>
              </a:rPr>
              <a:t>однозначно декодируется. В качестве результата декодирования получили слово</a:t>
            </a:r>
            <a:r>
              <a:rPr lang="ru-RU" sz="2500" b="1" dirty="0">
                <a:solidFill>
                  <a:prstClr val="black"/>
                </a:solidFill>
              </a:rPr>
              <a:t>   </a:t>
            </a:r>
            <a:r>
              <a:rPr lang="en-US" sz="2500" b="1" dirty="0" err="1">
                <a:solidFill>
                  <a:prstClr val="black"/>
                </a:solidFill>
              </a:rPr>
              <a:t>acba</a:t>
            </a:r>
            <a:r>
              <a:rPr lang="en-US" sz="2500" b="1" dirty="0">
                <a:solidFill>
                  <a:prstClr val="black"/>
                </a:solidFill>
              </a:rPr>
              <a:t> </a:t>
            </a:r>
            <a:r>
              <a:rPr lang="ru-RU" sz="2500" b="1" dirty="0">
                <a:solidFill>
                  <a:prstClr val="black"/>
                </a:solidFill>
              </a:rPr>
              <a:t>  </a:t>
            </a:r>
            <a:r>
              <a:rPr lang="ru-RU" sz="2500" dirty="0">
                <a:solidFill>
                  <a:prstClr val="black"/>
                </a:solidFill>
              </a:rPr>
              <a:t>из алфавита </a:t>
            </a:r>
            <a:r>
              <a:rPr lang="ru-RU" sz="2500" b="1" dirty="0">
                <a:solidFill>
                  <a:prstClr val="black"/>
                </a:solidFill>
              </a:rPr>
              <a:t>АЛФ1.</a:t>
            </a:r>
            <a:endParaRPr lang="ru-RU" sz="2400" b="1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846122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2454"/>
            <a:ext cx="8229600" cy="680242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Критерии качества кодирования</a:t>
            </a:r>
            <a:endParaRPr lang="en-US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4104456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  <a:p>
            <a:r>
              <a:rPr lang="ru-RU" dirty="0"/>
              <a:t>Минимальная длина кода</a:t>
            </a:r>
          </a:p>
          <a:p>
            <a:r>
              <a:rPr lang="ru-RU" dirty="0"/>
              <a:t>Однозначное кодирование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 преобразовании информации из одного вида в другой количество информации не возрастает.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546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8721" y="0"/>
            <a:ext cx="8229600" cy="692696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Информационная ёмкость</a:t>
            </a:r>
            <a:endParaRPr lang="en-US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764704"/>
                <a:ext cx="9144000" cy="576064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ru-RU" sz="2700" dirty="0"/>
                  <a:t>При </a:t>
                </a:r>
                <a:r>
                  <a:rPr lang="ru-RU" sz="2700" dirty="0">
                    <a:solidFill>
                      <a:srgbClr val="FF0000"/>
                    </a:solidFill>
                  </a:rPr>
                  <a:t>двоичном</a:t>
                </a:r>
                <a:r>
                  <a:rPr lang="ru-RU" sz="2700" dirty="0">
                    <a:solidFill>
                      <a:prstClr val="black"/>
                    </a:solidFill>
                  </a:rPr>
                  <a:t> </a:t>
                </a:r>
                <a:r>
                  <a:rPr lang="ru-RU" sz="2700" dirty="0"/>
                  <a:t>кодировании </a:t>
                </a:r>
                <a:r>
                  <a:rPr lang="ru-RU" sz="2700" b="1" i="1" dirty="0">
                    <a:solidFill>
                      <a:prstClr val="black"/>
                    </a:solidFill>
                  </a:rPr>
                  <a:t>Символ </a:t>
                </a:r>
                <a:r>
                  <a:rPr lang="en-US" sz="2700" b="1" i="1" dirty="0">
                    <a:solidFill>
                      <a:prstClr val="black"/>
                    </a:solidFill>
                  </a:rPr>
                  <a:t>→</a:t>
                </a:r>
                <a:r>
                  <a:rPr lang="ru-RU" sz="2700" b="1" i="1" dirty="0">
                    <a:solidFill>
                      <a:prstClr val="black"/>
                    </a:solidFill>
                  </a:rPr>
                  <a:t>символ </a:t>
                </a:r>
                <a:r>
                  <a:rPr lang="ru-RU" sz="2700" dirty="0">
                    <a:solidFill>
                      <a:prstClr val="black"/>
                    </a:solidFill>
                  </a:rPr>
                  <a:t>каждый символ кодируется с равной вероятностью символами </a:t>
                </a:r>
                <a:r>
                  <a:rPr lang="ru-RU" sz="2700" b="1" dirty="0">
                    <a:solidFill>
                      <a:prstClr val="black"/>
                    </a:solidFill>
                  </a:rPr>
                  <a:t>0</a:t>
                </a:r>
                <a:r>
                  <a:rPr lang="ru-RU" sz="2700" dirty="0">
                    <a:solidFill>
                      <a:prstClr val="black"/>
                    </a:solidFill>
                  </a:rPr>
                  <a:t> и </a:t>
                </a:r>
                <a:r>
                  <a:rPr lang="ru-RU" sz="2700" b="1" dirty="0">
                    <a:solidFill>
                      <a:prstClr val="black"/>
                    </a:solidFill>
                  </a:rPr>
                  <a:t>1</a:t>
                </a:r>
                <a:r>
                  <a:rPr lang="ru-RU" sz="2700" dirty="0">
                    <a:solidFill>
                      <a:prstClr val="black"/>
                    </a:solidFill>
                  </a:rPr>
                  <a:t>. По формуле Хартли количество информации, переносимое каждым символом кодового слова: </a:t>
                </a:r>
                <a:r>
                  <a:rPr lang="en-US" sz="2700" b="1" dirty="0">
                    <a:solidFill>
                      <a:prstClr val="black"/>
                    </a:solidFill>
                  </a:rPr>
                  <a:t>log</a:t>
                </a:r>
                <a:r>
                  <a:rPr lang="en-US" sz="3000" b="1" baseline="-25000" dirty="0">
                    <a:solidFill>
                      <a:prstClr val="black"/>
                    </a:solidFill>
                  </a:rPr>
                  <a:t>2</a:t>
                </a:r>
                <a:r>
                  <a:rPr lang="en-US" sz="2700" b="1" dirty="0">
                    <a:solidFill>
                      <a:prstClr val="black"/>
                    </a:solidFill>
                  </a:rPr>
                  <a:t>2 = 1 </a:t>
                </a:r>
                <a:r>
                  <a:rPr lang="ru-RU" sz="2700" b="1" dirty="0">
                    <a:solidFill>
                      <a:prstClr val="black"/>
                    </a:solidFill>
                  </a:rPr>
                  <a:t>бит.</a:t>
                </a:r>
              </a:p>
              <a:p>
                <a:pPr marL="0" indent="0">
                  <a:buNone/>
                </a:pPr>
                <a:endParaRPr lang="ru-RU" sz="2700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ru-RU" sz="2700" dirty="0">
                    <a:solidFill>
                      <a:prstClr val="black"/>
                    </a:solidFill>
                  </a:rPr>
                  <a:t>При двоичном кодировании </a:t>
                </a:r>
                <a:r>
                  <a:rPr lang="ru-RU" sz="2700" b="1" i="1" dirty="0">
                    <a:solidFill>
                      <a:prstClr val="black"/>
                    </a:solidFill>
                  </a:rPr>
                  <a:t>Символ </a:t>
                </a:r>
                <a:r>
                  <a:rPr lang="en-US" sz="2700" b="1" i="1" dirty="0">
                    <a:solidFill>
                      <a:prstClr val="black"/>
                    </a:solidFill>
                  </a:rPr>
                  <a:t>→</a:t>
                </a:r>
                <a:r>
                  <a:rPr lang="ru-RU" sz="2700" b="1" i="1" dirty="0">
                    <a:solidFill>
                      <a:prstClr val="black"/>
                    </a:solidFill>
                  </a:rPr>
                  <a:t>слово </a:t>
                </a:r>
                <a:r>
                  <a:rPr lang="ru-RU" sz="2700" dirty="0">
                    <a:solidFill>
                      <a:prstClr val="black"/>
                    </a:solidFill>
                  </a:rPr>
                  <a:t>каждый символ кодируется различным числом двоичных цифр. Поделив длину достаточно большого кодового сообщения на длину исходного сообщения, получим </a:t>
                </a:r>
                <a:r>
                  <a:rPr lang="ru-RU" sz="2700" i="1" u="sng" dirty="0">
                    <a:solidFill>
                      <a:prstClr val="black"/>
                    </a:solidFill>
                  </a:rPr>
                  <a:t>среднюю длину кодового слова</a:t>
                </a:r>
                <a:r>
                  <a:rPr lang="en-US" sz="2700" i="1" u="sng" dirty="0">
                    <a:solidFill>
                      <a:prstClr val="black"/>
                    </a:solidFill>
                  </a:rPr>
                  <a:t> </a:t>
                </a:r>
                <a:r>
                  <a:rPr lang="en-US" sz="2700" b="1" u="sng" dirty="0">
                    <a:solidFill>
                      <a:prstClr val="black"/>
                    </a:solidFill>
                  </a:rPr>
                  <a:t>K(A) </a:t>
                </a:r>
                <a:r>
                  <a:rPr lang="ru-RU" sz="2700" dirty="0">
                    <a:solidFill>
                      <a:prstClr val="black"/>
                    </a:solidFill>
                  </a:rPr>
                  <a:t>для кодирования каждого символа исходного сообщения.  </a:t>
                </a:r>
                <a:endParaRPr lang="en-US" sz="2700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ru-RU" sz="2700" dirty="0">
                    <a:solidFill>
                      <a:prstClr val="black"/>
                    </a:solidFill>
                  </a:rPr>
                  <a:t>Задача состоит в построении такого кода, при котором эта </a:t>
                </a:r>
                <a:r>
                  <a:rPr lang="ru-RU" sz="2700" i="1" dirty="0">
                    <a:solidFill>
                      <a:prstClr val="black"/>
                    </a:solidFill>
                  </a:rPr>
                  <a:t>средняя длина кода символа </a:t>
                </a:r>
                <a:r>
                  <a:rPr lang="ru-RU" sz="2700" dirty="0">
                    <a:solidFill>
                      <a:prstClr val="black"/>
                    </a:solidFill>
                  </a:rPr>
                  <a:t>была бы как можно меньше.</a:t>
                </a:r>
              </a:p>
              <a:p>
                <a:pPr marL="0" indent="0">
                  <a:buNone/>
                </a:pPr>
                <a:r>
                  <a:rPr lang="ru-RU" sz="2700" dirty="0">
                    <a:solidFill>
                      <a:prstClr val="black"/>
                    </a:solidFill>
                  </a:rPr>
                  <a:t>Величина    </a:t>
                </a:r>
                <a:endParaRPr lang="en-US" sz="2700" dirty="0">
                  <a:solidFill>
                    <a:prstClr val="black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</a:t>
                </a:r>
                <a:r>
                  <a:rPr lang="ru-RU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(А)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(x</a:t>
                </a:r>
                <a:r>
                  <a:rPr lang="en-US" sz="2800" baseline="-25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log</a:t>
                </a:r>
                <a:r>
                  <a:rPr lang="en-US" sz="2800" baseline="-25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xi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US" sz="2800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800" dirty="0">
                    <a:solidFill>
                      <a:prstClr val="black"/>
                    </a:solidFill>
                  </a:rPr>
                  <a:t>называется </a:t>
                </a:r>
                <a:r>
                  <a:rPr lang="ru-RU" sz="2800" b="1" i="1" dirty="0">
                    <a:solidFill>
                      <a:srgbClr val="FF0000"/>
                    </a:solidFill>
                  </a:rPr>
                  <a:t>средней</a:t>
                </a:r>
                <a:r>
                  <a:rPr lang="en-US" sz="2800" b="1" i="1" dirty="0">
                    <a:solidFill>
                      <a:srgbClr val="FF0000"/>
                    </a:solidFill>
                  </a:rPr>
                  <a:t> </a:t>
                </a:r>
                <a:r>
                  <a:rPr lang="ru-RU" sz="2800" b="1" i="1" dirty="0">
                    <a:solidFill>
                      <a:srgbClr val="FF0000"/>
                    </a:solidFill>
                  </a:rPr>
                  <a:t>информационной ёмкостью </a:t>
                </a:r>
                <a:r>
                  <a:rPr lang="ru-RU" sz="2800" dirty="0">
                    <a:solidFill>
                      <a:prstClr val="black"/>
                    </a:solidFill>
                  </a:rPr>
                  <a:t>символа алфавита </a:t>
                </a:r>
                <a:r>
                  <a:rPr lang="ru-RU" sz="2800" b="1" dirty="0">
                    <a:solidFill>
                      <a:prstClr val="black"/>
                    </a:solidFill>
                  </a:rPr>
                  <a:t>А </a:t>
                </a:r>
                <a:r>
                  <a:rPr lang="ru-RU" sz="2800" dirty="0">
                    <a:solidFill>
                      <a:prstClr val="black"/>
                    </a:solidFill>
                  </a:rPr>
                  <a:t>(среднее количество информации на один символ из алфавита </a:t>
                </a:r>
                <a:r>
                  <a:rPr lang="ru-RU" sz="2800" b="1" dirty="0">
                    <a:solidFill>
                      <a:prstClr val="black"/>
                    </a:solidFill>
                  </a:rPr>
                  <a:t>А</a:t>
                </a:r>
                <a:r>
                  <a:rPr lang="ru-RU" sz="2800" dirty="0">
                    <a:solidFill>
                      <a:prstClr val="black"/>
                    </a:solidFill>
                  </a:rPr>
                  <a:t> с заданным распределением вероятностей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prstClr val="black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prstClr val="black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ru-RU" sz="2400" b="1" i="0" baseline="-25000" dirty="0" smtClean="0">
                        <a:solidFill>
                          <a:prstClr val="black"/>
                        </a:solidFill>
                      </a:rPr>
                      <m:t>1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prstClr val="black"/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ru-RU" sz="2400" b="1" i="0" dirty="0" smtClean="0">
                        <a:solidFill>
                          <a:prstClr val="black"/>
                        </a:solidFill>
                      </a:rPr>
                      <m:t>, 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prstClr val="black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prstClr val="black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ru-RU" sz="2400" b="1" i="0" baseline="-25000" dirty="0" smtClean="0">
                        <a:solidFill>
                          <a:prstClr val="black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prstClr val="black"/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ru-RU" sz="2400" b="1" dirty="0">
                        <a:solidFill>
                          <a:prstClr val="black"/>
                        </a:solidFill>
                      </a:rPr>
                      <m:t>,</m:t>
                    </m:r>
                  </m:oMath>
                </a14:m>
                <a:r>
                  <a:rPr lang="ru-RU" sz="2400" b="1" dirty="0">
                    <a:solidFill>
                      <a:prstClr val="black"/>
                    </a:solidFill>
                  </a:rPr>
                  <a:t> . . . ,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prstClr val="black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prstClr val="black"/>
                        </a:solidFill>
                      </a:rPr>
                      <m:t>xn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prstClr val="black"/>
                        </a:solidFill>
                      </a:rPr>
                      <m:t>)</m:t>
                    </m:r>
                  </m:oMath>
                </a14:m>
                <a:endParaRPr lang="ru-RU" sz="2600" b="1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64704"/>
                <a:ext cx="9144000" cy="5760640"/>
              </a:xfrm>
              <a:blipFill>
                <a:blip r:embed="rId3"/>
                <a:stretch>
                  <a:fillRect l="-1000" t="-17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1145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Избыточность кодирования</a:t>
            </a:r>
            <a:endParaRPr lang="en-US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836712"/>
            <a:ext cx="8147248" cy="5616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i="1" dirty="0">
                <a:solidFill>
                  <a:prstClr val="black"/>
                </a:solidFill>
              </a:rPr>
              <a:t>Средняя</a:t>
            </a:r>
            <a:r>
              <a:rPr lang="en-US" sz="2600" i="1" dirty="0">
                <a:solidFill>
                  <a:prstClr val="black"/>
                </a:solidFill>
              </a:rPr>
              <a:t> </a:t>
            </a:r>
            <a:r>
              <a:rPr lang="ru-RU" sz="2600" i="1" dirty="0">
                <a:solidFill>
                  <a:prstClr val="black"/>
                </a:solidFill>
              </a:rPr>
              <a:t>информационная ёмкость </a:t>
            </a:r>
            <a:r>
              <a:rPr lang="en-US" sz="2400" b="1" dirty="0"/>
              <a:t>I</a:t>
            </a:r>
            <a:r>
              <a:rPr lang="ru-RU" sz="2400" b="1" dirty="0"/>
              <a:t>(А) </a:t>
            </a:r>
            <a:r>
              <a:rPr lang="ru-RU" sz="2400" dirty="0"/>
              <a:t>определяет предел сжимаемости кода:  </a:t>
            </a:r>
            <a:r>
              <a:rPr lang="ru-RU" sz="2400" b="1" dirty="0"/>
              <a:t>никакой двоичный код не может иметь среднюю длину меньше </a:t>
            </a:r>
            <a:r>
              <a:rPr lang="en-US" sz="2400" b="1" dirty="0"/>
              <a:t>I</a:t>
            </a:r>
            <a:r>
              <a:rPr lang="ru-RU" sz="2400" b="1" dirty="0"/>
              <a:t>(А)</a:t>
            </a:r>
            <a:r>
              <a:rPr lang="ru-RU" sz="2400" dirty="0"/>
              <a:t>, в противном случае можно было бы передать некоторое количество информации меньшим числом битов, что невозможно. 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Таким образом, любой код может быть в большей или меньшей степени </a:t>
            </a:r>
            <a:r>
              <a:rPr lang="ru-RU" sz="2400" b="1" i="1" dirty="0"/>
              <a:t>избыточным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3038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DE5069-F1DB-4160-8E82-8B493CD5F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Избыточность кодирования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005E249-6F38-4C4A-BD6C-D273646D08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6712"/>
                <a:ext cx="8229600" cy="5289451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ru-RU" sz="3200" b="1" i="1" dirty="0"/>
                  <a:t>Относительная избыточность кода </a:t>
                </a:r>
                <a:r>
                  <a:rPr lang="ru-RU" sz="3200" dirty="0"/>
                  <a:t>– отношение числа «избыточных» битов в коде к общей длине кода, </a:t>
                </a:r>
              </a:p>
              <a:p>
                <a:pPr marL="0" indent="0">
                  <a:buNone/>
                </a:pPr>
                <a:r>
                  <a:rPr lang="ru-RU" sz="3200" dirty="0"/>
                  <a:t>т.е. если сообщение из </a:t>
                </a:r>
                <a:r>
                  <a:rPr lang="en-US" sz="3200" b="1" dirty="0"/>
                  <a:t>N </a:t>
                </a:r>
                <a:r>
                  <a:rPr lang="ru-RU" sz="3200" dirty="0"/>
                  <a:t>символов алфавита </a:t>
                </a:r>
                <a:r>
                  <a:rPr lang="ru-RU" sz="3200" b="1" dirty="0"/>
                  <a:t>А</a:t>
                </a:r>
                <a:r>
                  <a:rPr lang="ru-RU" sz="3200" dirty="0"/>
                  <a:t> с информационной ёмкостью </a:t>
                </a:r>
                <a:r>
                  <a:rPr lang="en-US" sz="3200" b="1" dirty="0">
                    <a:solidFill>
                      <a:prstClr val="black"/>
                    </a:solidFill>
                  </a:rPr>
                  <a:t>I</a:t>
                </a:r>
                <a:r>
                  <a:rPr lang="ru-RU" sz="3200" b="1" dirty="0">
                    <a:solidFill>
                      <a:prstClr val="black"/>
                    </a:solidFill>
                  </a:rPr>
                  <a:t>(А) </a:t>
                </a:r>
                <a:r>
                  <a:rPr lang="ru-RU" sz="3200" dirty="0">
                    <a:solidFill>
                      <a:prstClr val="black"/>
                    </a:solidFill>
                  </a:rPr>
                  <a:t>закодировано кодом длины </a:t>
                </a:r>
                <a:r>
                  <a:rPr lang="en-US" sz="3200" b="1" dirty="0">
                    <a:solidFill>
                      <a:prstClr val="black"/>
                    </a:solidFill>
                  </a:rPr>
                  <a:t>L</a:t>
                </a:r>
                <a:r>
                  <a:rPr lang="ru-RU" sz="3200" b="1" dirty="0">
                    <a:solidFill>
                      <a:prstClr val="black"/>
                    </a:solidFill>
                  </a:rPr>
                  <a:t> </a:t>
                </a:r>
                <a:r>
                  <a:rPr lang="ru-RU" sz="3200" dirty="0">
                    <a:solidFill>
                      <a:prstClr val="black"/>
                    </a:solidFill>
                  </a:rPr>
                  <a:t>бит, </a:t>
                </a:r>
                <a:endParaRPr lang="en-US" sz="3200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ru-RU" sz="3200" dirty="0">
                    <a:solidFill>
                      <a:prstClr val="black"/>
                    </a:solidFill>
                  </a:rPr>
                  <a:t>то избыточное число битов есть:   </a:t>
                </a:r>
                <a:r>
                  <a:rPr lang="en-US" sz="3200" b="1" dirty="0">
                    <a:solidFill>
                      <a:prstClr val="black"/>
                    </a:solidFill>
                  </a:rPr>
                  <a:t>L – N </a:t>
                </a:r>
                <a:r>
                  <a:rPr lang="en-US" sz="3200" b="1" dirty="0">
                    <a:solidFill>
                      <a:prstClr val="black"/>
                    </a:solidFill>
                    <a:sym typeface="Symbol"/>
                  </a:rPr>
                  <a:t></a:t>
                </a:r>
                <a:r>
                  <a:rPr lang="ru-RU" sz="3200" b="1" dirty="0">
                    <a:solidFill>
                      <a:prstClr val="black"/>
                    </a:solidFill>
                    <a:sym typeface="Symbol"/>
                  </a:rPr>
                  <a:t> </a:t>
                </a:r>
                <a:r>
                  <a:rPr lang="en-US" sz="3200" b="1" dirty="0">
                    <a:solidFill>
                      <a:prstClr val="black"/>
                    </a:solidFill>
                  </a:rPr>
                  <a:t>I</a:t>
                </a:r>
                <a:r>
                  <a:rPr lang="ru-RU" sz="3200" b="1" dirty="0">
                    <a:solidFill>
                      <a:prstClr val="black"/>
                    </a:solidFill>
                  </a:rPr>
                  <a:t>(А)</a:t>
                </a:r>
                <a:r>
                  <a:rPr lang="en-US" sz="3200" dirty="0">
                    <a:solidFill>
                      <a:prstClr val="black"/>
                    </a:solidFill>
                  </a:rPr>
                  <a:t>, </a:t>
                </a:r>
              </a:p>
              <a:p>
                <a:pPr marL="0" indent="0">
                  <a:buNone/>
                </a:pPr>
                <a:r>
                  <a:rPr lang="ru-RU" sz="3200" dirty="0">
                    <a:solidFill>
                      <a:prstClr val="black"/>
                    </a:solidFill>
                  </a:rPr>
                  <a:t>а избыточное число битов каждого символа кода: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200" b="1" dirty="0">
                            <a:solidFill>
                              <a:prstClr val="black"/>
                            </a:solidFill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en-US" sz="3200" b="1" dirty="0">
                            <a:solidFill>
                              <a:prstClr val="black"/>
                            </a:solidFill>
                          </a:rPr>
                          <m:t> – </m:t>
                        </m:r>
                        <m:r>
                          <m:rPr>
                            <m:nor/>
                          </m:rPr>
                          <a:rPr lang="en-US" sz="3200" b="1" dirty="0">
                            <a:solidFill>
                              <a:prstClr val="black"/>
                            </a:solidFill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ru-RU" sz="3200" b="1" i="0" dirty="0" smtClean="0">
                            <a:solidFill>
                              <a:prstClr val="black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200" b="1" dirty="0">
                            <a:solidFill>
                              <a:prstClr val="black"/>
                            </a:solidFill>
                            <a:sym typeface="Symbol"/>
                          </a:rPr>
                          <m:t></m:t>
                        </m:r>
                        <m:r>
                          <m:rPr>
                            <m:nor/>
                          </m:rPr>
                          <a:rPr lang="ru-RU" sz="3200" b="1" i="0" dirty="0" smtClean="0">
                            <a:solidFill>
                              <a:prstClr val="black"/>
                            </a:solidFill>
                            <a:sym typeface="Symbol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200" b="1" dirty="0">
                            <a:solidFill>
                              <a:prstClr val="black"/>
                            </a:solidFill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ru-RU" sz="3200" b="1" dirty="0">
                            <a:solidFill>
                              <a:prstClr val="black"/>
                            </a:solidFill>
                          </a:rPr>
                          <m:t>(А)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3200" b="1" dirty="0">
                            <a:solidFill>
                              <a:prstClr val="black"/>
                            </a:solidFill>
                          </a:rPr>
                          <m:t>L</m:t>
                        </m:r>
                      </m:den>
                    </m:f>
                  </m:oMath>
                </a14:m>
                <a:r>
                  <a:rPr lang="ru-RU" sz="3200" b="1" dirty="0"/>
                  <a:t> </a:t>
                </a:r>
                <a:r>
                  <a:rPr lang="en-US" sz="3200" b="1" dirty="0"/>
                  <a:t>=  1 </a:t>
                </a:r>
                <a:r>
                  <a:rPr lang="en-US" sz="3200" b="1" dirty="0">
                    <a:sym typeface="Symbol"/>
                  </a:rPr>
                  <a:t></a:t>
                </a:r>
                <a:r>
                  <a:rPr lang="en-US" sz="3200" b="1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200" b="1" dirty="0">
                            <a:solidFill>
                              <a:prstClr val="black"/>
                            </a:solidFill>
                          </a:rPr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3200" b="1" dirty="0">
                            <a:solidFill>
                              <a:prstClr val="black"/>
                            </a:solidFill>
                          </a:rPr>
                          <m:t>L</m:t>
                        </m:r>
                      </m:den>
                    </m:f>
                  </m:oMath>
                </a14:m>
                <a:r>
                  <a:rPr lang="en-US" sz="3200" dirty="0"/>
                  <a:t> </a:t>
                </a:r>
                <a:r>
                  <a:rPr lang="en-US" sz="3200" b="1" dirty="0">
                    <a:solidFill>
                      <a:prstClr val="black"/>
                    </a:solidFill>
                  </a:rPr>
                  <a:t> </a:t>
                </a:r>
                <a:r>
                  <a:rPr lang="en-US" sz="3200" b="1" dirty="0">
                    <a:solidFill>
                      <a:prstClr val="black"/>
                    </a:solidFill>
                    <a:sym typeface="Symbol"/>
                  </a:rPr>
                  <a:t></a:t>
                </a:r>
                <a:r>
                  <a:rPr lang="ru-RU" sz="3200" b="1" dirty="0">
                    <a:solidFill>
                      <a:prstClr val="black"/>
                    </a:solidFill>
                    <a:sym typeface="Symbol"/>
                  </a:rPr>
                  <a:t> </a:t>
                </a:r>
                <a:r>
                  <a:rPr lang="en-US" sz="3200" dirty="0"/>
                  <a:t> </a:t>
                </a:r>
                <a:r>
                  <a:rPr lang="en-US" sz="3200" b="1" dirty="0">
                    <a:solidFill>
                      <a:prstClr val="black"/>
                    </a:solidFill>
                  </a:rPr>
                  <a:t>I</a:t>
                </a:r>
                <a:r>
                  <a:rPr lang="ru-RU" sz="3200" b="1" dirty="0">
                    <a:solidFill>
                      <a:prstClr val="black"/>
                    </a:solidFill>
                  </a:rPr>
                  <a:t>(А) </a:t>
                </a:r>
                <a:endParaRPr lang="en-US" sz="3200" b="1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ru-RU" sz="3200" dirty="0">
                    <a:solidFill>
                      <a:prstClr val="black"/>
                    </a:solidFill>
                  </a:rPr>
                  <a:t>Соотношение для избыточности кода при достаточно большом исходном сообщении </a:t>
                </a:r>
                <a:r>
                  <a:rPr lang="ru-RU" sz="3200" b="1" dirty="0">
                    <a:solidFill>
                      <a:prstClr val="black"/>
                    </a:solidFill>
                  </a:rPr>
                  <a:t>: </a:t>
                </a:r>
                <a:r>
                  <a:rPr lang="en-US" sz="3200" b="1" dirty="0">
                    <a:solidFill>
                      <a:prstClr val="black"/>
                    </a:solidFill>
                  </a:rPr>
                  <a:t>  Z(K) = 1 </a:t>
                </a:r>
                <a:r>
                  <a:rPr lang="en-US" sz="3200" b="1" dirty="0">
                    <a:sym typeface="Symbol"/>
                  </a:rPr>
                  <a:t></a:t>
                </a:r>
                <a:r>
                  <a:rPr lang="en-US" sz="3200" b="1" dirty="0">
                    <a:solidFill>
                      <a:prstClr val="black"/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200" b="1" dirty="0">
                            <a:solidFill>
                              <a:prstClr val="black"/>
                            </a:solidFill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ru-RU" sz="3200" b="1" dirty="0">
                            <a:solidFill>
                              <a:prstClr val="black"/>
                            </a:solidFill>
                          </a:rPr>
                          <m:t>(А)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3200" b="1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ru-RU" sz="3200" b="1" dirty="0">
                            <a:solidFill>
                              <a:prstClr val="black"/>
                            </a:solidFill>
                          </a:rPr>
                          <m:t>(А)</m:t>
                        </m:r>
                      </m:den>
                    </m:f>
                  </m:oMath>
                </a14:m>
                <a:r>
                  <a:rPr lang="en-US" sz="3200" dirty="0"/>
                  <a:t> ,</a:t>
                </a:r>
              </a:p>
              <a:p>
                <a:pPr marL="0" indent="0">
                  <a:buNone/>
                </a:pPr>
                <a:r>
                  <a:rPr lang="en-US" sz="3200" dirty="0"/>
                  <a:t> </a:t>
                </a:r>
                <a:r>
                  <a:rPr lang="ru-RU" sz="3200" dirty="0"/>
                  <a:t>где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b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ru-RU" sz="3200" b="1" dirty="0">
                        <a:solidFill>
                          <a:prstClr val="black"/>
                        </a:solidFill>
                      </a:rPr>
                      <m:t>(А)</m:t>
                    </m:r>
                  </m:oMath>
                </a14:m>
                <a:r>
                  <a:rPr lang="en-US" sz="3200" b="1" dirty="0"/>
                  <a:t> =</a:t>
                </a:r>
                <a:r>
                  <a:rPr lang="ru-RU" sz="32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200" b="1" dirty="0">
                            <a:solidFill>
                              <a:prstClr val="black"/>
                            </a:solidFill>
                          </a:rPr>
                          <m:t>L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3200" b="1" dirty="0">
                            <a:solidFill>
                              <a:prstClr val="black"/>
                            </a:solidFill>
                          </a:rPr>
                          <m:t>N</m:t>
                        </m:r>
                      </m:den>
                    </m:f>
                  </m:oMath>
                </a14:m>
                <a:r>
                  <a:rPr lang="ru-RU" sz="3200" dirty="0"/>
                  <a:t> – средняя длина кодового слова.</a:t>
                </a:r>
              </a:p>
              <a:p>
                <a:pPr marL="0" indent="0">
                  <a:buNone/>
                </a:pPr>
                <a:r>
                  <a:rPr lang="ru-RU" sz="3200" dirty="0"/>
                  <a:t>Следовательно, оптимальный код с нулевой избыточностью является код со средней длиной кодового слова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b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ru-RU" sz="3200" b="1" dirty="0">
                        <a:solidFill>
                          <a:prstClr val="black"/>
                        </a:solidFill>
                      </a:rPr>
                      <m:t>(А)</m:t>
                    </m:r>
                    <m:r>
                      <a:rPr lang="ru-RU" sz="32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3200" dirty="0"/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b="1" dirty="0">
                        <a:solidFill>
                          <a:prstClr val="black"/>
                        </a:solidFill>
                      </a:rPr>
                      <m:t>I</m:t>
                    </m:r>
                    <m:r>
                      <m:rPr>
                        <m:nor/>
                      </m:rPr>
                      <a:rPr lang="ru-RU" sz="3200" b="1" dirty="0">
                        <a:solidFill>
                          <a:prstClr val="black"/>
                        </a:solidFill>
                      </a:rPr>
                      <m:t>(А)</m:t>
                    </m:r>
                    <m:r>
                      <a:rPr lang="ru-RU" sz="32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3200" dirty="0"/>
                  <a:t>бит или наиболее близкий к нему.</a:t>
                </a:r>
                <a:endParaRPr lang="en-US" sz="32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005E249-6F38-4C4A-BD6C-D273646D0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6712"/>
                <a:ext cx="8229600" cy="5289451"/>
              </a:xfrm>
              <a:blipFill>
                <a:blip r:embed="rId2"/>
                <a:stretch>
                  <a:fillRect l="-963" t="-1843" r="-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1525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/>
          <a:lstStyle/>
          <a:p>
            <a:r>
              <a:rPr lang="ru-RU" b="1" i="1" dirty="0"/>
              <a:t>Выводы</a:t>
            </a:r>
            <a:r>
              <a:rPr lang="ru-RU" dirty="0"/>
              <a:t>  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764704"/>
                <a:ext cx="8784976" cy="5976664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solidFill>
                          <a:prstClr val="black"/>
                        </a:solidFill>
                      </a:rPr>
                      <m:t>I</m:t>
                    </m:r>
                    <m:r>
                      <m:rPr>
                        <m:nor/>
                      </m:rPr>
                      <a:rPr lang="ru-RU" b="1" dirty="0">
                        <a:solidFill>
                          <a:prstClr val="black"/>
                        </a:solidFill>
                      </a:rPr>
                      <m:t>(А)</m:t>
                    </m:r>
                  </m:oMath>
                </a14:m>
                <a:r>
                  <a:rPr lang="ru-RU" dirty="0"/>
                  <a:t> показывает, какое в среднем количество двоичных символов нужно для записи всех кодовых слов алфавита А при произвольном кодировании </a:t>
                </a:r>
                <a:r>
                  <a:rPr lang="ru-RU" i="1" dirty="0"/>
                  <a:t>символ </a:t>
                </a:r>
                <a:r>
                  <a:rPr lang="en-US" sz="2500" b="1" i="1" dirty="0">
                    <a:solidFill>
                      <a:prstClr val="black"/>
                    </a:solidFill>
                  </a:rPr>
                  <a:t>→</a:t>
                </a:r>
                <a:r>
                  <a:rPr lang="ru-RU" i="1" dirty="0"/>
                  <a:t>слово</a:t>
                </a:r>
                <a:r>
                  <a:rPr lang="ru-RU" dirty="0"/>
                  <a:t>. 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ru-RU" dirty="0"/>
                  <a:t>Для алфавитов с равновероятными символами формула Хартли определяет минимальную длину кодового слова.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Например, для алфавита </a:t>
                </a:r>
                <a:r>
                  <a:rPr lang="en-US" b="1" dirty="0"/>
                  <a:t>ASCII</a:t>
                </a:r>
              </a:p>
              <a:p>
                <a:pPr marL="0" lvl="0" indent="0" algn="ctr">
                  <a:buNone/>
                </a:pPr>
                <a:r>
                  <a:rPr lang="en-US" b="1" dirty="0"/>
                  <a:t>I(</a:t>
                </a:r>
                <a:r>
                  <a:rPr lang="en-US" b="1" dirty="0">
                    <a:solidFill>
                      <a:prstClr val="black"/>
                    </a:solidFill>
                  </a:rPr>
                  <a:t>ASCII</a:t>
                </a:r>
                <a:r>
                  <a:rPr lang="en-US" b="1" dirty="0"/>
                  <a:t>)  =  log</a:t>
                </a:r>
                <a:r>
                  <a:rPr lang="en-US" b="1" baseline="-25000" dirty="0"/>
                  <a:t>2</a:t>
                </a:r>
                <a:r>
                  <a:rPr lang="ru-RU" b="1" dirty="0"/>
                  <a:t> </a:t>
                </a:r>
                <a:r>
                  <a:rPr lang="en-US" b="1" dirty="0"/>
                  <a:t>256  =  8 </a:t>
                </a:r>
                <a:r>
                  <a:rPr lang="ru-RU" b="1" dirty="0"/>
                  <a:t>бит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lang="ru-RU" dirty="0"/>
                  <a:t>Таким образом, любой 8-битный код для </a:t>
                </a:r>
                <a:r>
                  <a:rPr lang="en-US" dirty="0">
                    <a:solidFill>
                      <a:prstClr val="black"/>
                    </a:solidFill>
                  </a:rPr>
                  <a:t>ASCII</a:t>
                </a:r>
              </a:p>
              <a:p>
                <a:pPr marL="0" lvl="0" indent="0">
                  <a:buNone/>
                </a:pPr>
                <a:r>
                  <a:rPr lang="ru-RU" dirty="0"/>
                  <a:t>будет оптимальным.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764704"/>
                <a:ext cx="8784976" cy="5976664"/>
              </a:xfrm>
              <a:blipFill>
                <a:blip r:embed="rId2"/>
                <a:stretch>
                  <a:fillRect l="-1318" t="-1529" r="-20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6978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764704"/>
          </a:xfrm>
        </p:spPr>
        <p:txBody>
          <a:bodyPr/>
          <a:lstStyle/>
          <a:p>
            <a:r>
              <a:rPr lang="ru-RU" b="1" i="1" dirty="0"/>
              <a:t>Методы сжатия информации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80526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b="1" dirty="0"/>
              <a:t>Сжатие</a:t>
            </a:r>
            <a:r>
              <a:rPr lang="ru-RU" dirty="0"/>
              <a:t> - выбор такого способа кодирования, при котором для хранения информации требуется меньший объем памяти. </a:t>
            </a:r>
          </a:p>
          <a:p>
            <a:pPr>
              <a:buNone/>
            </a:pPr>
            <a:r>
              <a:rPr lang="ru-RU" i="1" u="sng" dirty="0"/>
              <a:t>Примеры сжатия информации:</a:t>
            </a:r>
          </a:p>
          <a:p>
            <a:pPr>
              <a:buNone/>
            </a:pPr>
            <a:r>
              <a:rPr lang="ru-RU" dirty="0"/>
              <a:t>«Сто пятьдесят три тысячи четыреста девяносто» </a:t>
            </a:r>
            <a:r>
              <a:rPr lang="ru-RU" b="1" dirty="0"/>
              <a:t>		153490</a:t>
            </a:r>
          </a:p>
          <a:p>
            <a:pPr>
              <a:buNone/>
            </a:pPr>
            <a:r>
              <a:rPr lang="ru-RU" dirty="0"/>
              <a:t>«Доктор философских наук, профессор Московского государственного университета» </a:t>
            </a:r>
          </a:p>
          <a:p>
            <a:pPr>
              <a:buNone/>
            </a:pPr>
            <a:r>
              <a:rPr lang="ru-RU" dirty="0"/>
              <a:t>		</a:t>
            </a:r>
            <a:r>
              <a:rPr lang="ru-RU" b="1" dirty="0"/>
              <a:t>д.ф.н., проф. МГУ. </a:t>
            </a:r>
          </a:p>
          <a:p>
            <a:pPr>
              <a:buNone/>
            </a:pPr>
            <a:r>
              <a:rPr lang="ru-RU" dirty="0"/>
              <a:t>«Точка X принадлежит прямой </a:t>
            </a:r>
            <a:r>
              <a:rPr lang="ru-RU" b="1" i="1" dirty="0" err="1"/>
              <a:t>a</a:t>
            </a:r>
            <a:r>
              <a:rPr lang="ru-RU" dirty="0"/>
              <a:t>»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b="1" i="1" dirty="0"/>
              <a:t>X</a:t>
            </a:r>
            <a:r>
              <a:rPr lang="en-US" b="1" dirty="0"/>
              <a:t> </a:t>
            </a:r>
            <a:r>
              <a:rPr lang="en-US" b="1" dirty="0">
                <a:sym typeface="Symbol" panose="05050102010706020507" pitchFamily="18" charset="2"/>
              </a:rPr>
              <a:t></a:t>
            </a:r>
            <a:r>
              <a:rPr lang="ru-RU" b="1" dirty="0">
                <a:sym typeface="Symbol" panose="05050102010706020507" pitchFamily="18" charset="2"/>
              </a:rPr>
              <a:t> </a:t>
            </a:r>
            <a:r>
              <a:rPr lang="ru-RU" b="1" i="1" dirty="0">
                <a:sym typeface="Symbol" panose="05050102010706020507" pitchFamily="18" charset="2"/>
              </a:rPr>
              <a:t>а</a:t>
            </a:r>
            <a:endParaRPr lang="ru-RU" b="1" i="1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r>
              <a:rPr lang="ru-RU" b="1" i="1" dirty="0"/>
              <a:t>Метод сжатия по Хаффману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340768"/>
            <a:ext cx="9036496" cy="5400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		  Алгоритм Хаффмана был разработан в</a:t>
            </a:r>
          </a:p>
          <a:p>
            <a:pPr marL="0" indent="0">
              <a:buNone/>
            </a:pPr>
            <a:r>
              <a:rPr lang="ru-RU" dirty="0"/>
              <a:t>		 1952 году аспирантом Массачусетского 		  технологического института Дэвидом 		  Хаффманом при написании им 			  курсовой работы. </a:t>
            </a:r>
          </a:p>
          <a:p>
            <a:pPr marL="0" indent="0">
              <a:buNone/>
            </a:pPr>
            <a:r>
              <a:rPr lang="ru-RU" dirty="0"/>
              <a:t>В настоящее время используется во многих программах сжатия данных.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Особенностью кода Хаффмана является его префиксная структура. Это значит, что код любого символа не совпадает с началом кода всех остальных символов.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ÐÐ°ÑÑÐ¸Ð½ÐºÐ¸ Ð¿Ð¾ Ð·Ð°Ð¿ÑÐ¾ÑÑ ÐÑÐ²Ð¸Ð´ Ð¥Ð°ÑÑÐ¼Ð°Ð½ (1925-1999)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52736"/>
            <a:ext cx="1905000" cy="265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087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b="1" i="1" dirty="0"/>
              <a:t>Метод сжатия по Хаффману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836712"/>
                <a:ext cx="9144000" cy="54006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мы имеем алфавит А , содержащий символы, вероятности появления которых в сообщении равны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ru-RU" b="1" i="1" baseline="-250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ru-RU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ru-RU" b="1" i="1" baseline="-250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ru-RU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.   .   .  ,</m:t>
                    </m:r>
                    <m:r>
                      <a:rPr lang="en-US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b="1" i="1" baseline="-25000" dirty="0"/>
                  <a:t>n</a:t>
                </a:r>
                <a:r>
                  <a:rPr lang="ru-RU" dirty="0"/>
                  <a:t>.  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Распределение вероятностей либо известно заранее, либо определяется из заданного текста. Экспериментальное распределение </a:t>
                </a:r>
                <a:r>
                  <a:rPr lang="ru-RU" dirty="0">
                    <a:solidFill>
                      <a:prstClr val="black"/>
                    </a:solidFill>
                  </a:rPr>
                  <a:t>вероятностей – частота – по формуле Шеннона обеспечивает наилучшее приближение. </a:t>
                </a:r>
              </a:p>
              <a:p>
                <a:pPr marL="0" indent="0">
                  <a:buNone/>
                </a:pPr>
                <a:endParaRPr lang="ru-RU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ru-RU" dirty="0">
                    <a:solidFill>
                      <a:prstClr val="black"/>
                    </a:solidFill>
                  </a:rPr>
                  <a:t>Расположим символы в порядке убывания их вероятностей (или частот), то есть: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                     </m:t>
                    </m:r>
                    <m:r>
                      <a:rPr lang="en-US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ru-RU" b="1" i="1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ru-RU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i="1" dirty="0">
                    <a:solidFill>
                      <a:prstClr val="black"/>
                    </a:solidFill>
                  </a:rPr>
                  <a:t>≥</a:t>
                </a:r>
                <a:r>
                  <a:rPr lang="ru-RU" b="1" i="1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ru-RU" b="1" i="1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m:rPr>
                        <m:nor/>
                      </m:rPr>
                      <a:rPr lang="en-US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b="1" i="1" dirty="0">
                        <a:solidFill>
                          <a:prstClr val="black"/>
                        </a:solidFill>
                      </a:rPr>
                      <m:t>≥</m:t>
                    </m:r>
                    <m:r>
                      <m:rPr>
                        <m:nor/>
                      </m:rPr>
                      <a:rPr lang="en-US" b="1" i="1" dirty="0" smtClean="0">
                        <a:solidFill>
                          <a:prstClr val="black"/>
                        </a:solidFill>
                      </a:rPr>
                      <m:t>  </m:t>
                    </m:r>
                    <m:r>
                      <a:rPr lang="ru-RU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   .   .</m:t>
                    </m:r>
                    <m:r>
                      <m:rPr>
                        <m:nor/>
                      </m:rPr>
                      <a:rPr lang="en-US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b="1" i="1" dirty="0">
                        <a:solidFill>
                          <a:prstClr val="black"/>
                        </a:solidFill>
                      </a:rPr>
                      <m:t>≥</m:t>
                    </m:r>
                    <m:r>
                      <a:rPr lang="en-US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b="1" i="1" baseline="-25000" dirty="0"/>
                  <a:t>n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6712"/>
                <a:ext cx="9144000" cy="5400600"/>
              </a:xfrm>
              <a:blipFill rotWithShape="1">
                <a:blip r:embed="rId2" cstate="print"/>
                <a:stretch>
                  <a:fillRect l="-1533" t="-2935" b="-19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2693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21"/>
            <a:ext cx="8229600" cy="811591"/>
          </a:xfrm>
        </p:spPr>
        <p:txBody>
          <a:bodyPr/>
          <a:lstStyle/>
          <a:p>
            <a:r>
              <a:rPr lang="ru-RU" b="1" i="1" dirty="0"/>
              <a:t>Метод сжатия по Хаффману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8980" y="836712"/>
            <a:ext cx="8928992" cy="602128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качестве примера для построения кода Хаффмана  возьмём фразу: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“</a:t>
            </a:r>
            <a:r>
              <a:rPr lang="ru-RU" b="1" dirty="0"/>
              <a:t>КОЛ  ОКОЛО  КОЛОКОЛА</a:t>
            </a:r>
            <a:r>
              <a:rPr lang="en-US" dirty="0"/>
              <a:t>”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Фраза состоит из 18 символов.</a:t>
            </a:r>
          </a:p>
          <a:p>
            <a:pPr marL="0" indent="0">
              <a:buNone/>
            </a:pPr>
            <a:r>
              <a:rPr lang="ru-RU" dirty="0"/>
              <a:t>Алфавит этой фразы состоит всего из 5 символов: 	</a:t>
            </a:r>
            <a:r>
              <a:rPr lang="ru-RU" b="1" dirty="0"/>
              <a:t>К, Л, О, </a:t>
            </a:r>
            <a:r>
              <a:rPr lang="en-US" b="1" dirty="0"/>
              <a:t>‘</a:t>
            </a:r>
            <a:r>
              <a:rPr lang="ru-RU" b="1" dirty="0"/>
              <a:t>  </a:t>
            </a:r>
            <a:r>
              <a:rPr lang="en-US" b="1" dirty="0"/>
              <a:t>’</a:t>
            </a:r>
            <a:r>
              <a:rPr lang="ru-RU" b="1" dirty="0"/>
              <a:t> </a:t>
            </a:r>
            <a:r>
              <a:rPr lang="ru-RU" dirty="0"/>
              <a:t>и </a:t>
            </a:r>
            <a:r>
              <a:rPr lang="ru-RU" b="1" dirty="0"/>
              <a:t>А</a:t>
            </a:r>
          </a:p>
          <a:p>
            <a:pPr marL="0" indent="0">
              <a:buNone/>
            </a:pPr>
            <a:r>
              <a:rPr lang="ru-RU" dirty="0"/>
              <a:t>Частота каждого символа приведена в таблице: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41460"/>
              </p:ext>
            </p:extLst>
          </p:nvPr>
        </p:nvGraphicFramePr>
        <p:xfrm>
          <a:off x="65227" y="4869160"/>
          <a:ext cx="903649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6083">
                  <a:extLst>
                    <a:ext uri="{9D8B030D-6E8A-4147-A177-3AD203B41FA5}">
                      <a16:colId xmlns:a16="http://schemas.microsoft.com/office/drawing/2014/main" val="50513454"/>
                    </a:ext>
                  </a:extLst>
                </a:gridCol>
                <a:gridCol w="1446247">
                  <a:extLst>
                    <a:ext uri="{9D8B030D-6E8A-4147-A177-3AD203B41FA5}">
                      <a16:colId xmlns:a16="http://schemas.microsoft.com/office/drawing/2014/main" val="3644704490"/>
                    </a:ext>
                  </a:extLst>
                </a:gridCol>
                <a:gridCol w="1565919">
                  <a:extLst>
                    <a:ext uri="{9D8B030D-6E8A-4147-A177-3AD203B41FA5}">
                      <a16:colId xmlns:a16="http://schemas.microsoft.com/office/drawing/2014/main" val="1966749279"/>
                    </a:ext>
                  </a:extLst>
                </a:gridCol>
                <a:gridCol w="1506083">
                  <a:extLst>
                    <a:ext uri="{9D8B030D-6E8A-4147-A177-3AD203B41FA5}">
                      <a16:colId xmlns:a16="http://schemas.microsoft.com/office/drawing/2014/main" val="1807680129"/>
                    </a:ext>
                  </a:extLst>
                </a:gridCol>
                <a:gridCol w="1506083">
                  <a:extLst>
                    <a:ext uri="{9D8B030D-6E8A-4147-A177-3AD203B41FA5}">
                      <a16:colId xmlns:a16="http://schemas.microsoft.com/office/drawing/2014/main" val="1128890069"/>
                    </a:ext>
                  </a:extLst>
                </a:gridCol>
                <a:gridCol w="1506083">
                  <a:extLst>
                    <a:ext uri="{9D8B030D-6E8A-4147-A177-3AD203B41FA5}">
                      <a16:colId xmlns:a16="http://schemas.microsoft.com/office/drawing/2014/main" val="2149846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0" i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Символ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О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К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Л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‘</a:t>
                      </a:r>
                      <a:r>
                        <a:rPr lang="ru-RU" sz="3200" dirty="0"/>
                        <a:t>  </a:t>
                      </a:r>
                      <a:r>
                        <a:rPr lang="en-US" sz="3200" dirty="0"/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А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58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Доля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 тексте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7/18</a:t>
                      </a:r>
                      <a:endParaRPr lang="ru-RU" sz="3200" dirty="0"/>
                    </a:p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4/18</a:t>
                      </a:r>
                      <a:endParaRPr lang="ru-RU" sz="3200" dirty="0"/>
                    </a:p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4/18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2/18</a:t>
                      </a:r>
                      <a:endParaRPr lang="ru-RU" sz="3200" dirty="0"/>
                    </a:p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1/18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486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276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6881" y="0"/>
            <a:ext cx="8229600" cy="548680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Метод сжатия по Хаффману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81336"/>
            <a:ext cx="9144000" cy="59766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Расположим эти буквы в порядке убывания их частот: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О </a:t>
            </a:r>
            <a:r>
              <a:rPr lang="ru-RU" sz="2800" dirty="0">
                <a:solidFill>
                  <a:srgbClr val="00B050"/>
                </a:solidFill>
              </a:rPr>
              <a:t>7</a:t>
            </a:r>
            <a:r>
              <a:rPr lang="en-US" sz="2800" dirty="0">
                <a:solidFill>
                  <a:srgbClr val="00B050"/>
                </a:solidFill>
              </a:rPr>
              <a:t>/18</a:t>
            </a:r>
            <a:r>
              <a:rPr lang="en-US" dirty="0"/>
              <a:t>	</a:t>
            </a:r>
            <a:r>
              <a:rPr lang="ru-RU" b="1" dirty="0"/>
              <a:t>К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4/18</a:t>
            </a:r>
            <a:r>
              <a:rPr lang="en-US" dirty="0"/>
              <a:t>	</a:t>
            </a:r>
            <a:r>
              <a:rPr lang="ru-RU" b="1" dirty="0"/>
              <a:t>Л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4/18</a:t>
            </a:r>
            <a:r>
              <a:rPr lang="en-US" dirty="0"/>
              <a:t>	</a:t>
            </a:r>
            <a:r>
              <a:rPr lang="en-US" b="1" dirty="0"/>
              <a:t>‘</a:t>
            </a:r>
            <a:r>
              <a:rPr lang="ru-RU" b="1" dirty="0"/>
              <a:t>  </a:t>
            </a:r>
            <a:r>
              <a:rPr lang="en-US" b="1" dirty="0"/>
              <a:t>’ </a:t>
            </a:r>
            <a:r>
              <a:rPr lang="en-US" sz="2800" dirty="0">
                <a:solidFill>
                  <a:srgbClr val="00B050"/>
                </a:solidFill>
              </a:rPr>
              <a:t>2/18</a:t>
            </a:r>
            <a:r>
              <a:rPr lang="en-US" dirty="0"/>
              <a:t>	</a:t>
            </a:r>
            <a:r>
              <a:rPr lang="ru-RU" b="1" dirty="0"/>
              <a:t>А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1/18</a:t>
            </a:r>
            <a:endParaRPr lang="ru-RU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ru-RU" dirty="0"/>
              <a:t>Изображение символа,  например </a:t>
            </a:r>
            <a:r>
              <a:rPr lang="en-US" dirty="0"/>
              <a:t>“</a:t>
            </a:r>
            <a:r>
              <a:rPr lang="ru-RU" b="1" dirty="0"/>
              <a:t>О </a:t>
            </a:r>
            <a:r>
              <a:rPr lang="ru-RU" dirty="0"/>
              <a:t>7</a:t>
            </a:r>
            <a:r>
              <a:rPr lang="en-US" dirty="0"/>
              <a:t>/18”</a:t>
            </a:r>
            <a:r>
              <a:rPr lang="ru-RU" dirty="0"/>
              <a:t> , будем называть узлом. Из узлов построим структуру, которая называется дерево. Для этого </a:t>
            </a:r>
            <a:r>
              <a:rPr lang="en-US" dirty="0"/>
              <a:t>“</a:t>
            </a:r>
            <a:r>
              <a:rPr lang="ru-RU" dirty="0"/>
              <a:t>сольём</a:t>
            </a:r>
            <a:r>
              <a:rPr lang="en-US" dirty="0"/>
              <a:t>”</a:t>
            </a:r>
            <a:r>
              <a:rPr lang="ru-RU" dirty="0"/>
              <a:t> два наименее вероятных символа в один:</a:t>
            </a:r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b="1" dirty="0"/>
              <a:t>О </a:t>
            </a:r>
            <a:r>
              <a:rPr lang="ru-RU" sz="2800" dirty="0">
                <a:solidFill>
                  <a:srgbClr val="00B050"/>
                </a:solidFill>
              </a:rPr>
              <a:t>7</a:t>
            </a:r>
            <a:r>
              <a:rPr lang="en-US" sz="2800" dirty="0">
                <a:solidFill>
                  <a:srgbClr val="00B050"/>
                </a:solidFill>
              </a:rPr>
              <a:t>/18</a:t>
            </a:r>
            <a:r>
              <a:rPr lang="en-US" dirty="0"/>
              <a:t>	</a:t>
            </a:r>
            <a:r>
              <a:rPr lang="ru-RU" b="1" dirty="0"/>
              <a:t>К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4/18</a:t>
            </a:r>
            <a:r>
              <a:rPr lang="en-US" dirty="0"/>
              <a:t>	</a:t>
            </a:r>
            <a:r>
              <a:rPr lang="ru-RU" b="1" dirty="0"/>
              <a:t>Л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4/18</a:t>
            </a:r>
            <a:r>
              <a:rPr lang="en-US" dirty="0"/>
              <a:t>	</a:t>
            </a:r>
            <a:r>
              <a:rPr lang="en-US" b="1" dirty="0"/>
              <a:t>‘</a:t>
            </a:r>
            <a:r>
              <a:rPr lang="ru-RU" b="1" dirty="0"/>
              <a:t>  </a:t>
            </a:r>
            <a:r>
              <a:rPr lang="en-US" b="1" dirty="0"/>
              <a:t>’ </a:t>
            </a:r>
            <a:r>
              <a:rPr lang="en-US" sz="2800" dirty="0">
                <a:solidFill>
                  <a:srgbClr val="00B050"/>
                </a:solidFill>
              </a:rPr>
              <a:t>2/18</a:t>
            </a:r>
            <a:r>
              <a:rPr lang="en-US" dirty="0"/>
              <a:t>	</a:t>
            </a:r>
            <a:r>
              <a:rPr lang="ru-RU" b="1" dirty="0"/>
              <a:t>А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1/18</a:t>
            </a:r>
            <a:endParaRPr lang="ru-RU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							</a:t>
            </a:r>
            <a:r>
              <a:rPr lang="ru-RU" sz="2800" dirty="0">
                <a:solidFill>
                  <a:srgbClr val="00B050"/>
                </a:solidFill>
              </a:rPr>
              <a:t>3</a:t>
            </a:r>
            <a:r>
              <a:rPr lang="en-US" sz="2800" dirty="0">
                <a:solidFill>
                  <a:srgbClr val="00B050"/>
                </a:solidFill>
              </a:rPr>
              <a:t>/</a:t>
            </a:r>
            <a:r>
              <a:rPr lang="ru-RU" sz="2800" dirty="0">
                <a:solidFill>
                  <a:srgbClr val="00B050"/>
                </a:solidFill>
              </a:rPr>
              <a:t>18</a:t>
            </a:r>
          </a:p>
          <a:p>
            <a:pPr marL="0" indent="0">
              <a:buNone/>
            </a:pPr>
            <a:r>
              <a:rPr lang="ru-RU" dirty="0"/>
              <a:t>Частота встречаемости двух символов А и </a:t>
            </a:r>
            <a:r>
              <a:rPr lang="en-US" dirty="0"/>
              <a:t>‘</a:t>
            </a:r>
            <a:r>
              <a:rPr lang="ru-RU" dirty="0"/>
              <a:t>  </a:t>
            </a:r>
            <a:r>
              <a:rPr lang="en-US" dirty="0"/>
              <a:t>’</a:t>
            </a:r>
            <a:r>
              <a:rPr lang="ru-RU" dirty="0"/>
              <a:t> равна сумме частот.</a:t>
            </a:r>
            <a:endParaRPr lang="en-US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5868144" y="4670672"/>
            <a:ext cx="648072" cy="70254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H="1">
            <a:off x="7092280" y="4670672"/>
            <a:ext cx="438215" cy="70254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180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9451" y="0"/>
            <a:ext cx="8229600" cy="764704"/>
          </a:xfrm>
        </p:spPr>
        <p:txBody>
          <a:bodyPr/>
          <a:lstStyle/>
          <a:p>
            <a:r>
              <a:rPr lang="ru-RU" b="1" i="1" dirty="0"/>
              <a:t>Метод сжатия по Хаффману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764704"/>
            <a:ext cx="8928992" cy="5904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Построим следующий новый узел в дереве Хаффмана:</a:t>
            </a:r>
          </a:p>
          <a:p>
            <a:pPr marL="0" indent="0">
              <a:buNone/>
            </a:pPr>
            <a:r>
              <a:rPr lang="ru-RU" b="1" dirty="0"/>
              <a:t>О </a:t>
            </a:r>
            <a:r>
              <a:rPr lang="ru-RU" sz="2800" dirty="0">
                <a:solidFill>
                  <a:srgbClr val="00B050"/>
                </a:solidFill>
              </a:rPr>
              <a:t>7</a:t>
            </a:r>
            <a:r>
              <a:rPr lang="en-US" sz="2800" dirty="0">
                <a:solidFill>
                  <a:srgbClr val="00B050"/>
                </a:solidFill>
              </a:rPr>
              <a:t>/18</a:t>
            </a:r>
            <a:r>
              <a:rPr lang="en-US" dirty="0"/>
              <a:t>	</a:t>
            </a:r>
            <a:r>
              <a:rPr lang="ru-RU" b="1" dirty="0"/>
              <a:t>К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4/18</a:t>
            </a:r>
            <a:r>
              <a:rPr lang="en-US" dirty="0"/>
              <a:t>	</a:t>
            </a:r>
            <a:r>
              <a:rPr lang="ru-RU" b="1" dirty="0"/>
              <a:t>Л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4/18</a:t>
            </a:r>
            <a:r>
              <a:rPr lang="en-US" dirty="0"/>
              <a:t>	</a:t>
            </a:r>
            <a:r>
              <a:rPr lang="en-US" b="1" dirty="0"/>
              <a:t>‘</a:t>
            </a:r>
            <a:r>
              <a:rPr lang="ru-RU" b="1" dirty="0"/>
              <a:t>  </a:t>
            </a:r>
            <a:r>
              <a:rPr lang="en-US" b="1" dirty="0"/>
              <a:t>’ </a:t>
            </a:r>
            <a:r>
              <a:rPr lang="en-US" sz="2800" dirty="0">
                <a:solidFill>
                  <a:srgbClr val="00B050"/>
                </a:solidFill>
              </a:rPr>
              <a:t>2/18</a:t>
            </a:r>
            <a:r>
              <a:rPr lang="en-US" dirty="0"/>
              <a:t>	</a:t>
            </a:r>
            <a:r>
              <a:rPr lang="ru-RU" b="1" dirty="0"/>
              <a:t>А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1/18</a:t>
            </a:r>
            <a:endParaRPr lang="ru-RU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							</a:t>
            </a:r>
            <a:r>
              <a:rPr lang="ru-RU" sz="2800" dirty="0">
                <a:solidFill>
                  <a:srgbClr val="00B050"/>
                </a:solidFill>
              </a:rPr>
              <a:t>3</a:t>
            </a:r>
            <a:r>
              <a:rPr lang="en-US" sz="2800" dirty="0">
                <a:solidFill>
                  <a:srgbClr val="00B050"/>
                </a:solidFill>
              </a:rPr>
              <a:t>/</a:t>
            </a:r>
            <a:r>
              <a:rPr lang="ru-RU" sz="2800" dirty="0">
                <a:solidFill>
                  <a:srgbClr val="00B050"/>
                </a:solidFill>
              </a:rPr>
              <a:t>18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						</a:t>
            </a:r>
          </a:p>
          <a:p>
            <a:pPr marL="0" indent="0">
              <a:buNone/>
            </a:pPr>
            <a:r>
              <a:rPr lang="ru-RU" dirty="0"/>
              <a:t>						</a:t>
            </a:r>
            <a:r>
              <a:rPr lang="ru-RU" sz="2800" dirty="0">
                <a:solidFill>
                  <a:srgbClr val="00B050"/>
                </a:solidFill>
              </a:rPr>
              <a:t>7</a:t>
            </a:r>
            <a:r>
              <a:rPr lang="en-US" sz="2800" dirty="0">
                <a:solidFill>
                  <a:srgbClr val="00B050"/>
                </a:solidFill>
              </a:rPr>
              <a:t>/</a:t>
            </a:r>
            <a:r>
              <a:rPr lang="ru-RU" sz="2800" dirty="0">
                <a:solidFill>
                  <a:srgbClr val="00B050"/>
                </a:solidFill>
              </a:rPr>
              <a:t>18</a:t>
            </a:r>
          </a:p>
          <a:p>
            <a:pPr marL="0" indent="0">
              <a:buNone/>
            </a:pPr>
            <a:r>
              <a:rPr lang="ru-RU" sz="2800" dirty="0"/>
              <a:t>Продолжим строить дерево Хаффмана, соединяя узлы с наименьшими частотами до тех пор пока не сольём всё в один узел.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5832140" y="1700808"/>
            <a:ext cx="720080" cy="86409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flipH="1">
            <a:off x="7164288" y="1844824"/>
            <a:ext cx="756084" cy="72008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031940" y="1808820"/>
            <a:ext cx="1800200" cy="241226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 flipH="1">
            <a:off x="6192180" y="3032956"/>
            <a:ext cx="612068" cy="12601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878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517"/>
            <a:ext cx="8229600" cy="595171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Метод сжатия по Хаффману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20688"/>
            <a:ext cx="9000492" cy="5949280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ru-RU" sz="2800" dirty="0"/>
              <a:t>В конечном результате для нашего примера мы построим следующее дерево:</a:t>
            </a:r>
          </a:p>
          <a:p>
            <a:pPr marL="0" indent="0">
              <a:buNone/>
            </a:pPr>
            <a:r>
              <a:rPr lang="ru-RU" b="1" dirty="0"/>
              <a:t>О </a:t>
            </a:r>
            <a:r>
              <a:rPr lang="ru-RU" sz="2800" dirty="0">
                <a:solidFill>
                  <a:srgbClr val="00B050"/>
                </a:solidFill>
              </a:rPr>
              <a:t>7</a:t>
            </a:r>
            <a:r>
              <a:rPr lang="en-US" sz="2800" dirty="0">
                <a:solidFill>
                  <a:srgbClr val="00B050"/>
                </a:solidFill>
              </a:rPr>
              <a:t>/18</a:t>
            </a:r>
            <a:r>
              <a:rPr lang="en-US" dirty="0"/>
              <a:t>	</a:t>
            </a:r>
            <a:r>
              <a:rPr lang="ru-RU" b="1" dirty="0"/>
              <a:t>К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4/18</a:t>
            </a:r>
            <a:r>
              <a:rPr lang="en-US" dirty="0"/>
              <a:t>	</a:t>
            </a:r>
            <a:r>
              <a:rPr lang="ru-RU" b="1" dirty="0"/>
              <a:t>Л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4/18</a:t>
            </a:r>
            <a:r>
              <a:rPr lang="en-US" dirty="0"/>
              <a:t>	</a:t>
            </a:r>
            <a:r>
              <a:rPr lang="en-US" b="1" dirty="0"/>
              <a:t>‘</a:t>
            </a:r>
            <a:r>
              <a:rPr lang="ru-RU" b="1" dirty="0"/>
              <a:t>  </a:t>
            </a:r>
            <a:r>
              <a:rPr lang="en-US" b="1" dirty="0"/>
              <a:t>’ </a:t>
            </a:r>
            <a:r>
              <a:rPr lang="en-US" sz="2800" dirty="0">
                <a:solidFill>
                  <a:srgbClr val="00B050"/>
                </a:solidFill>
              </a:rPr>
              <a:t>2/18</a:t>
            </a:r>
            <a:r>
              <a:rPr lang="en-US" dirty="0"/>
              <a:t>	</a:t>
            </a:r>
            <a:r>
              <a:rPr lang="ru-RU" b="1" dirty="0"/>
              <a:t>А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1/18</a:t>
            </a:r>
            <a:endParaRPr lang="ru-RU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ru-RU" sz="2800" dirty="0"/>
              <a:t>                                                                        </a:t>
            </a:r>
            <a:r>
              <a:rPr lang="en-US" sz="2800" dirty="0"/>
              <a:t>    0</a:t>
            </a:r>
            <a:r>
              <a:rPr lang="ru-RU" sz="2800" dirty="0"/>
              <a:t>      </a:t>
            </a:r>
            <a:r>
              <a:rPr lang="en-US" sz="2800" dirty="0"/>
              <a:t>   1</a:t>
            </a:r>
            <a:r>
              <a:rPr lang="ru-RU" sz="2800" dirty="0"/>
              <a:t>      </a:t>
            </a:r>
          </a:p>
          <a:p>
            <a:pPr marL="0" indent="0">
              <a:buNone/>
            </a:pPr>
            <a:r>
              <a:rPr lang="ru-RU" dirty="0"/>
              <a:t>					</a:t>
            </a:r>
            <a:r>
              <a:rPr lang="en-US" sz="2800" dirty="0"/>
              <a:t>  0</a:t>
            </a:r>
            <a:r>
              <a:rPr lang="en-US" dirty="0"/>
              <a:t>  </a:t>
            </a:r>
            <a:r>
              <a:rPr lang="ru-RU" dirty="0"/>
              <a:t>	 </a:t>
            </a:r>
            <a:r>
              <a:rPr lang="en-US" dirty="0"/>
              <a:t>  </a:t>
            </a:r>
            <a:r>
              <a:rPr lang="ru-RU" dirty="0"/>
              <a:t>  </a:t>
            </a:r>
            <a:r>
              <a:rPr lang="en-US" sz="2800" dirty="0">
                <a:solidFill>
                  <a:srgbClr val="00B050"/>
                </a:solidFill>
              </a:rPr>
              <a:t>3/</a:t>
            </a:r>
            <a:r>
              <a:rPr lang="ru-RU" sz="2800" dirty="0">
                <a:solidFill>
                  <a:srgbClr val="00B050"/>
                </a:solidFill>
              </a:rPr>
              <a:t>18</a:t>
            </a:r>
            <a:r>
              <a:rPr lang="ru-RU" sz="28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/>
              <a:t>                              </a:t>
            </a:r>
            <a:r>
              <a:rPr lang="en-US" sz="2800" dirty="0"/>
              <a:t>       0</a:t>
            </a:r>
            <a:r>
              <a:rPr lang="en-US" dirty="0"/>
              <a:t>      </a:t>
            </a:r>
            <a:r>
              <a:rPr lang="ru-RU" dirty="0"/>
              <a:t>        </a:t>
            </a:r>
            <a:r>
              <a:rPr lang="ru-RU" sz="2800" dirty="0">
                <a:solidFill>
                  <a:srgbClr val="00B050"/>
                </a:solidFill>
              </a:rPr>
              <a:t>7</a:t>
            </a:r>
            <a:r>
              <a:rPr lang="en-US" sz="2800" dirty="0">
                <a:solidFill>
                  <a:srgbClr val="00B050"/>
                </a:solidFill>
              </a:rPr>
              <a:t>/</a:t>
            </a:r>
            <a:r>
              <a:rPr lang="ru-RU" sz="2800" dirty="0">
                <a:solidFill>
                  <a:srgbClr val="00B050"/>
                </a:solidFill>
              </a:rPr>
              <a:t>18</a:t>
            </a:r>
            <a:r>
              <a:rPr lang="en-US" sz="2800" dirty="0"/>
              <a:t>      1</a:t>
            </a:r>
            <a:endParaRPr lang="ru-RU" sz="2800" dirty="0"/>
          </a:p>
          <a:p>
            <a:pPr marL="0" indent="0">
              <a:buNone/>
            </a:pPr>
            <a:r>
              <a:rPr lang="ru-RU" sz="2800" dirty="0"/>
              <a:t>                       </a:t>
            </a:r>
            <a:r>
              <a:rPr lang="en-US" sz="2800" dirty="0"/>
              <a:t>0</a:t>
            </a:r>
            <a:r>
              <a:rPr lang="ru-RU" sz="2800" dirty="0"/>
              <a:t>                          </a:t>
            </a:r>
            <a:r>
              <a:rPr lang="en-US" sz="2800" dirty="0"/>
              <a:t>     1</a:t>
            </a:r>
            <a:endParaRPr lang="ru-RU" sz="2800" dirty="0"/>
          </a:p>
          <a:p>
            <a:pPr marL="0" indent="0">
              <a:buNone/>
            </a:pPr>
            <a:r>
              <a:rPr lang="ru-RU" sz="2800" dirty="0"/>
              <a:t>                                              </a:t>
            </a:r>
            <a:r>
              <a:rPr lang="ru-RU" sz="2800" dirty="0">
                <a:solidFill>
                  <a:srgbClr val="00B050"/>
                </a:solidFill>
              </a:rPr>
              <a:t>11</a:t>
            </a:r>
            <a:r>
              <a:rPr lang="en-US" sz="2800" dirty="0">
                <a:solidFill>
                  <a:srgbClr val="00B050"/>
                </a:solidFill>
              </a:rPr>
              <a:t>/18</a:t>
            </a:r>
          </a:p>
          <a:p>
            <a:pPr marL="0" indent="0">
              <a:buNone/>
            </a:pPr>
            <a:r>
              <a:rPr lang="en-US" sz="2800" dirty="0"/>
              <a:t>                                            1</a:t>
            </a:r>
          </a:p>
          <a:p>
            <a:pPr marL="0" indent="0">
              <a:buNone/>
            </a:pPr>
            <a:r>
              <a:rPr lang="en-US" sz="2800" dirty="0"/>
              <a:t>                               </a:t>
            </a:r>
            <a:r>
              <a:rPr lang="en-US" sz="2800" dirty="0">
                <a:solidFill>
                  <a:srgbClr val="00B050"/>
                </a:solidFill>
              </a:rPr>
              <a:t>18/18 = 1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 flipH="1">
            <a:off x="6660232" y="2082684"/>
            <a:ext cx="864096" cy="77025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6084462" y="2010676"/>
            <a:ext cx="206896" cy="84226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H="1">
            <a:off x="5507810" y="3061862"/>
            <a:ext cx="576652" cy="454359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3948644" y="2049692"/>
            <a:ext cx="1224136" cy="139046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 flipH="1">
            <a:off x="4209634" y="3933056"/>
            <a:ext cx="742656" cy="62880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2183765" y="2096852"/>
            <a:ext cx="1800200" cy="250101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/>
          <p:nvPr/>
        </p:nvCxnSpPr>
        <p:spPr>
          <a:xfrm>
            <a:off x="467544" y="2049692"/>
            <a:ext cx="2304256" cy="36004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/>
          <p:nvPr/>
        </p:nvCxnSpPr>
        <p:spPr>
          <a:xfrm flipH="1">
            <a:off x="3296450" y="5002020"/>
            <a:ext cx="555470" cy="64807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636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/>
          <a:lstStyle/>
          <a:p>
            <a:r>
              <a:rPr lang="ru-RU" b="1" i="1" dirty="0"/>
              <a:t>Метод сжатия по Хаффману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08720"/>
            <a:ext cx="8928992" cy="59492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800" dirty="0"/>
              <a:t>Чтобы определить код для каждого из символов, входящих в сообщение, мы должны пройти путь от листа дерева, соответствующего этому символу, до корня дерева, накапливая биты при перемещении по ветвям дерева. Полученная таким образом последовательность битов является кодом данного символа, записанным в обратном порядке:</a:t>
            </a:r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r>
              <a:rPr lang="ru-RU" sz="2800" dirty="0"/>
              <a:t>Очевидно, из самого построения кода Хаффмана следует, что он является префиксным.</a:t>
            </a:r>
            <a:r>
              <a:rPr lang="ru-RU" dirty="0"/>
              <a:t> </a:t>
            </a:r>
            <a:endParaRPr lang="en-US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011011"/>
              </p:ext>
            </p:extLst>
          </p:nvPr>
        </p:nvGraphicFramePr>
        <p:xfrm>
          <a:off x="0" y="3573016"/>
          <a:ext cx="9144000" cy="1595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534">
                  <a:extLst>
                    <a:ext uri="{9D8B030D-6E8A-4147-A177-3AD203B41FA5}">
                      <a16:colId xmlns:a16="http://schemas.microsoft.com/office/drawing/2014/main" val="2421545668"/>
                    </a:ext>
                  </a:extLst>
                </a:gridCol>
                <a:gridCol w="1346314">
                  <a:extLst>
                    <a:ext uri="{9D8B030D-6E8A-4147-A177-3AD203B41FA5}">
                      <a16:colId xmlns:a16="http://schemas.microsoft.com/office/drawing/2014/main" val="280523523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1217708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1317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976182944"/>
                    </a:ext>
                  </a:extLst>
                </a:gridCol>
                <a:gridCol w="1403648">
                  <a:extLst>
                    <a:ext uri="{9D8B030D-6E8A-4147-A177-3AD203B41FA5}">
                      <a16:colId xmlns:a16="http://schemas.microsoft.com/office/drawing/2014/main" val="1053109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i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Символ</a:t>
                      </a:r>
                      <a:endParaRPr lang="en-US" sz="28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О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К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Л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‘  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А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864243"/>
                  </a:ext>
                </a:extLst>
              </a:tr>
              <a:tr h="1077064">
                <a:tc>
                  <a:txBody>
                    <a:bodyPr/>
                    <a:lstStyle/>
                    <a:p>
                      <a:pPr algn="ctr"/>
                      <a:r>
                        <a:rPr lang="ru-RU" sz="2800" b="1" i="1" dirty="0"/>
                        <a:t>Код</a:t>
                      </a:r>
                      <a:r>
                        <a:rPr lang="ru-RU" sz="2800" b="1" i="1" baseline="0" dirty="0"/>
                        <a:t> символа</a:t>
                      </a:r>
                      <a:endParaRPr lang="en-US" sz="28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94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777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609"/>
            <a:ext cx="8229600" cy="693305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Метод сжатия по Хаффману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58326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dirty="0"/>
              <a:t>Закодируем исходное сообщение «</a:t>
            </a:r>
            <a:r>
              <a:rPr lang="ru-RU" sz="2800" dirty="0">
                <a:solidFill>
                  <a:srgbClr val="FF0000"/>
                </a:solidFill>
              </a:rPr>
              <a:t>КОЛ  ОКОЛО  КОЛОКОЛА</a:t>
            </a:r>
            <a:r>
              <a:rPr lang="ru-RU" sz="2800" dirty="0"/>
              <a:t>»  с помощью полученных кодов символов:</a:t>
            </a:r>
          </a:p>
          <a:p>
            <a:pPr marL="0" indent="0">
              <a:buNone/>
            </a:pPr>
            <a:r>
              <a:rPr lang="ru-RU" dirty="0"/>
              <a:t>   10011011100100110011101001001001101111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sz="2800" dirty="0"/>
              <a:t>Подсчитаем, сколько двоичных символов окажется в сообщении «КОЛ  ОКОЛО  КОЛОКОЛА». </a:t>
            </a:r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r>
              <a:rPr lang="ru-RU" sz="2800" dirty="0"/>
              <a:t>Для этого надо найти произведение числа символов в коде каждой буквы на количество раз, которое эта буква встречается в сообщении, а затем полученные произведения сложить. </a:t>
            </a:r>
          </a:p>
          <a:p>
            <a:pPr marL="0" indent="0" algn="ctr">
              <a:buNone/>
            </a:pPr>
            <a:r>
              <a:rPr lang="en-US" dirty="0"/>
              <a:t>1</a:t>
            </a:r>
            <a:r>
              <a:rPr lang="en-US" dirty="0">
                <a:sym typeface="Symbol"/>
              </a:rPr>
              <a:t></a:t>
            </a:r>
            <a:r>
              <a:rPr lang="ru-RU" dirty="0"/>
              <a:t>7 + 2</a:t>
            </a:r>
            <a:r>
              <a:rPr lang="en-US" dirty="0">
                <a:sym typeface="Symbol"/>
              </a:rPr>
              <a:t></a:t>
            </a:r>
            <a:r>
              <a:rPr lang="ru-RU" dirty="0"/>
              <a:t>4 + </a:t>
            </a:r>
            <a:r>
              <a:rPr lang="en-US" dirty="0"/>
              <a:t>3</a:t>
            </a:r>
            <a:r>
              <a:rPr lang="en-US" dirty="0">
                <a:sym typeface="Symbol"/>
              </a:rPr>
              <a:t></a:t>
            </a:r>
            <a:r>
              <a:rPr lang="ru-RU" dirty="0"/>
              <a:t>4 + </a:t>
            </a:r>
            <a:r>
              <a:rPr lang="en-US" dirty="0"/>
              <a:t>4</a:t>
            </a:r>
            <a:r>
              <a:rPr lang="en-US" dirty="0">
                <a:sym typeface="Symbol"/>
              </a:rPr>
              <a:t></a:t>
            </a:r>
            <a:r>
              <a:rPr lang="ru-RU" dirty="0"/>
              <a:t>2 + </a:t>
            </a:r>
            <a:r>
              <a:rPr lang="en-US" dirty="0"/>
              <a:t>4</a:t>
            </a:r>
            <a:r>
              <a:rPr lang="en-US" dirty="0">
                <a:sym typeface="Symbol"/>
              </a:rPr>
              <a:t></a:t>
            </a:r>
            <a:r>
              <a:rPr lang="ru-RU" dirty="0"/>
              <a:t>1 = 39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920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266"/>
            <a:ext cx="8229600" cy="753438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prstClr val="black"/>
                </a:solidFill>
              </a:rPr>
              <a:t>Метод сжатия по Хаффману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980728"/>
                <a:ext cx="9144000" cy="587727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Посчитаем информационную ёмкость кода, соответствующего дереву Хаффмана. </a:t>
                </a:r>
              </a:p>
              <a:p>
                <a:pPr marL="0" indent="0">
                  <a:buNone/>
                </a:pPr>
                <a:r>
                  <a:rPr lang="ru-RU" sz="3000" dirty="0"/>
                  <a:t>Длина исходного сообщения равна 18 (</a:t>
                </a:r>
                <a:r>
                  <a:rPr lang="en-US" sz="3000" dirty="0"/>
                  <a:t>N = 18</a:t>
                </a:r>
                <a:r>
                  <a:rPr lang="ru-RU" sz="3000" dirty="0"/>
                  <a:t>), длина кода равна 39 битам (</a:t>
                </a:r>
                <a:r>
                  <a:rPr lang="en-US" sz="3000" dirty="0"/>
                  <a:t>L = 39</a:t>
                </a:r>
                <a:r>
                  <a:rPr lang="ru-RU" sz="3000" dirty="0"/>
                  <a:t>)</a:t>
                </a:r>
                <a:r>
                  <a:rPr lang="en-US" sz="3000" dirty="0"/>
                  <a:t>:</a:t>
                </a:r>
              </a:p>
              <a:p>
                <a:pPr marL="0" lvl="0" indent="0">
                  <a:buNone/>
                </a:pPr>
                <a:r>
                  <a:rPr lang="en-US" sz="2500" dirty="0">
                    <a:solidFill>
                      <a:srgbClr val="0070C0"/>
                    </a:solidFill>
                  </a:rPr>
                  <a:t>I(A)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500" i="0" dirty="0" smtClean="0">
                            <a:solidFill>
                              <a:srgbClr val="0070C0"/>
                            </a:solidFill>
                          </a:rPr>
                          <m:t>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500" i="0" dirty="0" smtClean="0">
                            <a:solidFill>
                              <a:srgbClr val="0070C0"/>
                            </a:solidFill>
                          </a:rPr>
                          <m:t>18</m:t>
                        </m:r>
                      </m:den>
                    </m:f>
                  </m:oMath>
                </a14:m>
                <a:r>
                  <a:rPr lang="en-US" sz="2500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dirty="0">
                    <a:solidFill>
                      <a:srgbClr val="0070C0"/>
                    </a:solidFill>
                    <a:sym typeface="Symbol"/>
                  </a:rPr>
                  <a:t></a:t>
                </a:r>
                <a:r>
                  <a:rPr lang="en-US" sz="2500" dirty="0">
                    <a:solidFill>
                      <a:srgbClr val="0070C0"/>
                    </a:solidFill>
                  </a:rPr>
                  <a:t> log</a:t>
                </a:r>
                <a:r>
                  <a:rPr lang="en-US" sz="2500" baseline="-25000" dirty="0">
                    <a:solidFill>
                      <a:srgbClr val="0070C0"/>
                    </a:solidFill>
                  </a:rPr>
                  <a:t>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500" dirty="0">
                            <a:solidFill>
                              <a:srgbClr val="0070C0"/>
                            </a:solidFill>
                          </a:rPr>
                          <m:t>18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500" i="0" dirty="0" smtClean="0">
                            <a:solidFill>
                              <a:srgbClr val="0070C0"/>
                            </a:solidFill>
                          </a:rPr>
                          <m:t>4</m:t>
                        </m:r>
                      </m:den>
                    </m:f>
                  </m:oMath>
                </a14:m>
                <a:r>
                  <a:rPr lang="ru-RU" sz="2500" dirty="0">
                    <a:solidFill>
                      <a:srgbClr val="0070C0"/>
                    </a:solidFill>
                  </a:rPr>
                  <a:t> </a:t>
                </a:r>
                <a:r>
                  <a:rPr lang="en-US" sz="2500" dirty="0">
                    <a:solidFill>
                      <a:srgbClr val="0070C0"/>
                    </a:solidFill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500" dirty="0">
                            <a:solidFill>
                              <a:srgbClr val="0070C0"/>
                            </a:solidFill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500" dirty="0">
                            <a:solidFill>
                              <a:srgbClr val="0070C0"/>
                            </a:solidFill>
                          </a:rPr>
                          <m:t>18</m:t>
                        </m:r>
                      </m:den>
                    </m:f>
                  </m:oMath>
                </a14:m>
                <a:r>
                  <a:rPr lang="en-US" sz="2500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dirty="0">
                    <a:solidFill>
                      <a:srgbClr val="0070C0"/>
                    </a:solidFill>
                    <a:sym typeface="Symbol"/>
                  </a:rPr>
                  <a:t></a:t>
                </a:r>
                <a:r>
                  <a:rPr lang="en-US" sz="2500" dirty="0">
                    <a:solidFill>
                      <a:srgbClr val="0070C0"/>
                    </a:solidFill>
                  </a:rPr>
                  <a:t> log</a:t>
                </a:r>
                <a:r>
                  <a:rPr lang="en-US" sz="2500" baseline="-25000" dirty="0">
                    <a:solidFill>
                      <a:srgbClr val="0070C0"/>
                    </a:solidFill>
                  </a:rPr>
                  <a:t>2</a:t>
                </a:r>
                <a:r>
                  <a:rPr lang="en-US" sz="25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500" dirty="0">
                            <a:solidFill>
                              <a:srgbClr val="0070C0"/>
                            </a:solidFill>
                          </a:rPr>
                          <m:t>18</m:t>
                        </m:r>
                        <m:r>
                          <m:rPr>
                            <m:nor/>
                          </m:rPr>
                          <a:rPr lang="ru-RU" sz="2500" b="0" i="0" dirty="0" smtClean="0">
                            <a:solidFill>
                              <a:srgbClr val="0070C0"/>
                            </a:solidFill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500" i="0" dirty="0" smtClean="0">
                            <a:solidFill>
                              <a:srgbClr val="0070C0"/>
                            </a:solidFill>
                          </a:rPr>
                          <m:t>1</m:t>
                        </m:r>
                      </m:den>
                    </m:f>
                  </m:oMath>
                </a14:m>
                <a:r>
                  <a:rPr lang="ru-RU" sz="2500" dirty="0">
                    <a:solidFill>
                      <a:srgbClr val="0070C0"/>
                    </a:solidFill>
                  </a:rPr>
                  <a:t> </a:t>
                </a:r>
                <a:r>
                  <a:rPr lang="en-US" sz="2500" dirty="0">
                    <a:solidFill>
                      <a:srgbClr val="0070C0"/>
                    </a:solidFill>
                  </a:rPr>
                  <a:t>+</a:t>
                </a:r>
                <a:r>
                  <a:rPr lang="ru-RU" sz="25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5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5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500" i="0" dirty="0" smtClean="0">
                            <a:solidFill>
                              <a:srgbClr val="0070C0"/>
                            </a:solidFill>
                          </a:rPr>
                          <m:t>7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500" dirty="0">
                            <a:solidFill>
                              <a:srgbClr val="0070C0"/>
                            </a:solidFill>
                          </a:rPr>
                          <m:t>18</m:t>
                        </m:r>
                      </m:den>
                    </m:f>
                  </m:oMath>
                </a14:m>
                <a:r>
                  <a:rPr lang="en-US" sz="2500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dirty="0">
                    <a:solidFill>
                      <a:srgbClr val="0070C0"/>
                    </a:solidFill>
                    <a:sym typeface="Symbol"/>
                  </a:rPr>
                  <a:t></a:t>
                </a:r>
                <a:r>
                  <a:rPr lang="en-US" sz="2500" dirty="0">
                    <a:solidFill>
                      <a:srgbClr val="0070C0"/>
                    </a:solidFill>
                  </a:rPr>
                  <a:t> log</a:t>
                </a:r>
                <a:r>
                  <a:rPr lang="en-US" sz="2500" baseline="-25000" dirty="0">
                    <a:solidFill>
                      <a:srgbClr val="0070C0"/>
                    </a:solidFill>
                  </a:rPr>
                  <a:t>2</a:t>
                </a:r>
                <a:r>
                  <a:rPr lang="en-US" sz="25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500" dirty="0">
                            <a:solidFill>
                              <a:srgbClr val="0070C0"/>
                            </a:solidFill>
                          </a:rPr>
                          <m:t>18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500" i="0" dirty="0" smtClean="0">
                            <a:solidFill>
                              <a:srgbClr val="0070C0"/>
                            </a:solidFill>
                          </a:rPr>
                          <m:t>7</m:t>
                        </m:r>
                      </m:den>
                    </m:f>
                  </m:oMath>
                </a14:m>
                <a:r>
                  <a:rPr lang="ru-RU" sz="2500" dirty="0">
                    <a:solidFill>
                      <a:srgbClr val="0070C0"/>
                    </a:solidFill>
                  </a:rPr>
                  <a:t> </a:t>
                </a:r>
                <a:r>
                  <a:rPr lang="en-US" sz="2500" dirty="0">
                    <a:solidFill>
                      <a:srgbClr val="0070C0"/>
                    </a:solidFill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500" i="0" dirty="0" smtClean="0">
                            <a:solidFill>
                              <a:srgbClr val="0070C0"/>
                            </a:solidFill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500" dirty="0">
                            <a:solidFill>
                              <a:srgbClr val="0070C0"/>
                            </a:solidFill>
                          </a:rPr>
                          <m:t>18</m:t>
                        </m:r>
                      </m:den>
                    </m:f>
                  </m:oMath>
                </a14:m>
                <a:r>
                  <a:rPr lang="en-US" sz="2500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dirty="0">
                    <a:solidFill>
                      <a:srgbClr val="0070C0"/>
                    </a:solidFill>
                    <a:sym typeface="Symbol"/>
                  </a:rPr>
                  <a:t></a:t>
                </a:r>
                <a:r>
                  <a:rPr lang="en-US" sz="2500" dirty="0">
                    <a:solidFill>
                      <a:srgbClr val="0070C0"/>
                    </a:solidFill>
                  </a:rPr>
                  <a:t> log</a:t>
                </a:r>
                <a:r>
                  <a:rPr lang="en-US" sz="2500" baseline="-25000" dirty="0">
                    <a:solidFill>
                      <a:srgbClr val="0070C0"/>
                    </a:solidFill>
                  </a:rPr>
                  <a:t>2</a:t>
                </a:r>
                <a:r>
                  <a:rPr lang="en-US" sz="25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500" dirty="0">
                            <a:solidFill>
                              <a:srgbClr val="0070C0"/>
                            </a:solidFill>
                          </a:rPr>
                          <m:t>18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500" i="0" dirty="0" smtClean="0">
                            <a:solidFill>
                              <a:srgbClr val="0070C0"/>
                            </a:solidFill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500" dirty="0">
                    <a:solidFill>
                      <a:srgbClr val="0070C0"/>
                    </a:solidFill>
                  </a:rPr>
                  <a:t>= 2.1</a:t>
                </a:r>
                <a:r>
                  <a:rPr lang="ru-RU" sz="2500" dirty="0">
                    <a:solidFill>
                      <a:srgbClr val="0070C0"/>
                    </a:solidFill>
                  </a:rPr>
                  <a:t> </a:t>
                </a:r>
                <a:r>
                  <a:rPr lang="ru-RU" sz="2000" dirty="0">
                    <a:solidFill>
                      <a:srgbClr val="0070C0"/>
                    </a:solidFill>
                  </a:rPr>
                  <a:t>бит</a:t>
                </a:r>
              </a:p>
              <a:p>
                <a:pPr marL="0" lvl="0" indent="0">
                  <a:buNone/>
                </a:pPr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ru-RU" sz="3000" dirty="0"/>
                  <a:t>т.е. в среднем длина каждого кодового слова не может быть меньше 2.1 двоичных цифр.</a:t>
                </a:r>
              </a:p>
              <a:p>
                <a:pPr marL="0" indent="0">
                  <a:buNone/>
                </a:pPr>
                <a:r>
                  <a:rPr lang="ru-RU" sz="3000" dirty="0"/>
                  <a:t>Посчитаем избыточность кода в нашем примере:</a:t>
                </a:r>
              </a:p>
              <a:p>
                <a:pPr marL="0" indent="0">
                  <a:buNone/>
                </a:pPr>
                <a:r>
                  <a:rPr lang="en-US" sz="2500" b="1" dirty="0">
                    <a:solidFill>
                      <a:prstClr val="black"/>
                    </a:solidFill>
                  </a:rPr>
                  <a:t>	</a:t>
                </a:r>
                <a:r>
                  <a:rPr lang="en-US" sz="2500" dirty="0">
                    <a:solidFill>
                      <a:srgbClr val="0070C0"/>
                    </a:solidFill>
                  </a:rPr>
                  <a:t>Z  =  1 -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500" dirty="0">
                            <a:solidFill>
                              <a:srgbClr val="0070C0"/>
                            </a:solidFill>
                          </a:rPr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500" dirty="0">
                            <a:solidFill>
                              <a:srgbClr val="0070C0"/>
                            </a:solidFill>
                          </a:rPr>
                          <m:t>L</m:t>
                        </m:r>
                      </m:den>
                    </m:f>
                  </m:oMath>
                </a14:m>
                <a:r>
                  <a:rPr lang="en-US" sz="2500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0070C0"/>
                    </a:solidFill>
                    <a:sym typeface="Symbol"/>
                  </a:rPr>
                  <a:t></a:t>
                </a:r>
                <a:r>
                  <a:rPr lang="en-US" sz="2500" dirty="0">
                    <a:solidFill>
                      <a:srgbClr val="0070C0"/>
                    </a:solidFill>
                  </a:rPr>
                  <a:t> I</a:t>
                </a:r>
                <a:r>
                  <a:rPr lang="ru-RU" sz="2500" dirty="0">
                    <a:solidFill>
                      <a:srgbClr val="0070C0"/>
                    </a:solidFill>
                  </a:rPr>
                  <a:t>(А)</a:t>
                </a:r>
                <a:r>
                  <a:rPr lang="en-US" sz="2500" dirty="0">
                    <a:solidFill>
                      <a:srgbClr val="0070C0"/>
                    </a:solidFill>
                  </a:rPr>
                  <a:t>  = 1 -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500" i="0" dirty="0" smtClean="0">
                            <a:solidFill>
                              <a:srgbClr val="0070C0"/>
                            </a:solidFill>
                          </a:rPr>
                          <m:t>18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500" i="0" dirty="0" smtClean="0">
                            <a:solidFill>
                              <a:srgbClr val="0070C0"/>
                            </a:solidFill>
                          </a:rPr>
                          <m:t>39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0070C0"/>
                    </a:solidFill>
                    <a:sym typeface="Symbol"/>
                  </a:rPr>
                  <a:t> </a:t>
                </a:r>
                <a:r>
                  <a:rPr lang="en-US" sz="2500" dirty="0">
                    <a:solidFill>
                      <a:srgbClr val="0070C0"/>
                    </a:solidFill>
                  </a:rPr>
                  <a:t> 2.1  =  0.03</a:t>
                </a:r>
                <a:endParaRPr lang="en-US" sz="2500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r>
                  <a:rPr lang="ru-RU" sz="3000" i="1" dirty="0">
                    <a:solidFill>
                      <a:prstClr val="black"/>
                    </a:solidFill>
                  </a:rPr>
                  <a:t>Следовательно, </a:t>
                </a:r>
              </a:p>
              <a:p>
                <a:pPr marL="0" indent="0">
                  <a:buNone/>
                </a:pPr>
                <a:r>
                  <a:rPr lang="ru-RU" sz="3000" i="1" dirty="0">
                    <a:solidFill>
                      <a:prstClr val="black"/>
                    </a:solidFill>
                  </a:rPr>
                  <a:t>	код Хаффмана является </a:t>
                </a:r>
                <a:r>
                  <a:rPr lang="ru-RU" sz="3000" i="1" dirty="0">
                    <a:solidFill>
                      <a:srgbClr val="FF0000"/>
                    </a:solidFill>
                  </a:rPr>
                  <a:t>оптимальным</a:t>
                </a:r>
                <a:r>
                  <a:rPr lang="ru-RU" sz="3000" i="1" dirty="0">
                    <a:solidFill>
                      <a:prstClr val="black"/>
                    </a:solidFill>
                  </a:rPr>
                  <a:t> кодом.</a:t>
                </a:r>
                <a:endParaRPr lang="en-US" sz="3000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80728"/>
                <a:ext cx="9144000" cy="5877272"/>
              </a:xfrm>
              <a:blipFill rotWithShape="1">
                <a:blip r:embed="rId2" cstate="print"/>
                <a:stretch>
                  <a:fillRect l="-1533" t="-2075" r="-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792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517"/>
            <a:ext cx="8229600" cy="595171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Метод сжатия по Хаффману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20688"/>
            <a:ext cx="9000492" cy="5949280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ru-RU" sz="2800" dirty="0"/>
              <a:t>Другой вариант построения  дерева Хаффмана:</a:t>
            </a:r>
          </a:p>
          <a:p>
            <a:pPr marL="0" indent="0">
              <a:buNone/>
            </a:pPr>
            <a:r>
              <a:rPr lang="ru-RU" b="1" dirty="0"/>
              <a:t>О </a:t>
            </a:r>
            <a:r>
              <a:rPr lang="ru-RU" sz="2800" dirty="0">
                <a:solidFill>
                  <a:srgbClr val="00B050"/>
                </a:solidFill>
              </a:rPr>
              <a:t>7</a:t>
            </a:r>
            <a:r>
              <a:rPr lang="en-US" sz="2800" dirty="0">
                <a:solidFill>
                  <a:srgbClr val="00B050"/>
                </a:solidFill>
              </a:rPr>
              <a:t>/18</a:t>
            </a:r>
            <a:r>
              <a:rPr lang="en-US" dirty="0"/>
              <a:t>	</a:t>
            </a:r>
            <a:r>
              <a:rPr lang="ru-RU" b="1" dirty="0"/>
              <a:t>К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4/18</a:t>
            </a:r>
            <a:r>
              <a:rPr lang="en-US" dirty="0"/>
              <a:t>	</a:t>
            </a:r>
            <a:r>
              <a:rPr lang="ru-RU" b="1" dirty="0"/>
              <a:t>Л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4/18</a:t>
            </a:r>
            <a:r>
              <a:rPr lang="en-US" dirty="0"/>
              <a:t>	</a:t>
            </a:r>
            <a:r>
              <a:rPr lang="en-US" b="1" dirty="0"/>
              <a:t>‘</a:t>
            </a:r>
            <a:r>
              <a:rPr lang="ru-RU" b="1" dirty="0"/>
              <a:t>  </a:t>
            </a:r>
            <a:r>
              <a:rPr lang="en-US" b="1" dirty="0"/>
              <a:t>’ </a:t>
            </a:r>
            <a:r>
              <a:rPr lang="en-US" sz="2800" dirty="0">
                <a:solidFill>
                  <a:srgbClr val="00B050"/>
                </a:solidFill>
              </a:rPr>
              <a:t>2/18</a:t>
            </a:r>
            <a:r>
              <a:rPr lang="en-US" dirty="0"/>
              <a:t>	</a:t>
            </a:r>
            <a:r>
              <a:rPr lang="ru-RU" b="1" dirty="0"/>
              <a:t>А</a:t>
            </a:r>
            <a:r>
              <a:rPr lang="en-US" b="1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1/18</a:t>
            </a:r>
            <a:endParaRPr lang="ru-RU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ru-RU" sz="2800" dirty="0"/>
              <a:t>                                                                        </a:t>
            </a:r>
            <a:r>
              <a:rPr lang="en-US" sz="2800" dirty="0"/>
              <a:t>    </a:t>
            </a:r>
            <a:r>
              <a:rPr lang="ru-RU" sz="2800" dirty="0"/>
              <a:t>  </a:t>
            </a:r>
            <a:r>
              <a:rPr lang="en-US" sz="2800" dirty="0"/>
              <a:t>0</a:t>
            </a:r>
            <a:r>
              <a:rPr lang="ru-RU" sz="2800" dirty="0"/>
              <a:t>   </a:t>
            </a:r>
            <a:r>
              <a:rPr lang="en-US" sz="2800" dirty="0"/>
              <a:t>   1</a:t>
            </a:r>
            <a:r>
              <a:rPr lang="ru-RU" sz="2800" dirty="0"/>
              <a:t>      </a:t>
            </a:r>
          </a:p>
          <a:p>
            <a:pPr marL="0" indent="0">
              <a:buNone/>
            </a:pPr>
            <a:r>
              <a:rPr lang="ru-RU" dirty="0"/>
              <a:t>	0        1			</a:t>
            </a:r>
            <a:r>
              <a:rPr lang="en-US" sz="2800" dirty="0"/>
              <a:t>0</a:t>
            </a:r>
            <a:r>
              <a:rPr lang="en-US" dirty="0"/>
              <a:t>  </a:t>
            </a:r>
            <a:r>
              <a:rPr lang="ru-RU" dirty="0"/>
              <a:t>	 </a:t>
            </a:r>
            <a:r>
              <a:rPr lang="en-US" dirty="0"/>
              <a:t>  </a:t>
            </a:r>
            <a:r>
              <a:rPr lang="ru-RU" dirty="0"/>
              <a:t>     </a:t>
            </a:r>
            <a:r>
              <a:rPr lang="en-US" sz="2800" dirty="0">
                <a:solidFill>
                  <a:srgbClr val="00B050"/>
                </a:solidFill>
              </a:rPr>
              <a:t>3/</a:t>
            </a:r>
            <a:r>
              <a:rPr lang="ru-RU" sz="2800" dirty="0">
                <a:solidFill>
                  <a:srgbClr val="00B050"/>
                </a:solidFill>
              </a:rPr>
              <a:t>18</a:t>
            </a:r>
            <a:r>
              <a:rPr lang="ru-RU" sz="28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/>
              <a:t>                              </a:t>
            </a:r>
            <a:r>
              <a:rPr lang="en-US" sz="2800" dirty="0"/>
              <a:t>       </a:t>
            </a:r>
            <a:r>
              <a:rPr lang="ru-RU" sz="2800" dirty="0"/>
              <a:t>                                 1</a:t>
            </a:r>
          </a:p>
          <a:p>
            <a:pPr marL="0" indent="0">
              <a:buNone/>
            </a:pPr>
            <a:r>
              <a:rPr lang="ru-RU" sz="2800" dirty="0">
                <a:solidFill>
                  <a:srgbClr val="00B050"/>
                </a:solidFill>
              </a:rPr>
              <a:t>              11</a:t>
            </a:r>
            <a:r>
              <a:rPr lang="en-US" sz="2800" dirty="0">
                <a:solidFill>
                  <a:srgbClr val="00B050"/>
                </a:solidFill>
              </a:rPr>
              <a:t>/18</a:t>
            </a:r>
            <a:r>
              <a:rPr lang="ru-RU" sz="2800" dirty="0">
                <a:solidFill>
                  <a:srgbClr val="00B050"/>
                </a:solidFill>
              </a:rPr>
              <a:t>                                  7</a:t>
            </a:r>
            <a:r>
              <a:rPr lang="en-US" sz="2800" dirty="0">
                <a:solidFill>
                  <a:srgbClr val="00B050"/>
                </a:solidFill>
              </a:rPr>
              <a:t>/</a:t>
            </a:r>
            <a:r>
              <a:rPr lang="ru-RU" sz="2800" dirty="0">
                <a:solidFill>
                  <a:srgbClr val="00B050"/>
                </a:solidFill>
              </a:rPr>
              <a:t>18</a:t>
            </a:r>
            <a:r>
              <a:rPr lang="en-US" sz="2800" dirty="0"/>
              <a:t> </a:t>
            </a:r>
            <a:endParaRPr lang="ru-RU" sz="2800" dirty="0"/>
          </a:p>
          <a:p>
            <a:pPr marL="0" indent="0">
              <a:buNone/>
            </a:pPr>
            <a:r>
              <a:rPr lang="ru-RU" sz="2800" dirty="0"/>
              <a:t>                              0                1</a:t>
            </a:r>
            <a:endParaRPr lang="en-US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800" dirty="0"/>
              <a:t>                                            </a:t>
            </a:r>
          </a:p>
          <a:p>
            <a:pPr marL="0" indent="0">
              <a:buNone/>
            </a:pPr>
            <a:r>
              <a:rPr lang="en-US" sz="2800" dirty="0"/>
              <a:t>                               </a:t>
            </a:r>
            <a:r>
              <a:rPr lang="en-US" sz="2800" dirty="0">
                <a:solidFill>
                  <a:srgbClr val="00B050"/>
                </a:solidFill>
              </a:rPr>
              <a:t>18/18 = 1</a:t>
            </a:r>
          </a:p>
        </p:txBody>
      </p:sp>
      <p:cxnSp>
        <p:nvCxnSpPr>
          <p:cNvPr id="5" name="Прямая соединительная линия 4"/>
          <p:cNvCxnSpPr>
            <a:cxnSpLocks/>
          </p:cNvCxnSpPr>
          <p:nvPr/>
        </p:nvCxnSpPr>
        <p:spPr>
          <a:xfrm flipH="1">
            <a:off x="7164288" y="1711726"/>
            <a:ext cx="792088" cy="6784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>
            <a:cxnSpLocks/>
          </p:cNvCxnSpPr>
          <p:nvPr/>
        </p:nvCxnSpPr>
        <p:spPr>
          <a:xfrm>
            <a:off x="5981014" y="1625550"/>
            <a:ext cx="679218" cy="76467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>
            <a:cxnSpLocks/>
          </p:cNvCxnSpPr>
          <p:nvPr/>
        </p:nvCxnSpPr>
        <p:spPr>
          <a:xfrm flipH="1">
            <a:off x="5580112" y="2852936"/>
            <a:ext cx="864096" cy="79208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4209634" y="1711726"/>
            <a:ext cx="866422" cy="19332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cxnSpLocks/>
          </p:cNvCxnSpPr>
          <p:nvPr/>
        </p:nvCxnSpPr>
        <p:spPr>
          <a:xfrm flipH="1">
            <a:off x="3635896" y="4149080"/>
            <a:ext cx="1440160" cy="115212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cxnSpLocks/>
          </p:cNvCxnSpPr>
          <p:nvPr/>
        </p:nvCxnSpPr>
        <p:spPr>
          <a:xfrm flipH="1">
            <a:off x="1907704" y="1711726"/>
            <a:ext cx="779941" cy="19332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cxnSpLocks/>
          </p:cNvCxnSpPr>
          <p:nvPr/>
        </p:nvCxnSpPr>
        <p:spPr>
          <a:xfrm>
            <a:off x="467545" y="1826231"/>
            <a:ext cx="1152127" cy="181879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>
            <a:cxnSpLocks/>
          </p:cNvCxnSpPr>
          <p:nvPr/>
        </p:nvCxnSpPr>
        <p:spPr>
          <a:xfrm>
            <a:off x="1907704" y="4149080"/>
            <a:ext cx="1152128" cy="99719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700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/>
          <a:lstStyle/>
          <a:p>
            <a:r>
              <a:rPr lang="ru-RU" b="1" i="1" dirty="0"/>
              <a:t>Метод сжатия по Хаффману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08720"/>
            <a:ext cx="8928992" cy="5949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Полученная таким образом последовательность битов является кодом данного символа, записанным в обратном порядке:</a:t>
            </a:r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r>
              <a:rPr lang="ru-RU" sz="2800" dirty="0"/>
              <a:t>Очевидно, из самого построения кода Хаффмана следует, что он является префиксным.</a:t>
            </a:r>
            <a:r>
              <a:rPr lang="ru-RU" dirty="0"/>
              <a:t> </a:t>
            </a:r>
            <a:endParaRPr lang="en-US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625797"/>
              </p:ext>
            </p:extLst>
          </p:nvPr>
        </p:nvGraphicFramePr>
        <p:xfrm>
          <a:off x="15483" y="2492896"/>
          <a:ext cx="9144000" cy="1595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534">
                  <a:extLst>
                    <a:ext uri="{9D8B030D-6E8A-4147-A177-3AD203B41FA5}">
                      <a16:colId xmlns:a16="http://schemas.microsoft.com/office/drawing/2014/main" val="2421545668"/>
                    </a:ext>
                  </a:extLst>
                </a:gridCol>
                <a:gridCol w="1346314">
                  <a:extLst>
                    <a:ext uri="{9D8B030D-6E8A-4147-A177-3AD203B41FA5}">
                      <a16:colId xmlns:a16="http://schemas.microsoft.com/office/drawing/2014/main" val="280523523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1217708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1317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976182944"/>
                    </a:ext>
                  </a:extLst>
                </a:gridCol>
                <a:gridCol w="1403648">
                  <a:extLst>
                    <a:ext uri="{9D8B030D-6E8A-4147-A177-3AD203B41FA5}">
                      <a16:colId xmlns:a16="http://schemas.microsoft.com/office/drawing/2014/main" val="1053109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1" i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Символ</a:t>
                      </a:r>
                      <a:endParaRPr lang="en-US" sz="28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О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К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Л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‘  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А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864243"/>
                  </a:ext>
                </a:extLst>
              </a:tr>
              <a:tr h="1077064">
                <a:tc>
                  <a:txBody>
                    <a:bodyPr/>
                    <a:lstStyle/>
                    <a:p>
                      <a:pPr algn="ctr"/>
                      <a:r>
                        <a:rPr lang="ru-RU" sz="2800" b="1" i="1" dirty="0"/>
                        <a:t>Код</a:t>
                      </a:r>
                      <a:r>
                        <a:rPr lang="ru-RU" sz="2800" b="1" i="1" baseline="0" dirty="0"/>
                        <a:t> символа</a:t>
                      </a:r>
                      <a:endParaRPr lang="en-US" sz="28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r>
                        <a:rPr lang="ru-RU" sz="2800" dirty="0"/>
                        <a:t>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111</a:t>
                      </a:r>
                      <a:endParaRPr lang="ru-RU" sz="2800" dirty="0"/>
                    </a:p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94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531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/>
          <a:lstStyle/>
          <a:p>
            <a:r>
              <a:rPr lang="ru-RU" b="1" i="1" dirty="0"/>
              <a:t>Метод Шеннона-</a:t>
            </a:r>
            <a:r>
              <a:rPr lang="ru-RU" b="1" i="1" dirty="0" err="1"/>
              <a:t>Фано</a:t>
            </a:r>
            <a:endParaRPr lang="en-US" dirty="0"/>
          </a:p>
        </p:txBody>
      </p:sp>
      <p:pic>
        <p:nvPicPr>
          <p:cNvPr id="2052" name="Picture 4" descr="https://cdn.thinglink.me/api/image/3DLAmChCHicvwFHxc9hcgedhwg1Y41MCY5YpGFEjqgoL9mNDPqxzbjQb5Ly38pGwQ9Qcopbv8DnLsRSEdxveQUhUyZAtu5buiFLSes6N48ouFWf9Vfmj2A1jKNxThfKMuZ3hbNjN5tzryAHeZxdrCDJ1EkFncLe/320/320/scaledown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924779"/>
            <a:ext cx="2160240" cy="2951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79512" y="3931785"/>
            <a:ext cx="4006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Museo Sans"/>
              </a:rPr>
              <a:t>Клод </a:t>
            </a:r>
            <a:r>
              <a:rPr lang="ru-RU" dirty="0" err="1">
                <a:solidFill>
                  <a:srgbClr val="000000"/>
                </a:solidFill>
                <a:latin typeface="Museo Sans"/>
              </a:rPr>
              <a:t>Э́лвуд</a:t>
            </a:r>
            <a:r>
              <a:rPr lang="ru-RU" dirty="0">
                <a:solidFill>
                  <a:srgbClr val="000000"/>
                </a:solidFill>
                <a:latin typeface="Museo Sans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Museo Sans"/>
              </a:rPr>
              <a:t>Ше́ннон</a:t>
            </a:r>
            <a:r>
              <a:rPr lang="ru-RU" dirty="0">
                <a:solidFill>
                  <a:srgbClr val="000000"/>
                </a:solidFill>
                <a:latin typeface="Museo Sans"/>
              </a:rPr>
              <a:t> (1916 - 2001) — американский инженер и математик.  Является основателем теории информации, нашедшей применение в современных высокотехнологических системах связи. В 1948 году предложил использовать слово «бит» для обозначения наименьшей единицы информации.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148064" y="3963995"/>
            <a:ext cx="39959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Museo Sans"/>
              </a:rPr>
              <a:t>Роберт Марио </a:t>
            </a:r>
            <a:r>
              <a:rPr lang="ru-RU" dirty="0" err="1">
                <a:solidFill>
                  <a:srgbClr val="000000"/>
                </a:solidFill>
                <a:latin typeface="Museo Sans"/>
              </a:rPr>
              <a:t>Фано</a:t>
            </a:r>
            <a:r>
              <a:rPr lang="ru-RU" dirty="0">
                <a:solidFill>
                  <a:srgbClr val="000000"/>
                </a:solidFill>
                <a:latin typeface="Museo Sans"/>
              </a:rPr>
              <a:t> родился в 1917 году в Турине, Италия. Это итальянский-американский ученый компьютерщик, в настоящее время почетный профессор по электротехнике и компьютерным наукам в Массачусетском технологическом институте. </a:t>
            </a:r>
            <a:r>
              <a:rPr lang="ru-RU" dirty="0" err="1">
                <a:solidFill>
                  <a:srgbClr val="000000"/>
                </a:solidFill>
                <a:latin typeface="Museo Sans"/>
              </a:rPr>
              <a:t>Фано</a:t>
            </a:r>
            <a:r>
              <a:rPr lang="ru-RU" dirty="0">
                <a:solidFill>
                  <a:srgbClr val="000000"/>
                </a:solidFill>
                <a:latin typeface="Museo Sans"/>
              </a:rPr>
              <a:t> известен главным образом по его работам в теории информации.</a:t>
            </a:r>
            <a:endParaRPr lang="en-US" dirty="0"/>
          </a:p>
        </p:txBody>
      </p:sp>
      <p:pic>
        <p:nvPicPr>
          <p:cNvPr id="2054" name="Picture 6" descr="ÐÐ¾ÑÐ¾Ð¶ÐµÐµ Ð¸Ð·Ð¾Ð±ÑÐ°Ð¶ÐµÐ½Ð¸Ðµ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23552"/>
            <a:ext cx="2160240" cy="2966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278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618"/>
            <a:ext cx="8229600" cy="1143000"/>
          </a:xfrm>
        </p:spPr>
        <p:txBody>
          <a:bodyPr/>
          <a:lstStyle/>
          <a:p>
            <a:r>
              <a:rPr lang="ru-RU" b="1" i="1" dirty="0"/>
              <a:t>Метод Шеннона-</a:t>
            </a:r>
            <a:r>
              <a:rPr lang="ru-RU" b="1" i="1" dirty="0" err="1"/>
              <a:t>Фано</a:t>
            </a:r>
            <a:r>
              <a:rPr lang="ru-RU" b="1" i="1" dirty="0"/>
              <a:t> 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340768"/>
            <a:ext cx="9144000" cy="49685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3600" dirty="0"/>
              <a:t>Пусть дан алфавит, состоящий всего из 4 символов: </a:t>
            </a:r>
            <a:r>
              <a:rPr lang="ru-RU" sz="3600" b="1" dirty="0"/>
              <a:t>a, b, c </a:t>
            </a:r>
            <a:r>
              <a:rPr lang="ru-RU" sz="3600" dirty="0"/>
              <a:t>и </a:t>
            </a:r>
            <a:r>
              <a:rPr lang="ru-RU" sz="3600" b="1" dirty="0"/>
              <a:t>d</a:t>
            </a:r>
            <a:r>
              <a:rPr lang="ru-RU" sz="3600" dirty="0"/>
              <a:t>. </a:t>
            </a:r>
          </a:p>
          <a:p>
            <a:pPr>
              <a:buNone/>
            </a:pPr>
            <a:r>
              <a:rPr lang="ru-RU" sz="3600" dirty="0"/>
              <a:t>Тогда для кодирования каждого символа достаточно 2 бит.   </a:t>
            </a:r>
          </a:p>
          <a:p>
            <a:pPr>
              <a:buNone/>
            </a:pPr>
            <a:r>
              <a:rPr lang="ru-RU" sz="3600" dirty="0"/>
              <a:t>Например: </a:t>
            </a:r>
          </a:p>
          <a:p>
            <a:pPr>
              <a:buNone/>
            </a:pPr>
            <a:r>
              <a:rPr lang="ru-RU" sz="3600" dirty="0"/>
              <a:t>		</a:t>
            </a:r>
            <a:r>
              <a:rPr lang="ru-RU" sz="3600" b="1" dirty="0"/>
              <a:t>a – 00, 	b – 01, 	c – 10, 	d – 11</a:t>
            </a:r>
            <a:r>
              <a:rPr lang="ru-RU" sz="3600" dirty="0"/>
              <a:t>. </a:t>
            </a:r>
          </a:p>
          <a:p>
            <a:pPr>
              <a:buNone/>
            </a:pPr>
            <a:r>
              <a:rPr lang="ru-RU" sz="3600" dirty="0"/>
              <a:t>Таким образом сообщение </a:t>
            </a:r>
            <a:r>
              <a:rPr lang="ru-RU" sz="3600" b="1" dirty="0" err="1"/>
              <a:t>ababcaacdb</a:t>
            </a:r>
            <a:r>
              <a:rPr lang="ru-RU" sz="3600" dirty="0"/>
              <a:t> будет закодировано 20 битами.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836712"/>
          </a:xfrm>
        </p:spPr>
        <p:txBody>
          <a:bodyPr/>
          <a:lstStyle/>
          <a:p>
            <a:r>
              <a:rPr lang="ru-RU" b="1" i="1" dirty="0"/>
              <a:t>Метод </a:t>
            </a:r>
            <a:r>
              <a:rPr lang="ru-RU" b="1" i="1" dirty="0" err="1"/>
              <a:t>Шеннона-Фано</a:t>
            </a:r>
            <a:r>
              <a:rPr lang="ru-RU" dirty="0"/>
              <a:t> 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832648"/>
          </a:xfrm>
        </p:spPr>
        <p:txBody>
          <a:bodyPr/>
          <a:lstStyle/>
          <a:p>
            <a:pPr>
              <a:buNone/>
            </a:pPr>
            <a:r>
              <a:rPr lang="ru-RU" dirty="0"/>
              <a:t>По сообщению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			</a:t>
            </a:r>
          </a:p>
          <a:p>
            <a:pPr>
              <a:buNone/>
            </a:pPr>
            <a:r>
              <a:rPr lang="en-US" dirty="0"/>
              <a:t>				</a:t>
            </a:r>
            <a:r>
              <a:rPr lang="ru-RU" b="1" dirty="0" err="1"/>
              <a:t>ababcaacdb</a:t>
            </a:r>
            <a:r>
              <a:rPr lang="ru-RU" dirty="0"/>
              <a:t> </a:t>
            </a:r>
            <a:endParaRPr lang="en-US" dirty="0"/>
          </a:p>
          <a:p>
            <a:pPr>
              <a:buNone/>
            </a:pPr>
            <a:r>
              <a:rPr lang="ru-RU" dirty="0"/>
              <a:t>подсчитаем, какую долю в нем занимает каждый символ</a:t>
            </a:r>
            <a:r>
              <a:rPr lang="en-US" dirty="0"/>
              <a:t>,</a:t>
            </a:r>
            <a:r>
              <a:rPr lang="ru-RU" dirty="0"/>
              <a:t> сведем результаты в таблицу и упорядочим эту таблицу по убыванию долей: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159974"/>
              </p:ext>
            </p:extLst>
          </p:nvPr>
        </p:nvGraphicFramePr>
        <p:xfrm>
          <a:off x="323527" y="4581128"/>
          <a:ext cx="8496945" cy="1872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9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9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6790">
                <a:tc>
                  <a:txBody>
                    <a:bodyPr/>
                    <a:lstStyle/>
                    <a:p>
                      <a:pPr algn="ctr"/>
                      <a:r>
                        <a:rPr lang="ru-RU" sz="2400" b="1" i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Символ</a:t>
                      </a:r>
                      <a:endParaRPr lang="ru-RU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5418">
                <a:tc>
                  <a:txBody>
                    <a:bodyPr/>
                    <a:lstStyle/>
                    <a:p>
                      <a:pPr algn="ctr"/>
                      <a:r>
                        <a:rPr lang="ru-RU" sz="24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Доля</a:t>
                      </a:r>
                      <a:r>
                        <a:rPr lang="en-US" sz="24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 тексте</a:t>
                      </a:r>
                      <a:endParaRPr lang="ru-RU" sz="2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4/10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3/10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2/10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1/10</a:t>
                      </a:r>
                      <a:endParaRPr lang="ru-R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850106"/>
          </a:xfrm>
        </p:spPr>
        <p:txBody>
          <a:bodyPr/>
          <a:lstStyle/>
          <a:p>
            <a:r>
              <a:rPr lang="ru-RU" b="1" i="1" dirty="0"/>
              <a:t>Метод </a:t>
            </a:r>
            <a:r>
              <a:rPr lang="ru-RU" b="1" i="1" dirty="0" err="1"/>
              <a:t>Шеннона-Фано</a:t>
            </a:r>
            <a:endParaRPr lang="ru-RU" b="1" i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904656"/>
          </a:xfrm>
        </p:spPr>
        <p:txBody>
          <a:bodyPr/>
          <a:lstStyle/>
          <a:p>
            <a:pPr>
              <a:buNone/>
            </a:pPr>
            <a:r>
              <a:rPr lang="ru-RU" dirty="0"/>
              <a:t>Разделим таблицу на две части так, чтобы суммы долей в каждой части отличались бы как можно меньше. </a:t>
            </a:r>
            <a:endParaRPr lang="en-US" dirty="0"/>
          </a:p>
          <a:p>
            <a:pPr>
              <a:buNone/>
            </a:pPr>
            <a:r>
              <a:rPr lang="ru-RU" dirty="0"/>
              <a:t>Пусть коды символов первой части начинаются с </a:t>
            </a:r>
            <a:r>
              <a:rPr lang="ru-RU" b="1" dirty="0"/>
              <a:t>0</a:t>
            </a:r>
            <a:r>
              <a:rPr lang="ru-RU" dirty="0"/>
              <a:t>, а второй – с </a:t>
            </a:r>
            <a:r>
              <a:rPr lang="ru-RU" b="1" dirty="0"/>
              <a:t>1</a:t>
            </a:r>
            <a:r>
              <a:rPr lang="ru-RU" dirty="0"/>
              <a:t>: </a:t>
            </a:r>
            <a:endParaRPr lang="en-US" dirty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42366"/>
              </p:ext>
            </p:extLst>
          </p:nvPr>
        </p:nvGraphicFramePr>
        <p:xfrm>
          <a:off x="467543" y="3356992"/>
          <a:ext cx="8424935" cy="3240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4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608">
                <a:tc>
                  <a:txBody>
                    <a:bodyPr/>
                    <a:lstStyle/>
                    <a:p>
                      <a:pPr algn="ctr"/>
                      <a:r>
                        <a:rPr lang="ru-RU" sz="1800" b="1" i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Символ</a:t>
                      </a:r>
                      <a:endParaRPr lang="ru-RU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766">
                <a:tc>
                  <a:txBody>
                    <a:bodyPr/>
                    <a:lstStyle/>
                    <a:p>
                      <a:pPr algn="ctr"/>
                      <a:r>
                        <a:rPr lang="ru-RU" sz="18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Доля</a:t>
                      </a:r>
                      <a:r>
                        <a:rPr lang="en-US" sz="18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 тексте</a:t>
                      </a:r>
                      <a:endParaRPr lang="ru-RU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4/10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/10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/10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608">
                <a:tc>
                  <a:txBody>
                    <a:bodyPr/>
                    <a:lstStyle/>
                    <a:p>
                      <a:pPr algn="ctr"/>
                      <a:r>
                        <a:rPr lang="ru-RU" sz="18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Сумма</a:t>
                      </a:r>
                      <a:r>
                        <a:rPr lang="en-US" sz="18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долей </a:t>
                      </a:r>
                      <a:endParaRPr lang="ru-RU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4/10 </a:t>
                      </a:r>
                      <a:endParaRPr lang="ru-RU" sz="2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6/10 </a:t>
                      </a:r>
                      <a:endParaRPr lang="ru-RU" sz="2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3377">
                <a:tc>
                  <a:txBody>
                    <a:bodyPr/>
                    <a:lstStyle/>
                    <a:p>
                      <a:pPr algn="ctr"/>
                      <a:r>
                        <a:rPr lang="ru-RU" sz="18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Первая</a:t>
                      </a:r>
                      <a:r>
                        <a:rPr lang="en-US" sz="18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цифра кода</a:t>
                      </a:r>
                      <a:endParaRPr lang="ru-RU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ru-RU" sz="28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ru-RU" sz="2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778098"/>
          </a:xfrm>
        </p:spPr>
        <p:txBody>
          <a:bodyPr/>
          <a:lstStyle/>
          <a:p>
            <a:r>
              <a:rPr lang="ru-RU" b="1" i="1" dirty="0"/>
              <a:t>Метод </a:t>
            </a:r>
            <a:r>
              <a:rPr lang="ru-RU" b="1" i="1" dirty="0" err="1"/>
              <a:t>Шеннона-Фано</a:t>
            </a:r>
            <a:endParaRPr lang="ru-RU" b="1" i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08720"/>
            <a:ext cx="8712968" cy="5760640"/>
          </a:xfrm>
        </p:spPr>
        <p:txBody>
          <a:bodyPr/>
          <a:lstStyle/>
          <a:p>
            <a:pPr>
              <a:buNone/>
            </a:pPr>
            <a:r>
              <a:rPr lang="ru-RU" dirty="0"/>
              <a:t>Повторим процедуру для тех частей таблицы, в которых более одного символа: </a:t>
            </a:r>
            <a:endParaRPr lang="en-US" dirty="0"/>
          </a:p>
          <a:p>
            <a:pPr>
              <a:buNone/>
            </a:pP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978"/>
              </p:ext>
            </p:extLst>
          </p:nvPr>
        </p:nvGraphicFramePr>
        <p:xfrm>
          <a:off x="395536" y="2132856"/>
          <a:ext cx="8373615" cy="4536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4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5429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Символ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616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Доля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 тексте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4/10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/10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/10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/10</a:t>
                      </a:r>
                      <a:endParaRPr lang="ru-R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616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Сумма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долей 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4/10 </a:t>
                      </a:r>
                      <a:endParaRPr lang="ru-RU" sz="2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6/10 </a:t>
                      </a:r>
                      <a:endParaRPr lang="ru-RU" sz="2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616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Первая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цифра кода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ru-RU" sz="28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ru-RU" sz="2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610">
                <a:tc>
                  <a:txBody>
                    <a:bodyPr/>
                    <a:lstStyle/>
                    <a:p>
                      <a:pPr algn="ctr"/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3/10</a:t>
                      </a:r>
                      <a:endParaRPr lang="ru-RU" sz="2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3/10</a:t>
                      </a:r>
                      <a:endParaRPr lang="ru-RU" sz="2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0616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Вторая цифра кода 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ru-RU" sz="28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ru-RU" sz="2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778098"/>
          </a:xfrm>
        </p:spPr>
        <p:txBody>
          <a:bodyPr/>
          <a:lstStyle/>
          <a:p>
            <a:r>
              <a:rPr lang="ru-RU" b="1" i="1" dirty="0"/>
              <a:t>Метод </a:t>
            </a:r>
            <a:r>
              <a:rPr lang="ru-RU" b="1" i="1" dirty="0" err="1"/>
              <a:t>Шеннона-Фано</a:t>
            </a:r>
            <a:endParaRPr lang="ru-RU" b="1" i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949280"/>
          </a:xfrm>
        </p:spPr>
        <p:txBody>
          <a:bodyPr/>
          <a:lstStyle/>
          <a:p>
            <a:pPr>
              <a:buNone/>
            </a:pPr>
            <a:r>
              <a:rPr lang="en-US" dirty="0"/>
              <a:t> 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149720"/>
              </p:ext>
            </p:extLst>
          </p:nvPr>
        </p:nvGraphicFramePr>
        <p:xfrm>
          <a:off x="323527" y="1052737"/>
          <a:ext cx="8640960" cy="5616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4350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Символ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80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Доля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 тексте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4/10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/10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/10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/10</a:t>
                      </a:r>
                      <a:endParaRPr lang="ru-R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508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Сумма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долей 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4/10 </a:t>
                      </a:r>
                      <a:endParaRPr lang="ru-RU" sz="22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6/10 </a:t>
                      </a:r>
                      <a:endParaRPr lang="ru-RU" sz="2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3508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Первая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цифра кода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ru-RU" sz="2800" b="1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ru-RU" sz="2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080">
                <a:tc>
                  <a:txBody>
                    <a:bodyPr/>
                    <a:lstStyle/>
                    <a:p>
                      <a:pPr algn="ctr"/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3/10</a:t>
                      </a:r>
                      <a:endParaRPr lang="ru-RU" sz="2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3/10</a:t>
                      </a:r>
                      <a:endParaRPr lang="ru-RU" sz="2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3508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Вторая цифра кода 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ru-RU" sz="28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ru-RU" sz="2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080">
                <a:tc>
                  <a:txBody>
                    <a:bodyPr/>
                    <a:lstStyle/>
                    <a:p>
                      <a:pPr algn="ctr"/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2/10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1/10</a:t>
                      </a:r>
                      <a:endParaRPr lang="ru-R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73508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Третья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цифра кода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ru-R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ru-R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850106"/>
          </a:xfrm>
        </p:spPr>
        <p:txBody>
          <a:bodyPr/>
          <a:lstStyle/>
          <a:p>
            <a:r>
              <a:rPr lang="ru-RU" b="1" i="1" dirty="0"/>
              <a:t>Метод </a:t>
            </a:r>
            <a:r>
              <a:rPr lang="ru-RU" b="1" i="1" dirty="0" err="1"/>
              <a:t>Шеннона-Фано</a:t>
            </a:r>
            <a:endParaRPr lang="ru-RU" b="1" i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980728"/>
            <a:ext cx="8820472" cy="5544616"/>
          </a:xfrm>
        </p:spPr>
        <p:txBody>
          <a:bodyPr/>
          <a:lstStyle/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Таким образом, для всех символов алфавита получены новые коды: </a:t>
            </a:r>
          </a:p>
          <a:p>
            <a:pPr lvl="3">
              <a:buNone/>
            </a:pPr>
            <a:r>
              <a:rPr lang="ru-RU" sz="2800" b="1" dirty="0"/>
              <a:t>a – 0, 	</a:t>
            </a:r>
          </a:p>
          <a:p>
            <a:pPr lvl="3">
              <a:buNone/>
            </a:pPr>
            <a:r>
              <a:rPr lang="ru-RU" sz="2800" b="1" dirty="0"/>
              <a:t>b – 10, 	</a:t>
            </a:r>
          </a:p>
          <a:p>
            <a:pPr lvl="3">
              <a:buNone/>
            </a:pPr>
            <a:r>
              <a:rPr lang="ru-RU" sz="2800" b="1" dirty="0"/>
              <a:t>c – 110, 	</a:t>
            </a:r>
          </a:p>
          <a:p>
            <a:pPr lvl="3">
              <a:buNone/>
            </a:pPr>
            <a:r>
              <a:rPr lang="ru-RU" sz="2800" b="1" dirty="0"/>
              <a:t>d – 111 </a:t>
            </a:r>
          </a:p>
          <a:p>
            <a:pPr>
              <a:buNone/>
            </a:pPr>
            <a:r>
              <a:rPr lang="ru-RU" dirty="0"/>
              <a:t>Следовательно, для исходного сообщения </a:t>
            </a:r>
            <a:r>
              <a:rPr lang="ru-RU" b="1" dirty="0" err="1"/>
              <a:t>ababcaacdb</a:t>
            </a:r>
            <a:r>
              <a:rPr lang="ru-RU" dirty="0"/>
              <a:t> потребует 19 бит.</a:t>
            </a:r>
            <a:endParaRPr lang="en-US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9650"/>
            <a:ext cx="8229600" cy="745054"/>
          </a:xfrm>
        </p:spPr>
        <p:txBody>
          <a:bodyPr>
            <a:normAutofit fontScale="90000"/>
          </a:bodyPr>
          <a:lstStyle/>
          <a:p>
            <a:r>
              <a:rPr lang="ru-RU" b="1" i="1" dirty="0"/>
              <a:t>Метод Шеннона-</a:t>
            </a:r>
            <a:r>
              <a:rPr lang="ru-RU" b="1" i="1" dirty="0" err="1"/>
              <a:t>Фано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764704"/>
            <a:ext cx="8928992" cy="6093296"/>
          </a:xfrm>
        </p:spPr>
        <p:txBody>
          <a:bodyPr/>
          <a:lstStyle/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Построим код Шеннона-</a:t>
            </a:r>
            <a:r>
              <a:rPr lang="ru-RU" dirty="0" err="1">
                <a:solidFill>
                  <a:prstClr val="black"/>
                </a:solidFill>
              </a:rPr>
              <a:t>Фано</a:t>
            </a:r>
            <a:r>
              <a:rPr lang="ru-RU" dirty="0">
                <a:solidFill>
                  <a:prstClr val="black"/>
                </a:solidFill>
              </a:rPr>
              <a:t> для фразы:</a:t>
            </a:r>
          </a:p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	</a:t>
            </a:r>
            <a:r>
              <a:rPr lang="en-US" dirty="0">
                <a:solidFill>
                  <a:prstClr val="black"/>
                </a:solidFill>
              </a:rPr>
              <a:t>“</a:t>
            </a:r>
            <a:r>
              <a:rPr lang="ru-RU" b="1" dirty="0">
                <a:solidFill>
                  <a:prstClr val="black"/>
                </a:solidFill>
              </a:rPr>
              <a:t>КОЛ  ОКОЛО  КОЛОКОЛА</a:t>
            </a:r>
            <a:r>
              <a:rPr lang="en-US" dirty="0">
                <a:solidFill>
                  <a:prstClr val="black"/>
                </a:solidFill>
              </a:rPr>
              <a:t>”</a:t>
            </a:r>
            <a:endParaRPr lang="ru-RU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Фраза состоит из 18 символов.</a:t>
            </a:r>
          </a:p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Алфавит этой фразы состоит всего из 5 символов: 	</a:t>
            </a:r>
            <a:r>
              <a:rPr lang="ru-RU" b="1" dirty="0">
                <a:solidFill>
                  <a:prstClr val="black"/>
                </a:solidFill>
              </a:rPr>
              <a:t>К, Л, О, </a:t>
            </a:r>
            <a:r>
              <a:rPr lang="en-US" b="1" dirty="0">
                <a:solidFill>
                  <a:prstClr val="black"/>
                </a:solidFill>
              </a:rPr>
              <a:t>‘</a:t>
            </a:r>
            <a:r>
              <a:rPr lang="ru-RU" b="1" dirty="0">
                <a:solidFill>
                  <a:prstClr val="black"/>
                </a:solidFill>
              </a:rPr>
              <a:t>  </a:t>
            </a:r>
            <a:r>
              <a:rPr lang="en-US" b="1" dirty="0">
                <a:solidFill>
                  <a:prstClr val="black"/>
                </a:solidFill>
              </a:rPr>
              <a:t>’</a:t>
            </a:r>
            <a:r>
              <a:rPr lang="ru-RU" b="1" dirty="0">
                <a:solidFill>
                  <a:prstClr val="black"/>
                </a:solidFill>
              </a:rPr>
              <a:t> </a:t>
            </a:r>
            <a:r>
              <a:rPr lang="ru-RU" dirty="0">
                <a:solidFill>
                  <a:prstClr val="black"/>
                </a:solidFill>
              </a:rPr>
              <a:t>и </a:t>
            </a:r>
            <a:r>
              <a:rPr lang="ru-RU" b="1" dirty="0">
                <a:solidFill>
                  <a:prstClr val="black"/>
                </a:solidFill>
              </a:rPr>
              <a:t>А</a:t>
            </a:r>
          </a:p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Частота каждого символа приведена в таблице:</a:t>
            </a:r>
          </a:p>
          <a:p>
            <a:pPr marL="0" lvl="0" indent="0">
              <a:buNone/>
            </a:pPr>
            <a:endParaRPr lang="en-US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29616"/>
              </p:ext>
            </p:extLst>
          </p:nvPr>
        </p:nvGraphicFramePr>
        <p:xfrm>
          <a:off x="0" y="4725144"/>
          <a:ext cx="9144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03034423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7463333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4630753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8753756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2973011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78279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b="0" i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Символ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О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К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Л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 ‘</a:t>
                      </a:r>
                      <a:r>
                        <a:rPr lang="ru-RU" sz="3200" dirty="0"/>
                        <a:t>   </a:t>
                      </a:r>
                      <a:r>
                        <a:rPr lang="en-US" sz="3200" dirty="0"/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А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683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Доля</a:t>
                      </a: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3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 тексте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7/18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4/18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4/18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2/18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1/18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111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144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778098"/>
          </a:xfrm>
        </p:spPr>
        <p:txBody>
          <a:bodyPr/>
          <a:lstStyle/>
          <a:p>
            <a:r>
              <a:rPr lang="ru-RU" b="1" i="1" dirty="0"/>
              <a:t>Метод </a:t>
            </a:r>
            <a:r>
              <a:rPr lang="ru-RU" b="1" i="1" dirty="0" err="1"/>
              <a:t>Шеннона-Фано</a:t>
            </a:r>
            <a:endParaRPr lang="ru-RU" b="1" i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778098"/>
            <a:ext cx="8784976" cy="6079902"/>
          </a:xfrm>
        </p:spPr>
        <p:txBody>
          <a:bodyPr/>
          <a:lstStyle/>
          <a:p>
            <a:pPr>
              <a:buNone/>
            </a:pPr>
            <a:r>
              <a:rPr lang="en-US" dirty="0"/>
              <a:t> 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337326"/>
              </p:ext>
            </p:extLst>
          </p:nvPr>
        </p:nvGraphicFramePr>
        <p:xfrm>
          <a:off x="179510" y="1576353"/>
          <a:ext cx="8784978" cy="5151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4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3817916418"/>
                    </a:ext>
                  </a:extLst>
                </a:gridCol>
              </a:tblGrid>
              <a:tr h="519121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Символ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‘     ’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710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Доля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 тексте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ru-RU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lang="en-US" sz="22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ru-RU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/1</a:t>
                      </a:r>
                      <a:r>
                        <a:rPr kumimoji="0" lang="en-US" sz="2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kumimoji="0" lang="ru-RU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ru-R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321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Сумма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долей </a:t>
                      </a:r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11/18</a:t>
                      </a:r>
                      <a:endParaRPr lang="ru-RU" sz="2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7/18</a:t>
                      </a:r>
                      <a:endParaRPr lang="ru-RU" sz="2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321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Первая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цифра кода</a:t>
                      </a:r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ru-RU" sz="2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ru-RU" sz="2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71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7/18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4/18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4/18</a:t>
                      </a:r>
                      <a:endParaRPr lang="ru-RU" sz="2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3/18</a:t>
                      </a:r>
                      <a:endParaRPr lang="ru-RU" sz="2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321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Вторая цифра кода 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ru-R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ru-R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ru-RU" sz="28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ru-RU" sz="2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71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2/18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1</a:t>
                      </a:r>
                      <a:r>
                        <a:rPr lang="en-US" sz="2200" dirty="0"/>
                        <a:t>/18</a:t>
                      </a:r>
                      <a:endParaRPr lang="ru-R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0321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Третья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цифра кода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  <a:endParaRPr lang="ru-R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  <a:endParaRPr lang="ru-R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0" y="635046"/>
            <a:ext cx="9143999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ru-RU" sz="2500" dirty="0">
                <a:solidFill>
                  <a:prstClr val="black"/>
                </a:solidFill>
              </a:rPr>
              <a:t>Построение кода Шеннона-</a:t>
            </a:r>
            <a:r>
              <a:rPr lang="ru-RU" sz="2500" dirty="0" err="1">
                <a:solidFill>
                  <a:prstClr val="black"/>
                </a:solidFill>
              </a:rPr>
              <a:t>Фано</a:t>
            </a:r>
            <a:r>
              <a:rPr lang="ru-RU" sz="2500" dirty="0">
                <a:solidFill>
                  <a:prstClr val="black"/>
                </a:solidFill>
              </a:rPr>
              <a:t> для фразы:</a:t>
            </a:r>
          </a:p>
          <a:p>
            <a:pPr lvl="0">
              <a:spcBef>
                <a:spcPct val="20000"/>
              </a:spcBef>
            </a:pPr>
            <a:r>
              <a:rPr lang="ru-RU" sz="2500" dirty="0">
                <a:solidFill>
                  <a:prstClr val="black"/>
                </a:solidFill>
              </a:rPr>
              <a:t>	</a:t>
            </a:r>
            <a:r>
              <a:rPr lang="en-US" sz="2500" dirty="0">
                <a:solidFill>
                  <a:prstClr val="black"/>
                </a:solidFill>
              </a:rPr>
              <a:t>“</a:t>
            </a:r>
            <a:r>
              <a:rPr lang="ru-RU" sz="2500" b="1" dirty="0">
                <a:solidFill>
                  <a:prstClr val="black"/>
                </a:solidFill>
              </a:rPr>
              <a:t>КОЛ  ОКОЛО  КОЛОКОЛА</a:t>
            </a:r>
            <a:r>
              <a:rPr lang="en-US" sz="2500" dirty="0">
                <a:solidFill>
                  <a:prstClr val="black"/>
                </a:solidFill>
              </a:rPr>
              <a:t>”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827095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850106"/>
          </a:xfrm>
        </p:spPr>
        <p:txBody>
          <a:bodyPr/>
          <a:lstStyle/>
          <a:p>
            <a:r>
              <a:rPr lang="ru-RU" b="1" i="1" dirty="0"/>
              <a:t>Метод </a:t>
            </a:r>
            <a:r>
              <a:rPr lang="ru-RU" b="1" i="1" dirty="0" err="1"/>
              <a:t>Шеннона-Фано</a:t>
            </a:r>
            <a:endParaRPr lang="ru-RU" b="1" i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980728"/>
            <a:ext cx="8661648" cy="576064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/>
              <a:t>Для всех символов алфавита получены коды: 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ru-RU" b="1" dirty="0"/>
              <a:t>О – 00,  	К – 01,    Л – 10,    </a:t>
            </a:r>
            <a:r>
              <a:rPr lang="en-US" b="1" dirty="0"/>
              <a:t>‘   ’</a:t>
            </a:r>
            <a:r>
              <a:rPr lang="ru-RU" b="1" dirty="0"/>
              <a:t> – 11</a:t>
            </a:r>
            <a:r>
              <a:rPr lang="en-US" b="1" dirty="0"/>
              <a:t>0</a:t>
            </a:r>
            <a:r>
              <a:rPr lang="ru-RU" b="1" dirty="0"/>
              <a:t>,    А – 111</a:t>
            </a:r>
          </a:p>
          <a:p>
            <a:pPr>
              <a:buNone/>
            </a:pPr>
            <a:endParaRPr lang="en-US" b="1" dirty="0"/>
          </a:p>
          <a:p>
            <a:pPr marL="0" lvl="0" indent="0">
              <a:buNone/>
            </a:pPr>
            <a:r>
              <a:rPr lang="ru-RU" dirty="0">
                <a:solidFill>
                  <a:prstClr val="black"/>
                </a:solidFill>
              </a:rPr>
              <a:t>Подсчитаем, сколько двоичных символов окажется в сообщении </a:t>
            </a:r>
            <a:r>
              <a:rPr lang="ru-RU" sz="2800" dirty="0">
                <a:solidFill>
                  <a:prstClr val="black"/>
                </a:solidFill>
              </a:rPr>
              <a:t>«</a:t>
            </a:r>
            <a:r>
              <a:rPr lang="ru-RU" sz="2800" b="1" dirty="0">
                <a:solidFill>
                  <a:prstClr val="black"/>
                </a:solidFill>
              </a:rPr>
              <a:t>КОЛ  ОКОЛО  КОЛОКОЛА</a:t>
            </a:r>
            <a:r>
              <a:rPr lang="ru-RU" sz="2800" dirty="0">
                <a:solidFill>
                  <a:prstClr val="black"/>
                </a:solidFill>
              </a:rPr>
              <a:t>»:</a:t>
            </a:r>
            <a:endParaRPr lang="en-US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dirty="0">
                <a:solidFill>
                  <a:prstClr val="black"/>
                </a:solidFill>
              </a:rPr>
              <a:t>	</a:t>
            </a:r>
            <a:r>
              <a:rPr lang="en-US" b="1" dirty="0">
                <a:solidFill>
                  <a:prstClr val="black"/>
                </a:solidFill>
              </a:rPr>
              <a:t>2</a:t>
            </a:r>
            <a:r>
              <a:rPr lang="en-US" b="1" dirty="0">
                <a:sym typeface="Symbol"/>
              </a:rPr>
              <a:t>  </a:t>
            </a:r>
            <a:r>
              <a:rPr lang="ru-RU" b="1" dirty="0">
                <a:solidFill>
                  <a:prstClr val="black"/>
                </a:solidFill>
              </a:rPr>
              <a:t>7  +  2</a:t>
            </a:r>
            <a:r>
              <a:rPr lang="en-US" b="1" dirty="0">
                <a:sym typeface="Symbol"/>
              </a:rPr>
              <a:t>  </a:t>
            </a:r>
            <a:r>
              <a:rPr lang="ru-RU" b="1" dirty="0">
                <a:solidFill>
                  <a:prstClr val="black"/>
                </a:solidFill>
              </a:rPr>
              <a:t>4  +  </a:t>
            </a:r>
            <a:r>
              <a:rPr lang="en-US" b="1" dirty="0">
                <a:solidFill>
                  <a:prstClr val="black"/>
                </a:solidFill>
              </a:rPr>
              <a:t>2</a:t>
            </a:r>
            <a:r>
              <a:rPr lang="en-US" b="1" dirty="0">
                <a:sym typeface="Symbol"/>
              </a:rPr>
              <a:t>  </a:t>
            </a:r>
            <a:r>
              <a:rPr lang="ru-RU" b="1" dirty="0">
                <a:solidFill>
                  <a:prstClr val="black"/>
                </a:solidFill>
              </a:rPr>
              <a:t>4  +  </a:t>
            </a:r>
            <a:r>
              <a:rPr lang="en-US" b="1" dirty="0">
                <a:solidFill>
                  <a:prstClr val="black"/>
                </a:solidFill>
              </a:rPr>
              <a:t>3</a:t>
            </a:r>
            <a:r>
              <a:rPr lang="en-US" b="1" dirty="0">
                <a:sym typeface="Symbol"/>
              </a:rPr>
              <a:t>  </a:t>
            </a:r>
            <a:r>
              <a:rPr lang="ru-RU" b="1" dirty="0">
                <a:solidFill>
                  <a:prstClr val="black"/>
                </a:solidFill>
              </a:rPr>
              <a:t>2  + </a:t>
            </a:r>
            <a:r>
              <a:rPr lang="en-US" b="1" dirty="0">
                <a:solidFill>
                  <a:prstClr val="black"/>
                </a:solidFill>
              </a:rPr>
              <a:t>3</a:t>
            </a:r>
            <a:r>
              <a:rPr lang="en-US" b="1" dirty="0">
                <a:sym typeface="Symbol"/>
              </a:rPr>
              <a:t>  </a:t>
            </a:r>
            <a:r>
              <a:rPr lang="ru-RU" b="1" dirty="0">
                <a:solidFill>
                  <a:prstClr val="black"/>
                </a:solidFill>
              </a:rPr>
              <a:t>1  =  39</a:t>
            </a:r>
            <a:endParaRPr lang="en-US" b="1" dirty="0">
              <a:solidFill>
                <a:prstClr val="black"/>
              </a:solidFill>
            </a:endParaRPr>
          </a:p>
          <a:p>
            <a:pPr>
              <a:buNone/>
            </a:pPr>
            <a:endParaRPr lang="ru-RU" b="1" dirty="0"/>
          </a:p>
          <a:p>
            <a:pPr marL="0" indent="0">
              <a:buNone/>
            </a:pPr>
            <a:r>
              <a:rPr lang="ru-RU" dirty="0"/>
              <a:t>Следовательно, для кода Шеннона-</a:t>
            </a:r>
            <a:r>
              <a:rPr lang="ru-RU" dirty="0" err="1"/>
              <a:t>Фано</a:t>
            </a:r>
            <a:r>
              <a:rPr lang="ru-RU" dirty="0"/>
              <a:t> исходного сообщения   </a:t>
            </a:r>
            <a:r>
              <a:rPr lang="en-US" sz="2800" dirty="0">
                <a:solidFill>
                  <a:prstClr val="black"/>
                </a:solidFill>
              </a:rPr>
              <a:t>“</a:t>
            </a:r>
            <a:r>
              <a:rPr lang="ru-RU" sz="2800" b="1" dirty="0">
                <a:solidFill>
                  <a:prstClr val="black"/>
                </a:solidFill>
              </a:rPr>
              <a:t>КОЛ  ОКОЛО  КОЛОКОЛА</a:t>
            </a:r>
            <a:r>
              <a:rPr lang="en-US" sz="2800" dirty="0">
                <a:solidFill>
                  <a:prstClr val="black"/>
                </a:solidFill>
              </a:rPr>
              <a:t>” </a:t>
            </a:r>
            <a:r>
              <a:rPr lang="ru-RU" sz="2800" dirty="0">
                <a:solidFill>
                  <a:prstClr val="black"/>
                </a:solidFill>
              </a:rPr>
              <a:t>  </a:t>
            </a:r>
            <a:r>
              <a:rPr lang="ru-RU" dirty="0"/>
              <a:t>потребуется  39 бит,  так же, как и для кода Хаффмана.</a:t>
            </a:r>
          </a:p>
          <a:p>
            <a:pPr marL="0" indent="0">
              <a:buNone/>
            </a:pPr>
            <a:r>
              <a:rPr lang="ru-RU" dirty="0">
                <a:solidFill>
                  <a:prstClr val="black"/>
                </a:solidFill>
              </a:rPr>
              <a:t>Информационная ёмкость и </a:t>
            </a:r>
            <a:r>
              <a:rPr lang="ru-RU" dirty="0"/>
              <a:t>избыточность кода имеют те же значения, что и для кода Хаффмана.</a:t>
            </a:r>
          </a:p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330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3600" b="1" i="1" dirty="0">
                <a:solidFill>
                  <a:srgbClr val="0070C0"/>
                </a:solidFill>
              </a:rPr>
              <a:t>Пятиминутка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868" y="682094"/>
            <a:ext cx="866662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Дано сообщение </a:t>
            </a:r>
            <a:r>
              <a:rPr lang="ru-RU" sz="2400" b="1" dirty="0"/>
              <a:t>“</a:t>
            </a:r>
            <a:r>
              <a:rPr lang="ru-RU" sz="2400" b="1" dirty="0" err="1">
                <a:solidFill>
                  <a:srgbClr val="FF0000"/>
                </a:solidFill>
              </a:rPr>
              <a:t>Do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 err="1">
                <a:solidFill>
                  <a:srgbClr val="FF0000"/>
                </a:solidFill>
              </a:rPr>
              <a:t>bats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 err="1">
                <a:solidFill>
                  <a:srgbClr val="FF0000"/>
                </a:solidFill>
              </a:rPr>
              <a:t>eat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 err="1">
                <a:solidFill>
                  <a:srgbClr val="FF0000"/>
                </a:solidFill>
              </a:rPr>
              <a:t>cats</a:t>
            </a:r>
            <a:r>
              <a:rPr lang="ru-RU" sz="2400" b="1" dirty="0"/>
              <a:t>”</a:t>
            </a:r>
            <a:endParaRPr lang="ru-RU" sz="2400" dirty="0"/>
          </a:p>
          <a:p>
            <a:pPr marL="457200" indent="-457200">
              <a:buAutoNum type="arabicPeriod"/>
            </a:pPr>
            <a:r>
              <a:rPr lang="ru-RU" sz="2000" dirty="0"/>
              <a:t>Сколько бит достаточно для кодирования каждой буквы, если считать что каждый символ  равновероятен? (формула Хартли)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2. Посчитать информационную ёмкость  этого сообщения (формула Шеннона)</a:t>
            </a:r>
          </a:p>
          <a:p>
            <a:endParaRPr lang="en-US" sz="2000" dirty="0"/>
          </a:p>
          <a:p>
            <a:pPr>
              <a:buNone/>
            </a:pPr>
            <a:endParaRPr lang="ru-RU" sz="2000" b="1"/>
          </a:p>
          <a:p>
            <a:pPr>
              <a:buNone/>
            </a:pPr>
            <a:r>
              <a:rPr lang="ru-RU" sz="2000" b="1"/>
              <a:t>3</a:t>
            </a:r>
            <a:r>
              <a:rPr lang="ru-RU" sz="2000" b="1" dirty="0"/>
              <a:t>. </a:t>
            </a:r>
            <a:r>
              <a:rPr lang="ru-RU" sz="2000" dirty="0"/>
              <a:t>Постройте коды букв этого сообщения методом Шеннона-</a:t>
            </a:r>
            <a:r>
              <a:rPr lang="ru-RU" sz="2000" dirty="0" err="1"/>
              <a:t>Фано</a:t>
            </a:r>
            <a:r>
              <a:rPr lang="ru-RU" sz="2000" dirty="0"/>
              <a:t>. </a:t>
            </a:r>
          </a:p>
          <a:p>
            <a:pPr>
              <a:buNone/>
            </a:pPr>
            <a:r>
              <a:rPr lang="ru-RU" sz="2000" dirty="0"/>
              <a:t>Посчитать относительную избыточность построенного кода</a:t>
            </a:r>
          </a:p>
          <a:p>
            <a:pPr>
              <a:buNone/>
            </a:pPr>
            <a:endParaRPr lang="ru-RU" sz="2000" b="1" dirty="0"/>
          </a:p>
          <a:p>
            <a:pPr>
              <a:buNone/>
            </a:pPr>
            <a:endParaRPr lang="ru-RU" sz="2000" b="1" dirty="0"/>
          </a:p>
          <a:p>
            <a:pPr>
              <a:buNone/>
            </a:pPr>
            <a:r>
              <a:rPr lang="ru-RU" sz="2000" b="1" dirty="0"/>
              <a:t>4. </a:t>
            </a:r>
            <a:r>
              <a:rPr lang="ru-RU" sz="2000" dirty="0"/>
              <a:t>Постройте коды букв этого сообщения методом Хаффмана.</a:t>
            </a:r>
            <a:endParaRPr lang="en-US" sz="2000" dirty="0"/>
          </a:p>
          <a:p>
            <a:r>
              <a:rPr lang="ru-RU" sz="2000" dirty="0"/>
              <a:t>Посчитать относительную избыточность построенного кода.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3456</TotalTime>
  <Words>3422</Words>
  <Application>Microsoft Office PowerPoint</Application>
  <PresentationFormat>Экран (4:3)</PresentationFormat>
  <Paragraphs>494</Paragraphs>
  <Slides>42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9" baseType="lpstr">
      <vt:lpstr>Arial</vt:lpstr>
      <vt:lpstr>Calibri</vt:lpstr>
      <vt:lpstr>Cambria Math</vt:lpstr>
      <vt:lpstr>Museo Sans</vt:lpstr>
      <vt:lpstr>Open Sans</vt:lpstr>
      <vt:lpstr>Wingdings</vt:lpstr>
      <vt:lpstr>Тема Office</vt:lpstr>
      <vt:lpstr>Информационная модель Шеннона Кодирование информации</vt:lpstr>
      <vt:lpstr>Информационная модель Шеннона</vt:lpstr>
      <vt:lpstr>Количество информации</vt:lpstr>
      <vt:lpstr>Теорема об аддитивности информации</vt:lpstr>
      <vt:lpstr>Пример </vt:lpstr>
      <vt:lpstr>Формулы Шеннона, Хартли</vt:lpstr>
      <vt:lpstr>Частота употребления букв русского языка</vt:lpstr>
      <vt:lpstr>Формула Хартли</vt:lpstr>
      <vt:lpstr>Формула Шеннона</vt:lpstr>
      <vt:lpstr>Примеры</vt:lpstr>
      <vt:lpstr>Понятие кода</vt:lpstr>
      <vt:lpstr>4 типа кодирования</vt:lpstr>
      <vt:lpstr>Пример</vt:lpstr>
      <vt:lpstr>Префиксный код</vt:lpstr>
      <vt:lpstr>Критерии качества кодирования</vt:lpstr>
      <vt:lpstr>Информационная ёмкость</vt:lpstr>
      <vt:lpstr>Избыточность кодирования</vt:lpstr>
      <vt:lpstr>Избыточность кодирования</vt:lpstr>
      <vt:lpstr>Выводы   </vt:lpstr>
      <vt:lpstr>Методы сжатия информации</vt:lpstr>
      <vt:lpstr>Метод сжатия по Хаффману</vt:lpstr>
      <vt:lpstr>Метод сжатия по Хаффману</vt:lpstr>
      <vt:lpstr>Метод сжатия по Хаффману</vt:lpstr>
      <vt:lpstr>Метод сжатия по Хаффману</vt:lpstr>
      <vt:lpstr>Метод сжатия по Хаффману</vt:lpstr>
      <vt:lpstr>Метод сжатия по Хаффману</vt:lpstr>
      <vt:lpstr>Метод сжатия по Хаффману</vt:lpstr>
      <vt:lpstr>Метод сжатия по Хаффману</vt:lpstr>
      <vt:lpstr>Метод сжатия по Хаффману</vt:lpstr>
      <vt:lpstr>Метод сжатия по Хаффману</vt:lpstr>
      <vt:lpstr>Метод сжатия по Хаффману</vt:lpstr>
      <vt:lpstr>Метод Шеннона-Фано</vt:lpstr>
      <vt:lpstr>Метод Шеннона-Фано </vt:lpstr>
      <vt:lpstr>Метод Шеннона-Фано </vt:lpstr>
      <vt:lpstr>Метод Шеннона-Фано</vt:lpstr>
      <vt:lpstr>Метод Шеннона-Фано</vt:lpstr>
      <vt:lpstr>Метод Шеннона-Фано</vt:lpstr>
      <vt:lpstr>Метод Шеннона-Фано</vt:lpstr>
      <vt:lpstr>Метод Шеннона-Фано</vt:lpstr>
      <vt:lpstr>Метод Шеннона-Фано</vt:lpstr>
      <vt:lpstr>Метод Шеннона-Фано</vt:lpstr>
      <vt:lpstr>Пятиминутка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 сжатия информации</dc:title>
  <dc:creator>mari</dc:creator>
  <cp:lastModifiedBy>Татьяна Нестеренко</cp:lastModifiedBy>
  <cp:revision>315</cp:revision>
  <dcterms:created xsi:type="dcterms:W3CDTF">2018-11-08T04:43:20Z</dcterms:created>
  <dcterms:modified xsi:type="dcterms:W3CDTF">2021-12-08T03:39:57Z</dcterms:modified>
</cp:coreProperties>
</file>